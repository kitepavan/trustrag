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TrustRAG is an academic information security engineering project. It augments an existing RAG pipeline; it does not train an LLM. Stages 1–11 are implemented, while Stage 12 currently supplies synthetic component checks rather than a completed end-to-end security experiment.
Source: PROJECT_REPORT.md (local project documentation, current status September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threat classes motivating the design, not a claim that every RAG system has no controls. TrustRAG focuses on candidate eligibility before generation. Content scanning uses demonstration heuristics and does not establish universal protection.
Source: PROJECT_REPORT.md (local project documentation, current status September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rejection and ranking are distinct: quarantine and authorization decide eligibility; trust category and cosine distance order survivors. Mutable JSON provenance is traceability metadata, not a cryptographic or per-query authorization proof.
Source: PROJECT_REPORT.md (local project documentation, current status September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Python 3.12, FastAPI, Uvicorn. Frontend: React 19, strict TypeScript, Vite and Tailwind v4. Embeddings run locally using SentenceTransformers with EmbeddingGemma-300M. Default configured generation model: nvidia/nemotron-3.5-lightning:free via OpenRouter. Local embedding does not mean document text never leaves the system: selected context is sent to the external provider.
Source: PROJECT_REPORT.md (local project documentation, current status September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copy cap is 50 MB and applies after multipart parsing; deployment still needs a request-body limit. Extracted text is capped at two million characters after extraction. Chunks target 512 characters with 64-character overlap, not tokens; a long sentence can exceed the target. Unsigned clean files are not rejected merely because they lack a signature: they become Suspicious. Stores are not a single transactional database.
Source: PROJECT_REPORT.md (local project documentation, current status September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Positive injection or poisoning scans quarantine content even when its signature is valid. Signature authenticity is not a guarantee of factual correctness or benign intent. Missing required authoritative evidence fails closed at secure retrieval; legacy records need re-ingestion.
Source: PROJECT_REPORT.md (local project documentation, current status September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Secure retrieval checks current file/signature evidence and individual chunk digests, not just vector metadata. Quarantine propagates to metadata, ChromaDB and provenance. Bounded oversampling may underfill top-K. The intentionally unfiltered baseline remains restricted to Admin/IT_Security at both API and shared retrieval layers. Context instructions and delimiters are mitigations, not a hard prompt-injection boundary.
Source: PROJECT_REPORT.md (local project documentation, current status September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Authentication uses HS256 JWTs and environment-configured scrypt password hashes. Fixed demo passwords require explicit demo mode and are disabled by default. Health and login remain public. Tokens live in sessionStorage; sign-out or 401 unmounts account-specific state. sessionStorage does not defend against same-origin script compromise. Signatures authenticate file bytes, not uploader-selected classification.
Source: PROJECT_REPORT.md (local project documentation, current status September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feature map, not a live UI screenshot or a browser acceptance claim. Telemetry is best-effort; write failures do not bypass enforcement. It is not a complete access/login audit trail. The audit API supports cursor pagination; the current UI indicates an older-event cursor without loading older pages. Audit access is Admin/IT_Security-only.
Source: PROJECT_REPORT.md (local project documentation, current status September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verification reports 67 passed and one Starlette TestClient/httpx deprecation warning; TypeScript/Vite build and lint passed. No live OpenRouter request is required by this test suite. The four fixed component scenarios include real Ed25519 verification and RBAC filtering, but baseline outcomes are unfiltered-control assumptions. Do not present their percentages as universal protection rates or their suite_duration_ms as RAG latency overhead. No new tests, provider experiment or browser acceptance test was performed for this presentation.
Source: PROJECT_REPORT.md (local project documentation, current status September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is not represented as implemented. Prompt delimiters are not a hard security boundary. Plain hashes cannot protect against a trusted administrator rewriting both content and expected digests. There is no automatic key rotation/version history. File, vector and provenance stores are not transactional together. Baseline-vs-secure latency, attack success and utility should be measured on a held-out dataset under controlled experimental conditions.
Source: PROJECT_REPORT.md (local project documentation, current status September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takeaway: authenticity, integrity, authorization and content policy matter alongside semantic relevance. The contribution is an implemented defense-in-depth retrieval prototype with component verification, not a universal prompt-injection defense. Primary references: PROJECT_REPORT.md, AGENTS.md and README.md in the TrustRAG repository, status September 17, 2026.
Source: PROJECT_REPORT.md (local project documentation, current status September 17,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image" Target="../media/image-10-1.png"/><Relationship Id="rId4" Type="http://schemas.openxmlformats.org/officeDocument/2006/relationships/image" Target="../media/image-10-1.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D2C"/>
        </a:solidFill>
      </p:bgPr>
    </p:bg>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100" b="1" spc="150" kern="0" dirty="0">
                <a:solidFill>
                  <a:srgbClr val="70E1C0"/>
                </a:solidFill>
                <a:latin typeface="Arial" pitchFamily="34" charset="0"/>
                <a:ea typeface="Arial" pitchFamily="34" charset="-122"/>
                <a:cs typeface="Arial" pitchFamily="34" charset="-120"/>
              </a:rPr>
              <a:t>SECURE RETRIEVAL-AUGMENTED GENERATION</a:t>
            </a:r>
            <a:endParaRPr lang="en-US" sz="1100" dirty="0"/>
          </a:p>
        </p:txBody>
      </p:sp>
      <p:sp>
        <p:nvSpPr>
          <p:cNvPr id="3" name="Text 1"/>
          <p:cNvSpPr/>
          <p:nvPr/>
        </p:nvSpPr>
        <p:spPr>
          <a:xfrm>
            <a:off x="548640" y="6419088"/>
            <a:ext cx="9144000" cy="182880"/>
          </a:xfrm>
          <a:prstGeom prst="rect">
            <a:avLst/>
          </a:prstGeom>
          <a:noFill/>
          <a:ln/>
        </p:spPr>
        <p:txBody>
          <a:bodyPr wrap="square" lIns="0" tIns="0" rIns="0" bIns="0" rtlCol="0" anchor="ctr"/>
          <a:lstStyle/>
          <a:p>
            <a:pPr indent="0" marL="0">
              <a:buNone/>
            </a:pPr>
            <a:r>
              <a:rPr lang="en-US" sz="1000" dirty="0">
                <a:solidFill>
                  <a:srgbClr val="B7D1C8"/>
                </a:solidFill>
                <a:latin typeface="Arial" pitchFamily="34" charset="0"/>
                <a:ea typeface="Arial" pitchFamily="34" charset="-122"/>
                <a:cs typeface="Arial" pitchFamily="34" charset="-120"/>
              </a:rPr>
              <a:t>TrustRAG  /  Academic prototype  /  17 Sep 2026</a:t>
            </a:r>
            <a:endParaRPr lang="en-US" sz="1000" dirty="0"/>
          </a:p>
        </p:txBody>
      </p:sp>
      <p:sp>
        <p:nvSpPr>
          <p:cNvPr id="4" name="Text 2"/>
          <p:cNvSpPr/>
          <p:nvPr/>
        </p:nvSpPr>
        <p:spPr>
          <a:xfrm>
            <a:off x="11018520" y="6382512"/>
            <a:ext cx="594360" cy="274320"/>
          </a:xfrm>
          <a:prstGeom prst="rect">
            <a:avLst/>
          </a:prstGeom>
          <a:noFill/>
          <a:ln/>
        </p:spPr>
        <p:txBody>
          <a:bodyPr wrap="square" lIns="0" tIns="0" rIns="0" bIns="0" rtlCol="0" anchor="ctr"/>
          <a:lstStyle/>
          <a:p>
            <a:pPr algn="r" indent="0" marL="0">
              <a:buNone/>
            </a:pPr>
            <a:r>
              <a:rPr lang="en-US" sz="1100" b="1" dirty="0">
                <a:solidFill>
                  <a:srgbClr val="70E1C0"/>
                </a:solidFill>
                <a:latin typeface="Arial" pitchFamily="34" charset="0"/>
                <a:ea typeface="Arial" pitchFamily="34" charset="-122"/>
                <a:cs typeface="Arial" pitchFamily="34" charset="-120"/>
              </a:rPr>
              <a:t>01</a:t>
            </a:r>
            <a:endParaRPr lang="en-US" sz="1100" dirty="0"/>
          </a:p>
        </p:txBody>
      </p:sp>
      <p:sp>
        <p:nvSpPr>
          <p:cNvPr id="5" name="Text 3"/>
          <p:cNvSpPr/>
          <p:nvPr/>
        </p:nvSpPr>
        <p:spPr>
          <a:xfrm>
            <a:off x="594360" y="1371600"/>
            <a:ext cx="7315200" cy="96012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TrustRAG</a:t>
            </a:r>
            <a:endParaRPr lang="en-US" sz="6000" dirty="0"/>
          </a:p>
        </p:txBody>
      </p:sp>
      <p:sp>
        <p:nvSpPr>
          <p:cNvPr id="6" name="Text 4"/>
          <p:cNvSpPr/>
          <p:nvPr/>
        </p:nvSpPr>
        <p:spPr>
          <a:xfrm>
            <a:off x="640080" y="2542032"/>
            <a:ext cx="7863840" cy="640080"/>
          </a:xfrm>
          <a:prstGeom prst="rect">
            <a:avLst/>
          </a:prstGeom>
          <a:noFill/>
          <a:ln/>
        </p:spPr>
        <p:txBody>
          <a:bodyPr wrap="square" lIns="0" tIns="0" rIns="0" bIns="0" rtlCol="0" anchor="ctr"/>
          <a:lstStyle/>
          <a:p>
            <a:pPr indent="0" marL="0">
              <a:buNone/>
            </a:pPr>
            <a:r>
              <a:rPr lang="en-US" sz="3000" b="1" dirty="0">
                <a:solidFill>
                  <a:srgbClr val="70E1C0"/>
                </a:solidFill>
                <a:latin typeface="Arial" pitchFamily="34" charset="0"/>
                <a:ea typeface="Arial" pitchFamily="34" charset="-122"/>
                <a:cs typeface="Arial" pitchFamily="34" charset="-120"/>
              </a:rPr>
              <a:t>Make retrieval a security decision.</a:t>
            </a:r>
            <a:endParaRPr lang="en-US" sz="3000" dirty="0"/>
          </a:p>
        </p:txBody>
      </p:sp>
      <p:sp>
        <p:nvSpPr>
          <p:cNvPr id="7" name="Text 5"/>
          <p:cNvSpPr/>
          <p:nvPr/>
        </p:nvSpPr>
        <p:spPr>
          <a:xfrm>
            <a:off x="640080" y="3456432"/>
            <a:ext cx="7498080" cy="1005840"/>
          </a:xfrm>
          <a:prstGeom prst="rect">
            <a:avLst/>
          </a:prstGeom>
          <a:noFill/>
          <a:ln/>
        </p:spPr>
        <p:txBody>
          <a:bodyPr wrap="square" lIns="0" tIns="0" rIns="0" bIns="0" rtlCol="0" anchor="ctr"/>
          <a:lstStyle/>
          <a:p>
            <a:pPr indent="0" marL="0">
              <a:buNone/>
            </a:pPr>
            <a:r>
              <a:rPr lang="en-US" sz="2400" dirty="0">
                <a:solidFill>
                  <a:srgbClr val="D1E4DE"/>
                </a:solidFill>
                <a:latin typeface="Arial" pitchFamily="34" charset="0"/>
                <a:ea typeface="Arial" pitchFamily="34" charset="-122"/>
                <a:cs typeface="Arial" pitchFamily="34" charset="-120"/>
              </a:rPr>
              <a:t>Authenticity, integrity, trust and authorization</a:t>
            </a:r>
            <a:endParaRPr lang="en-US" sz="2400" dirty="0"/>
          </a:p>
          <a:p>
            <a:pPr indent="0" marL="0">
              <a:buNone/>
            </a:pPr>
            <a:r>
              <a:rPr lang="en-US" sz="2400" dirty="0">
                <a:solidFill>
                  <a:srgbClr val="D1E4DE"/>
                </a:solidFill>
                <a:latin typeface="Arial" pitchFamily="34" charset="0"/>
                <a:ea typeface="Arial" pitchFamily="34" charset="-122"/>
                <a:cs typeface="Arial" pitchFamily="34" charset="-120"/>
              </a:rPr>
              <a:t>before private documents reach an LLM.</a:t>
            </a:r>
            <a:endParaRPr lang="en-US" sz="2400" dirty="0"/>
          </a:p>
        </p:txBody>
      </p:sp>
      <p:sp>
        <p:nvSpPr>
          <p:cNvPr id="8" name="Shape 6"/>
          <p:cNvSpPr/>
          <p:nvPr/>
        </p:nvSpPr>
        <p:spPr>
          <a:xfrm>
            <a:off x="9144000" y="1691640"/>
            <a:ext cx="2423160" cy="3291840"/>
          </a:xfrm>
          <a:prstGeom prst="roundRect">
            <a:avLst>
              <a:gd name="adj" fmla="val 4528"/>
            </a:avLst>
          </a:prstGeom>
          <a:solidFill>
            <a:srgbClr val="1A403C"/>
          </a:solidFill>
          <a:ln w="12700">
            <a:solidFill>
              <a:srgbClr val="1A403C"/>
            </a:solidFill>
            <a:prstDash val="solid"/>
          </a:ln>
        </p:spPr>
      </p:sp>
      <p:pic>
        <p:nvPicPr>
          <p:cNvPr id="9" name="Image 0" descr="/home/pavan/TrustRAG/ppt_assets/icons/shield-teal.png">    </p:cNvPr>
          <p:cNvPicPr>
            <a:picLocks noChangeAspect="1"/>
          </p:cNvPicPr>
          <p:nvPr/>
        </p:nvPicPr>
        <p:blipFill>
          <a:blip r:embed="rId1"/>
          <a:stretch>
            <a:fillRect/>
          </a:stretch>
        </p:blipFill>
        <p:spPr>
          <a:xfrm>
            <a:off x="9784080" y="2029968"/>
            <a:ext cx="1143000" cy="1143000"/>
          </a:xfrm>
          <a:prstGeom prst="rect">
            <a:avLst/>
          </a:prstGeom>
        </p:spPr>
      </p:pic>
      <p:sp>
        <p:nvSpPr>
          <p:cNvPr id="10" name="Text 7"/>
          <p:cNvSpPr/>
          <p:nvPr/>
        </p:nvSpPr>
        <p:spPr>
          <a:xfrm>
            <a:off x="9345168" y="3474720"/>
            <a:ext cx="2020824" cy="1005840"/>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VERIFY</a:t>
            </a:r>
            <a:endParaRPr lang="en-US" sz="1900" dirty="0"/>
          </a:p>
          <a:p>
            <a:pPr algn="ctr" indent="0" marL="0">
              <a:buNone/>
            </a:pPr>
            <a:r>
              <a:rPr lang="en-US" sz="1900" b="1" dirty="0">
                <a:solidFill>
                  <a:srgbClr val="FFFFFF"/>
                </a:solidFill>
                <a:latin typeface="Arial" pitchFamily="34" charset="0"/>
                <a:ea typeface="Arial" pitchFamily="34" charset="-122"/>
                <a:cs typeface="Arial" pitchFamily="34" charset="-120"/>
              </a:rPr>
              <a:t>FILTER</a:t>
            </a:r>
            <a:endParaRPr lang="en-US" sz="1900" dirty="0"/>
          </a:p>
          <a:p>
            <a:pPr algn="ctr" indent="0" marL="0">
              <a:buNone/>
            </a:pPr>
            <a:r>
              <a:rPr lang="en-US" sz="1900" b="1" dirty="0">
                <a:solidFill>
                  <a:srgbClr val="FFFFFF"/>
                </a:solidFill>
                <a:latin typeface="Arial" pitchFamily="34" charset="0"/>
                <a:ea typeface="Arial" pitchFamily="34" charset="-122"/>
                <a:cs typeface="Arial" pitchFamily="34" charset="-120"/>
              </a:rPr>
              <a:t>THEN GENERATE</a:t>
            </a:r>
            <a:endParaRPr lang="en-US" sz="1900" dirty="0"/>
          </a:p>
        </p:txBody>
      </p:sp>
      <p:sp>
        <p:nvSpPr>
          <p:cNvPr id="11" name="Text 8"/>
          <p:cNvSpPr/>
          <p:nvPr/>
        </p:nvSpPr>
        <p:spPr>
          <a:xfrm>
            <a:off x="640080" y="5138928"/>
            <a:ext cx="9875520" cy="731520"/>
          </a:xfrm>
          <a:prstGeom prst="rect">
            <a:avLst/>
          </a:prstGeom>
          <a:noFill/>
          <a:ln/>
        </p:spPr>
        <p:txBody>
          <a:bodyPr wrap="square" lIns="0" tIns="0" rIns="0" bIns="0" rtlCol="0" anchor="ctr"/>
          <a:lstStyle/>
          <a:p>
            <a:pPr indent="0" marL="0">
              <a:buNone/>
            </a:pPr>
            <a:r>
              <a:rPr lang="en-US" sz="2200" i="1" dirty="0">
                <a:solidFill>
                  <a:srgbClr val="FFFFFF"/>
                </a:solidFill>
                <a:latin typeface="Arial" pitchFamily="34" charset="0"/>
                <a:ea typeface="Arial" pitchFamily="34" charset="-122"/>
                <a:cs typeface="Arial" pitchFamily="34" charset="-120"/>
              </a:rPr>
              <a:t>“The most semantically relevant document</a:t>
            </a:r>
            <a:endParaRPr lang="en-US" sz="2200" dirty="0"/>
          </a:p>
          <a:p>
            <a:pPr indent="0" marL="0">
              <a:buNone/>
            </a:pPr>
            <a:r>
              <a:rPr lang="en-US" sz="2200" i="1" dirty="0">
                <a:solidFill>
                  <a:srgbClr val="FFFFFF"/>
                </a:solidFill>
                <a:latin typeface="Arial" pitchFamily="34" charset="0"/>
                <a:ea typeface="Arial" pitchFamily="34" charset="-122"/>
                <a:cs typeface="Arial" pitchFamily="34" charset="-120"/>
              </a:rPr>
              <a:t>is not necessarily the safest document.”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6"/>
        </a:solidFill>
      </p:bgPr>
    </p:bg>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100" b="1" spc="150" kern="0" dirty="0">
                <a:solidFill>
                  <a:srgbClr val="007D70"/>
                </a:solidFill>
                <a:latin typeface="Arial" pitchFamily="34" charset="0"/>
                <a:ea typeface="Arial" pitchFamily="34" charset="-122"/>
                <a:cs typeface="Arial" pitchFamily="34" charset="-120"/>
              </a:rPr>
              <a:t>01 / MOTIVATION</a:t>
            </a:r>
            <a:endParaRPr lang="en-US" sz="1100" dirty="0"/>
          </a:p>
        </p:txBody>
      </p:sp>
      <p:sp>
        <p:nvSpPr>
          <p:cNvPr id="3" name="Text 1"/>
          <p:cNvSpPr/>
          <p:nvPr/>
        </p:nvSpPr>
        <p:spPr>
          <a:xfrm>
            <a:off x="548640" y="868680"/>
            <a:ext cx="11064240" cy="640080"/>
          </a:xfrm>
          <a:prstGeom prst="rect">
            <a:avLst/>
          </a:prstGeom>
          <a:noFill/>
          <a:ln/>
        </p:spPr>
        <p:txBody>
          <a:bodyPr wrap="square" lIns="0" tIns="0" rIns="0" bIns="0" rtlCol="0" anchor="ctr"/>
          <a:lstStyle/>
          <a:p>
            <a:pPr indent="0" marL="0">
              <a:buNone/>
            </a:pPr>
            <a:r>
              <a:rPr lang="en-US" sz="3400" b="1" dirty="0">
                <a:solidFill>
                  <a:srgbClr val="102D2C"/>
                </a:solidFill>
                <a:latin typeface="Arial" pitchFamily="34" charset="0"/>
                <a:ea typeface="Arial" pitchFamily="34" charset="-122"/>
                <a:cs typeface="Arial" pitchFamily="34" charset="-120"/>
              </a:rPr>
              <a:t>Similarity is not a security guarantee</a:t>
            </a:r>
            <a:endParaRPr lang="en-US" sz="3400" dirty="0"/>
          </a:p>
        </p:txBody>
      </p:sp>
      <p:sp>
        <p:nvSpPr>
          <p:cNvPr id="4" name="Text 2"/>
          <p:cNvSpPr/>
          <p:nvPr/>
        </p:nvSpPr>
        <p:spPr>
          <a:xfrm>
            <a:off x="548640" y="1645920"/>
            <a:ext cx="10881360" cy="5943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A naive RAG pipeline can retrieve relevant text that should never become answer context.</a:t>
            </a:r>
            <a:endParaRPr lang="en-US" sz="1700" dirty="0"/>
          </a:p>
        </p:txBody>
      </p:sp>
      <p:sp>
        <p:nvSpPr>
          <p:cNvPr id="5" name="Text 3"/>
          <p:cNvSpPr/>
          <p:nvPr/>
        </p:nvSpPr>
        <p:spPr>
          <a:xfrm>
            <a:off x="548640" y="6419088"/>
            <a:ext cx="9144000" cy="182880"/>
          </a:xfrm>
          <a:prstGeom prst="rect">
            <a:avLst/>
          </a:prstGeom>
          <a:noFill/>
          <a:ln/>
        </p:spPr>
        <p:txBody>
          <a:bodyPr wrap="square" lIns="0" tIns="0" rIns="0" bIns="0" rtlCol="0" anchor="ctr"/>
          <a:lstStyle/>
          <a:p>
            <a:pPr indent="0" marL="0">
              <a:buNone/>
            </a:pPr>
            <a:r>
              <a:rPr lang="en-US" sz="1000" dirty="0">
                <a:solidFill>
                  <a:srgbClr val="526663"/>
                </a:solidFill>
                <a:latin typeface="Arial" pitchFamily="34" charset="0"/>
                <a:ea typeface="Arial" pitchFamily="34" charset="-122"/>
                <a:cs typeface="Arial" pitchFamily="34" charset="-120"/>
              </a:rPr>
              <a:t>TrustRAG  /  Academic prototype  /  17 Sep 2026</a:t>
            </a:r>
            <a:endParaRPr lang="en-US" sz="1000" dirty="0"/>
          </a:p>
        </p:txBody>
      </p:sp>
      <p:sp>
        <p:nvSpPr>
          <p:cNvPr id="6" name="Text 4"/>
          <p:cNvSpPr/>
          <p:nvPr/>
        </p:nvSpPr>
        <p:spPr>
          <a:xfrm>
            <a:off x="11018520" y="6382512"/>
            <a:ext cx="594360" cy="274320"/>
          </a:xfrm>
          <a:prstGeom prst="rect">
            <a:avLst/>
          </a:prstGeom>
          <a:noFill/>
          <a:ln/>
        </p:spPr>
        <p:txBody>
          <a:bodyPr wrap="square" lIns="0" tIns="0" rIns="0" bIns="0" rtlCol="0" anchor="ctr"/>
          <a:lstStyle/>
          <a:p>
            <a:pPr algn="r" indent="0" marL="0">
              <a:buNone/>
            </a:pPr>
            <a:r>
              <a:rPr lang="en-US" sz="1100" b="1" dirty="0">
                <a:solidFill>
                  <a:srgbClr val="007D70"/>
                </a:solidFill>
                <a:latin typeface="Arial" pitchFamily="34" charset="0"/>
                <a:ea typeface="Arial" pitchFamily="34" charset="-122"/>
                <a:cs typeface="Arial" pitchFamily="34" charset="-120"/>
              </a:rPr>
              <a:t>02</a:t>
            </a:r>
            <a:endParaRPr lang="en-US" sz="1100" dirty="0"/>
          </a:p>
        </p:txBody>
      </p:sp>
      <p:sp>
        <p:nvSpPr>
          <p:cNvPr id="7" name="Shape 5"/>
          <p:cNvSpPr/>
          <p:nvPr/>
        </p:nvSpPr>
        <p:spPr>
          <a:xfrm>
            <a:off x="548640" y="2560320"/>
            <a:ext cx="3511296" cy="3246120"/>
          </a:xfrm>
          <a:prstGeom prst="roundRect">
            <a:avLst>
              <a:gd name="adj" fmla="val 3380"/>
            </a:avLst>
          </a:prstGeom>
          <a:solidFill>
            <a:srgbClr val="FFFFFF"/>
          </a:solidFill>
          <a:ln w="12700">
            <a:solidFill>
              <a:srgbClr val="FFFFFF"/>
            </a:solidFill>
            <a:prstDash val="solid"/>
          </a:ln>
        </p:spPr>
      </p:sp>
      <p:pic>
        <p:nvPicPr>
          <p:cNvPr id="8" name="Image 0" descr="/home/pavan/TrustRAG/ppt_assets/icons/file-red.png">    </p:cNvPr>
          <p:cNvPicPr>
            <a:picLocks noChangeAspect="1"/>
          </p:cNvPicPr>
          <p:nvPr/>
        </p:nvPicPr>
        <p:blipFill>
          <a:blip r:embed="rId1"/>
          <a:stretch>
            <a:fillRect/>
          </a:stretch>
        </p:blipFill>
        <p:spPr>
          <a:xfrm>
            <a:off x="777240" y="2788920"/>
            <a:ext cx="411480" cy="411480"/>
          </a:xfrm>
          <a:prstGeom prst="rect">
            <a:avLst/>
          </a:prstGeom>
        </p:spPr>
      </p:pic>
      <p:sp>
        <p:nvSpPr>
          <p:cNvPr id="9" name="Text 6"/>
          <p:cNvSpPr/>
          <p:nvPr/>
        </p:nvSpPr>
        <p:spPr>
          <a:xfrm>
            <a:off x="777240" y="3383280"/>
            <a:ext cx="3054096" cy="594360"/>
          </a:xfrm>
          <a:prstGeom prst="rect">
            <a:avLst/>
          </a:prstGeom>
          <a:noFill/>
          <a:ln/>
        </p:spPr>
        <p:txBody>
          <a:bodyPr wrap="square" lIns="0" tIns="0" rIns="0" bIns="0" rtlCol="0" anchor="ctr"/>
          <a:lstStyle/>
          <a:p>
            <a:pPr indent="0" marL="0">
              <a:buNone/>
            </a:pPr>
            <a:r>
              <a:rPr lang="en-US" sz="2100" b="1" dirty="0">
                <a:solidFill>
                  <a:srgbClr val="102D2C"/>
                </a:solidFill>
                <a:latin typeface="Arial" pitchFamily="34" charset="0"/>
                <a:ea typeface="Arial" pitchFamily="34" charset="-122"/>
                <a:cs typeface="Arial" pitchFamily="34" charset="-120"/>
              </a:rPr>
              <a:t>Knowledge poisoning</a:t>
            </a:r>
            <a:endParaRPr lang="en-US" sz="2100" dirty="0"/>
          </a:p>
        </p:txBody>
      </p:sp>
      <p:sp>
        <p:nvSpPr>
          <p:cNvPr id="10" name="Text 7"/>
          <p:cNvSpPr/>
          <p:nvPr/>
        </p:nvSpPr>
        <p:spPr>
          <a:xfrm>
            <a:off x="777240" y="4114800"/>
            <a:ext cx="3054096" cy="15087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Misleading document content can distort a generated answer.</a:t>
            </a:r>
            <a:endParaRPr lang="en-US" sz="1700" dirty="0"/>
          </a:p>
        </p:txBody>
      </p:sp>
      <p:sp>
        <p:nvSpPr>
          <p:cNvPr id="11" name="Shape 8"/>
          <p:cNvSpPr/>
          <p:nvPr/>
        </p:nvSpPr>
        <p:spPr>
          <a:xfrm>
            <a:off x="4334256" y="2560320"/>
            <a:ext cx="3511296" cy="3246120"/>
          </a:xfrm>
          <a:prstGeom prst="roundRect">
            <a:avLst>
              <a:gd name="adj" fmla="val 3380"/>
            </a:avLst>
          </a:prstGeom>
          <a:solidFill>
            <a:srgbClr val="FFFFFF"/>
          </a:solidFill>
          <a:ln w="12700">
            <a:solidFill>
              <a:srgbClr val="FFFFFF"/>
            </a:solidFill>
            <a:prstDash val="solid"/>
          </a:ln>
        </p:spPr>
      </p:sp>
      <p:pic>
        <p:nvPicPr>
          <p:cNvPr id="12" name="Image 1" descr="/home/pavan/TrustRAG/ppt_assets/icons/alert-amber.png">    </p:cNvPr>
          <p:cNvPicPr>
            <a:picLocks noChangeAspect="1"/>
          </p:cNvPicPr>
          <p:nvPr/>
        </p:nvPicPr>
        <p:blipFill>
          <a:blip r:embed="rId2"/>
          <a:stretch>
            <a:fillRect/>
          </a:stretch>
        </p:blipFill>
        <p:spPr>
          <a:xfrm>
            <a:off x="4562856" y="2788920"/>
            <a:ext cx="411480" cy="411480"/>
          </a:xfrm>
          <a:prstGeom prst="rect">
            <a:avLst/>
          </a:prstGeom>
        </p:spPr>
      </p:pic>
      <p:sp>
        <p:nvSpPr>
          <p:cNvPr id="13" name="Text 9"/>
          <p:cNvSpPr/>
          <p:nvPr/>
        </p:nvSpPr>
        <p:spPr>
          <a:xfrm>
            <a:off x="4562856" y="3383280"/>
            <a:ext cx="3054096" cy="594360"/>
          </a:xfrm>
          <a:prstGeom prst="rect">
            <a:avLst/>
          </a:prstGeom>
          <a:noFill/>
          <a:ln/>
        </p:spPr>
        <p:txBody>
          <a:bodyPr wrap="square" lIns="0" tIns="0" rIns="0" bIns="0" rtlCol="0" anchor="ctr"/>
          <a:lstStyle/>
          <a:p>
            <a:pPr indent="0" marL="0">
              <a:buNone/>
            </a:pPr>
            <a:r>
              <a:rPr lang="en-US" sz="2100" b="1" dirty="0">
                <a:solidFill>
                  <a:srgbClr val="102D2C"/>
                </a:solidFill>
                <a:latin typeface="Arial" pitchFamily="34" charset="0"/>
                <a:ea typeface="Arial" pitchFamily="34" charset="-122"/>
                <a:cs typeface="Arial" pitchFamily="34" charset="-120"/>
              </a:rPr>
              <a:t>Prompt injection</a:t>
            </a:r>
            <a:endParaRPr lang="en-US" sz="2100" dirty="0"/>
          </a:p>
        </p:txBody>
      </p:sp>
      <p:sp>
        <p:nvSpPr>
          <p:cNvPr id="14" name="Text 10"/>
          <p:cNvSpPr/>
          <p:nvPr/>
        </p:nvSpPr>
        <p:spPr>
          <a:xfrm>
            <a:off x="4562856" y="4114800"/>
            <a:ext cx="3054096" cy="15087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Instructions embedded in retrieved text can compete with the intended task.</a:t>
            </a:r>
            <a:endParaRPr lang="en-US" sz="1700" dirty="0"/>
          </a:p>
        </p:txBody>
      </p:sp>
      <p:sp>
        <p:nvSpPr>
          <p:cNvPr id="15" name="Shape 11"/>
          <p:cNvSpPr/>
          <p:nvPr/>
        </p:nvSpPr>
        <p:spPr>
          <a:xfrm>
            <a:off x="8119872" y="2560320"/>
            <a:ext cx="3511296" cy="3246120"/>
          </a:xfrm>
          <a:prstGeom prst="roundRect">
            <a:avLst>
              <a:gd name="adj" fmla="val 3380"/>
            </a:avLst>
          </a:prstGeom>
          <a:solidFill>
            <a:srgbClr val="FFFFFF"/>
          </a:solidFill>
          <a:ln w="12700">
            <a:solidFill>
              <a:srgbClr val="FFFFFF"/>
            </a:solidFill>
            <a:prstDash val="solid"/>
          </a:ln>
        </p:spPr>
      </p:sp>
      <p:pic>
        <p:nvPicPr>
          <p:cNvPr id="16" name="Image 2" descr="/home/pavan/TrustRAG/ppt_assets/icons/lock-teal.png">    </p:cNvPr>
          <p:cNvPicPr>
            <a:picLocks noChangeAspect="1"/>
          </p:cNvPicPr>
          <p:nvPr/>
        </p:nvPicPr>
        <p:blipFill>
          <a:blip r:embed="rId3"/>
          <a:stretch>
            <a:fillRect/>
          </a:stretch>
        </p:blipFill>
        <p:spPr>
          <a:xfrm>
            <a:off x="8348472" y="2788920"/>
            <a:ext cx="411480" cy="411480"/>
          </a:xfrm>
          <a:prstGeom prst="rect">
            <a:avLst/>
          </a:prstGeom>
        </p:spPr>
      </p:pic>
      <p:sp>
        <p:nvSpPr>
          <p:cNvPr id="17" name="Text 12"/>
          <p:cNvSpPr/>
          <p:nvPr/>
        </p:nvSpPr>
        <p:spPr>
          <a:xfrm>
            <a:off x="8348472" y="3383280"/>
            <a:ext cx="3054096" cy="594360"/>
          </a:xfrm>
          <a:prstGeom prst="rect">
            <a:avLst/>
          </a:prstGeom>
          <a:noFill/>
          <a:ln/>
        </p:spPr>
        <p:txBody>
          <a:bodyPr wrap="square" lIns="0" tIns="0" rIns="0" bIns="0" rtlCol="0" anchor="ctr"/>
          <a:lstStyle/>
          <a:p>
            <a:pPr indent="0" marL="0">
              <a:buNone/>
            </a:pPr>
            <a:r>
              <a:rPr lang="en-US" sz="2100" b="1" dirty="0">
                <a:solidFill>
                  <a:srgbClr val="102D2C"/>
                </a:solidFill>
                <a:latin typeface="Arial" pitchFamily="34" charset="0"/>
                <a:ea typeface="Arial" pitchFamily="34" charset="-122"/>
                <a:cs typeface="Arial" pitchFamily="34" charset="-120"/>
              </a:rPr>
              <a:t>Tampering &amp; access</a:t>
            </a:r>
            <a:endParaRPr lang="en-US" sz="2100" dirty="0"/>
          </a:p>
        </p:txBody>
      </p:sp>
      <p:sp>
        <p:nvSpPr>
          <p:cNvPr id="18" name="Text 13"/>
          <p:cNvSpPr/>
          <p:nvPr/>
        </p:nvSpPr>
        <p:spPr>
          <a:xfrm>
            <a:off x="8348472" y="4114800"/>
            <a:ext cx="3054096" cy="15087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Modified files or restricted documents can cross an unprotected retrieval path.</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6"/>
        </a:solidFill>
      </p:bgPr>
    </p:bg>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100" b="1" spc="150" kern="0" dirty="0">
                <a:solidFill>
                  <a:srgbClr val="007D70"/>
                </a:solidFill>
                <a:latin typeface="Arial" pitchFamily="34" charset="0"/>
                <a:ea typeface="Arial" pitchFamily="34" charset="-122"/>
                <a:cs typeface="Arial" pitchFamily="34" charset="-120"/>
              </a:rPr>
              <a:t>02 / DESIGN PRINCIPLE</a:t>
            </a:r>
            <a:endParaRPr lang="en-US" sz="1100" dirty="0"/>
          </a:p>
        </p:txBody>
      </p:sp>
      <p:sp>
        <p:nvSpPr>
          <p:cNvPr id="3" name="Text 1"/>
          <p:cNvSpPr/>
          <p:nvPr/>
        </p:nvSpPr>
        <p:spPr>
          <a:xfrm>
            <a:off x="548640" y="868680"/>
            <a:ext cx="11064240" cy="640080"/>
          </a:xfrm>
          <a:prstGeom prst="rect">
            <a:avLst/>
          </a:prstGeom>
          <a:noFill/>
          <a:ln/>
        </p:spPr>
        <p:txBody>
          <a:bodyPr wrap="square" lIns="0" tIns="0" rIns="0" bIns="0" rtlCol="0" anchor="ctr"/>
          <a:lstStyle/>
          <a:p>
            <a:pPr indent="0" marL="0">
              <a:buNone/>
            </a:pPr>
            <a:r>
              <a:rPr lang="en-US" sz="3400" b="1" dirty="0">
                <a:solidFill>
                  <a:srgbClr val="102D2C"/>
                </a:solidFill>
                <a:latin typeface="Arial" pitchFamily="34" charset="0"/>
                <a:ea typeface="Arial" pitchFamily="34" charset="-122"/>
                <a:cs typeface="Arial" pitchFamily="34" charset="-120"/>
              </a:rPr>
              <a:t>Relevant is necessary. Eligible comes first.</a:t>
            </a:r>
            <a:endParaRPr lang="en-US" sz="3400" dirty="0"/>
          </a:p>
        </p:txBody>
      </p:sp>
      <p:sp>
        <p:nvSpPr>
          <p:cNvPr id="4" name="Text 2"/>
          <p:cNvSpPr/>
          <p:nvPr/>
        </p:nvSpPr>
        <p:spPr>
          <a:xfrm>
            <a:off x="548640" y="1645920"/>
            <a:ext cx="10881360" cy="5943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Secure retrieval combines hard policy checks with trust-aware ranking.</a:t>
            </a:r>
            <a:endParaRPr lang="en-US" sz="1700" dirty="0"/>
          </a:p>
        </p:txBody>
      </p:sp>
      <p:sp>
        <p:nvSpPr>
          <p:cNvPr id="5" name="Text 3"/>
          <p:cNvSpPr/>
          <p:nvPr/>
        </p:nvSpPr>
        <p:spPr>
          <a:xfrm>
            <a:off x="548640" y="6419088"/>
            <a:ext cx="9144000" cy="182880"/>
          </a:xfrm>
          <a:prstGeom prst="rect">
            <a:avLst/>
          </a:prstGeom>
          <a:noFill/>
          <a:ln/>
        </p:spPr>
        <p:txBody>
          <a:bodyPr wrap="square" lIns="0" tIns="0" rIns="0" bIns="0" rtlCol="0" anchor="ctr"/>
          <a:lstStyle/>
          <a:p>
            <a:pPr indent="0" marL="0">
              <a:buNone/>
            </a:pPr>
            <a:r>
              <a:rPr lang="en-US" sz="1000" dirty="0">
                <a:solidFill>
                  <a:srgbClr val="526663"/>
                </a:solidFill>
                <a:latin typeface="Arial" pitchFamily="34" charset="0"/>
                <a:ea typeface="Arial" pitchFamily="34" charset="-122"/>
                <a:cs typeface="Arial" pitchFamily="34" charset="-120"/>
              </a:rPr>
              <a:t>TrustRAG  /  Academic prototype  /  17 Sep 2026</a:t>
            </a:r>
            <a:endParaRPr lang="en-US" sz="1000" dirty="0"/>
          </a:p>
        </p:txBody>
      </p:sp>
      <p:sp>
        <p:nvSpPr>
          <p:cNvPr id="6" name="Text 4"/>
          <p:cNvSpPr/>
          <p:nvPr/>
        </p:nvSpPr>
        <p:spPr>
          <a:xfrm>
            <a:off x="11018520" y="6382512"/>
            <a:ext cx="594360" cy="274320"/>
          </a:xfrm>
          <a:prstGeom prst="rect">
            <a:avLst/>
          </a:prstGeom>
          <a:noFill/>
          <a:ln/>
        </p:spPr>
        <p:txBody>
          <a:bodyPr wrap="square" lIns="0" tIns="0" rIns="0" bIns="0" rtlCol="0" anchor="ctr"/>
          <a:lstStyle/>
          <a:p>
            <a:pPr algn="r" indent="0" marL="0">
              <a:buNone/>
            </a:pPr>
            <a:r>
              <a:rPr lang="en-US" sz="1100" b="1" dirty="0">
                <a:solidFill>
                  <a:srgbClr val="007D70"/>
                </a:solidFill>
                <a:latin typeface="Arial" pitchFamily="34" charset="0"/>
                <a:ea typeface="Arial" pitchFamily="34" charset="-122"/>
                <a:cs typeface="Arial" pitchFamily="34" charset="-120"/>
              </a:rPr>
              <a:t>03</a:t>
            </a:r>
            <a:endParaRPr lang="en-US" sz="1100" dirty="0"/>
          </a:p>
        </p:txBody>
      </p:sp>
      <p:sp>
        <p:nvSpPr>
          <p:cNvPr id="7" name="Shape 5"/>
          <p:cNvSpPr/>
          <p:nvPr/>
        </p:nvSpPr>
        <p:spPr>
          <a:xfrm>
            <a:off x="548640" y="2514600"/>
            <a:ext cx="7360920" cy="841248"/>
          </a:xfrm>
          <a:prstGeom prst="roundRect">
            <a:avLst>
              <a:gd name="adj" fmla="val 13043"/>
            </a:avLst>
          </a:prstGeom>
          <a:solidFill>
            <a:srgbClr val="FFFFFF"/>
          </a:solidFill>
          <a:ln w="12700">
            <a:solidFill>
              <a:srgbClr val="FFFFFF"/>
            </a:solidFill>
            <a:prstDash val="solid"/>
          </a:ln>
        </p:spPr>
      </p:sp>
      <p:sp>
        <p:nvSpPr>
          <p:cNvPr id="8" name="Text 6"/>
          <p:cNvSpPr/>
          <p:nvPr/>
        </p:nvSpPr>
        <p:spPr>
          <a:xfrm>
            <a:off x="777240" y="2697480"/>
            <a:ext cx="502920" cy="365760"/>
          </a:xfrm>
          <a:prstGeom prst="rect">
            <a:avLst/>
          </a:prstGeom>
          <a:noFill/>
          <a:ln/>
        </p:spPr>
        <p:txBody>
          <a:bodyPr wrap="square" lIns="0" tIns="0" rIns="0" bIns="0" rtlCol="0" anchor="ctr"/>
          <a:lstStyle/>
          <a:p>
            <a:pPr indent="0" marL="0">
              <a:buNone/>
            </a:pPr>
            <a:r>
              <a:rPr lang="en-US" sz="2300" b="1" dirty="0">
                <a:solidFill>
                  <a:srgbClr val="007D70"/>
                </a:solidFill>
                <a:latin typeface="Arial" pitchFamily="34" charset="0"/>
                <a:ea typeface="Arial" pitchFamily="34" charset="-122"/>
                <a:cs typeface="Arial" pitchFamily="34" charset="-120"/>
              </a:rPr>
              <a:t>01</a:t>
            </a:r>
            <a:endParaRPr lang="en-US" sz="2300" dirty="0"/>
          </a:p>
        </p:txBody>
      </p:sp>
      <p:sp>
        <p:nvSpPr>
          <p:cNvPr id="9" name="Text 7"/>
          <p:cNvSpPr/>
          <p:nvPr/>
        </p:nvSpPr>
        <p:spPr>
          <a:xfrm>
            <a:off x="1463040" y="2642616"/>
            <a:ext cx="6126480" cy="292608"/>
          </a:xfrm>
          <a:prstGeom prst="rect">
            <a:avLst/>
          </a:prstGeom>
          <a:noFill/>
          <a:ln/>
        </p:spPr>
        <p:txBody>
          <a:bodyPr wrap="square" lIns="0" tIns="0" rIns="0" bIns="0" rtlCol="0" anchor="ctr"/>
          <a:lstStyle/>
          <a:p>
            <a:pPr indent="0" marL="0">
              <a:buNone/>
            </a:pPr>
            <a:r>
              <a:rPr lang="en-US" sz="2000" b="1" dirty="0">
                <a:solidFill>
                  <a:srgbClr val="102D2C"/>
                </a:solidFill>
                <a:latin typeface="Arial" pitchFamily="34" charset="0"/>
                <a:ea typeface="Arial" pitchFamily="34" charset="-122"/>
                <a:cs typeface="Arial" pitchFamily="34" charset="-120"/>
              </a:rPr>
              <a:t>Authenticity &amp; integrity</a:t>
            </a:r>
            <a:endParaRPr lang="en-US" sz="2000" dirty="0"/>
          </a:p>
        </p:txBody>
      </p:sp>
      <p:sp>
        <p:nvSpPr>
          <p:cNvPr id="10" name="Text 8"/>
          <p:cNvSpPr/>
          <p:nvPr/>
        </p:nvSpPr>
        <p:spPr>
          <a:xfrm>
            <a:off x="1463040" y="2999232"/>
            <a:ext cx="6126480" cy="228600"/>
          </a:xfrm>
          <a:prstGeom prst="rect">
            <a:avLst/>
          </a:prstGeom>
          <a:noFill/>
          <a:ln/>
        </p:spPr>
        <p:txBody>
          <a:bodyPr wrap="square" lIns="0" tIns="0" rIns="0" bIns="0" rtlCol="0" anchor="ctr"/>
          <a:lstStyle/>
          <a:p>
            <a:pPr indent="0" marL="0">
              <a:buNone/>
            </a:pPr>
            <a:r>
              <a:rPr lang="en-US" sz="1500" dirty="0">
                <a:solidFill>
                  <a:srgbClr val="526663"/>
                </a:solidFill>
                <a:latin typeface="Arial" pitchFamily="34" charset="0"/>
                <a:ea typeface="Arial" pitchFamily="34" charset="-122"/>
                <a:cs typeface="Arial" pitchFamily="34" charset="-120"/>
              </a:rPr>
              <a:t>Check current file evidence and signed bytes.</a:t>
            </a:r>
            <a:endParaRPr lang="en-US" sz="1500" dirty="0"/>
          </a:p>
        </p:txBody>
      </p:sp>
      <p:sp>
        <p:nvSpPr>
          <p:cNvPr id="11" name="Shape 9"/>
          <p:cNvSpPr/>
          <p:nvPr/>
        </p:nvSpPr>
        <p:spPr>
          <a:xfrm>
            <a:off x="548640" y="3547872"/>
            <a:ext cx="7360920" cy="841248"/>
          </a:xfrm>
          <a:prstGeom prst="roundRect">
            <a:avLst>
              <a:gd name="adj" fmla="val 13043"/>
            </a:avLst>
          </a:prstGeom>
          <a:solidFill>
            <a:srgbClr val="FFFFFF"/>
          </a:solidFill>
          <a:ln w="12700">
            <a:solidFill>
              <a:srgbClr val="FFFFFF"/>
            </a:solidFill>
            <a:prstDash val="solid"/>
          </a:ln>
        </p:spPr>
      </p:sp>
      <p:sp>
        <p:nvSpPr>
          <p:cNvPr id="12" name="Text 10"/>
          <p:cNvSpPr/>
          <p:nvPr/>
        </p:nvSpPr>
        <p:spPr>
          <a:xfrm>
            <a:off x="777240" y="3730752"/>
            <a:ext cx="502920" cy="365760"/>
          </a:xfrm>
          <a:prstGeom prst="rect">
            <a:avLst/>
          </a:prstGeom>
          <a:noFill/>
          <a:ln/>
        </p:spPr>
        <p:txBody>
          <a:bodyPr wrap="square" lIns="0" tIns="0" rIns="0" bIns="0" rtlCol="0" anchor="ctr"/>
          <a:lstStyle/>
          <a:p>
            <a:pPr indent="0" marL="0">
              <a:buNone/>
            </a:pPr>
            <a:r>
              <a:rPr lang="en-US" sz="2300" b="1" dirty="0">
                <a:solidFill>
                  <a:srgbClr val="007D70"/>
                </a:solidFill>
                <a:latin typeface="Arial" pitchFamily="34" charset="0"/>
                <a:ea typeface="Arial" pitchFamily="34" charset="-122"/>
                <a:cs typeface="Arial" pitchFamily="34" charset="-120"/>
              </a:rPr>
              <a:t>02</a:t>
            </a:r>
            <a:endParaRPr lang="en-US" sz="2300" dirty="0"/>
          </a:p>
        </p:txBody>
      </p:sp>
      <p:sp>
        <p:nvSpPr>
          <p:cNvPr id="13" name="Text 11"/>
          <p:cNvSpPr/>
          <p:nvPr/>
        </p:nvSpPr>
        <p:spPr>
          <a:xfrm>
            <a:off x="1463040" y="3675888"/>
            <a:ext cx="6126480" cy="292608"/>
          </a:xfrm>
          <a:prstGeom prst="rect">
            <a:avLst/>
          </a:prstGeom>
          <a:noFill/>
          <a:ln/>
        </p:spPr>
        <p:txBody>
          <a:bodyPr wrap="square" lIns="0" tIns="0" rIns="0" bIns="0" rtlCol="0" anchor="ctr"/>
          <a:lstStyle/>
          <a:p>
            <a:pPr indent="0" marL="0">
              <a:buNone/>
            </a:pPr>
            <a:r>
              <a:rPr lang="en-US" sz="2000" b="1" dirty="0">
                <a:solidFill>
                  <a:srgbClr val="102D2C"/>
                </a:solidFill>
                <a:latin typeface="Arial" pitchFamily="34" charset="0"/>
                <a:ea typeface="Arial" pitchFamily="34" charset="-122"/>
                <a:cs typeface="Arial" pitchFamily="34" charset="-120"/>
              </a:rPr>
              <a:t>Authorization &amp; content</a:t>
            </a:r>
            <a:endParaRPr lang="en-US" sz="2000" dirty="0"/>
          </a:p>
        </p:txBody>
      </p:sp>
      <p:sp>
        <p:nvSpPr>
          <p:cNvPr id="14" name="Text 12"/>
          <p:cNvSpPr/>
          <p:nvPr/>
        </p:nvSpPr>
        <p:spPr>
          <a:xfrm>
            <a:off x="1463040" y="4032504"/>
            <a:ext cx="6126480" cy="228600"/>
          </a:xfrm>
          <a:prstGeom prst="rect">
            <a:avLst/>
          </a:prstGeom>
          <a:noFill/>
          <a:ln/>
        </p:spPr>
        <p:txBody>
          <a:bodyPr wrap="square" lIns="0" tIns="0" rIns="0" bIns="0" rtlCol="0" anchor="ctr"/>
          <a:lstStyle/>
          <a:p>
            <a:pPr indent="0" marL="0">
              <a:buNone/>
            </a:pPr>
            <a:r>
              <a:rPr lang="en-US" sz="1500" dirty="0">
                <a:solidFill>
                  <a:srgbClr val="526663"/>
                </a:solidFill>
                <a:latin typeface="Arial" pitchFamily="34" charset="0"/>
                <a:ea typeface="Arial" pitchFamily="34" charset="-122"/>
                <a:cs typeface="Arial" pitchFamily="34" charset="-120"/>
              </a:rPr>
              <a:t>Enforce classification, quarantine and content checks.</a:t>
            </a:r>
            <a:endParaRPr lang="en-US" sz="1500" dirty="0"/>
          </a:p>
        </p:txBody>
      </p:sp>
      <p:sp>
        <p:nvSpPr>
          <p:cNvPr id="15" name="Shape 13"/>
          <p:cNvSpPr/>
          <p:nvPr/>
        </p:nvSpPr>
        <p:spPr>
          <a:xfrm>
            <a:off x="548640" y="4581144"/>
            <a:ext cx="7360920" cy="841248"/>
          </a:xfrm>
          <a:prstGeom prst="roundRect">
            <a:avLst>
              <a:gd name="adj" fmla="val 13043"/>
            </a:avLst>
          </a:prstGeom>
          <a:solidFill>
            <a:srgbClr val="FFFFFF"/>
          </a:solidFill>
          <a:ln w="12700">
            <a:solidFill>
              <a:srgbClr val="FFFFFF"/>
            </a:solidFill>
            <a:prstDash val="solid"/>
          </a:ln>
        </p:spPr>
      </p:sp>
      <p:sp>
        <p:nvSpPr>
          <p:cNvPr id="16" name="Text 14"/>
          <p:cNvSpPr/>
          <p:nvPr/>
        </p:nvSpPr>
        <p:spPr>
          <a:xfrm>
            <a:off x="777240" y="4764024"/>
            <a:ext cx="502920" cy="365760"/>
          </a:xfrm>
          <a:prstGeom prst="rect">
            <a:avLst/>
          </a:prstGeom>
          <a:noFill/>
          <a:ln/>
        </p:spPr>
        <p:txBody>
          <a:bodyPr wrap="square" lIns="0" tIns="0" rIns="0" bIns="0" rtlCol="0" anchor="ctr"/>
          <a:lstStyle/>
          <a:p>
            <a:pPr indent="0" marL="0">
              <a:buNone/>
            </a:pPr>
            <a:r>
              <a:rPr lang="en-US" sz="2300" b="1" dirty="0">
                <a:solidFill>
                  <a:srgbClr val="007D70"/>
                </a:solidFill>
                <a:latin typeface="Arial" pitchFamily="34" charset="0"/>
                <a:ea typeface="Arial" pitchFamily="34" charset="-122"/>
                <a:cs typeface="Arial" pitchFamily="34" charset="-120"/>
              </a:rPr>
              <a:t>03</a:t>
            </a:r>
            <a:endParaRPr lang="en-US" sz="2300" dirty="0"/>
          </a:p>
        </p:txBody>
      </p:sp>
      <p:sp>
        <p:nvSpPr>
          <p:cNvPr id="17" name="Text 15"/>
          <p:cNvSpPr/>
          <p:nvPr/>
        </p:nvSpPr>
        <p:spPr>
          <a:xfrm>
            <a:off x="1463040" y="4709160"/>
            <a:ext cx="6126480" cy="292608"/>
          </a:xfrm>
          <a:prstGeom prst="rect">
            <a:avLst/>
          </a:prstGeom>
          <a:noFill/>
          <a:ln/>
        </p:spPr>
        <p:txBody>
          <a:bodyPr wrap="square" lIns="0" tIns="0" rIns="0" bIns="0" rtlCol="0" anchor="ctr"/>
          <a:lstStyle/>
          <a:p>
            <a:pPr indent="0" marL="0">
              <a:buNone/>
            </a:pPr>
            <a:r>
              <a:rPr lang="en-US" sz="2000" b="1" dirty="0">
                <a:solidFill>
                  <a:srgbClr val="102D2C"/>
                </a:solidFill>
                <a:latin typeface="Arial" pitchFamily="34" charset="0"/>
                <a:ea typeface="Arial" pitchFamily="34" charset="-122"/>
                <a:cs typeface="Arial" pitchFamily="34" charset="-120"/>
              </a:rPr>
              <a:t>Trust-aware relevance</a:t>
            </a:r>
            <a:endParaRPr lang="en-US" sz="2000" dirty="0"/>
          </a:p>
        </p:txBody>
      </p:sp>
      <p:sp>
        <p:nvSpPr>
          <p:cNvPr id="18" name="Text 16"/>
          <p:cNvSpPr/>
          <p:nvPr/>
        </p:nvSpPr>
        <p:spPr>
          <a:xfrm>
            <a:off x="1463040" y="5065776"/>
            <a:ext cx="6126480" cy="228600"/>
          </a:xfrm>
          <a:prstGeom prst="rect">
            <a:avLst/>
          </a:prstGeom>
          <a:noFill/>
          <a:ln/>
        </p:spPr>
        <p:txBody>
          <a:bodyPr wrap="square" lIns="0" tIns="0" rIns="0" bIns="0" rtlCol="0" anchor="ctr"/>
          <a:lstStyle/>
          <a:p>
            <a:pPr indent="0" marL="0">
              <a:buNone/>
            </a:pPr>
            <a:r>
              <a:rPr lang="en-US" sz="1500" dirty="0">
                <a:solidFill>
                  <a:srgbClr val="526663"/>
                </a:solidFill>
                <a:latin typeface="Arial" pitchFamily="34" charset="0"/>
                <a:ea typeface="Arial" pitchFamily="34" charset="-122"/>
                <a:cs typeface="Arial" pitchFamily="34" charset="-120"/>
              </a:rPr>
              <a:t>Rank Trusted before Suspicious; then use distance.</a:t>
            </a:r>
            <a:endParaRPr lang="en-US" sz="1500" dirty="0"/>
          </a:p>
        </p:txBody>
      </p:sp>
      <p:sp>
        <p:nvSpPr>
          <p:cNvPr id="19" name="Shape 17"/>
          <p:cNvSpPr/>
          <p:nvPr/>
        </p:nvSpPr>
        <p:spPr>
          <a:xfrm>
            <a:off x="8211312" y="2514600"/>
            <a:ext cx="3419856" cy="3337560"/>
          </a:xfrm>
          <a:prstGeom prst="roundRect">
            <a:avLst>
              <a:gd name="adj" fmla="val 3288"/>
            </a:avLst>
          </a:prstGeom>
          <a:solidFill>
            <a:srgbClr val="102D2C"/>
          </a:solidFill>
          <a:ln w="12700">
            <a:solidFill>
              <a:srgbClr val="102D2C"/>
            </a:solidFill>
            <a:prstDash val="solid"/>
          </a:ln>
        </p:spPr>
      </p:sp>
      <p:pic>
        <p:nvPicPr>
          <p:cNvPr id="20" name="Image 0" descr="/home/pavan/TrustRAG/ppt_assets/icons/filter-teal.png">    </p:cNvPr>
          <p:cNvPicPr>
            <a:picLocks noChangeAspect="1"/>
          </p:cNvPicPr>
          <p:nvPr/>
        </p:nvPicPr>
        <p:blipFill>
          <a:blip r:embed="rId1"/>
          <a:stretch>
            <a:fillRect/>
          </a:stretch>
        </p:blipFill>
        <p:spPr>
          <a:xfrm>
            <a:off x="9454896" y="2834640"/>
            <a:ext cx="777240" cy="777240"/>
          </a:xfrm>
          <a:prstGeom prst="rect">
            <a:avLst/>
          </a:prstGeom>
        </p:spPr>
      </p:pic>
      <p:sp>
        <p:nvSpPr>
          <p:cNvPr id="21" name="Text 18"/>
          <p:cNvSpPr/>
          <p:nvPr/>
        </p:nvSpPr>
        <p:spPr>
          <a:xfrm>
            <a:off x="8503920" y="3867912"/>
            <a:ext cx="2834640" cy="914400"/>
          </a:xfrm>
          <a:prstGeom prst="rect">
            <a:avLst/>
          </a:prstGeom>
          <a:noFill/>
          <a:ln/>
        </p:spPr>
        <p:txBody>
          <a:bodyPr wrap="square" lIns="0" tIns="0" rIns="0" bIns="0" rtlCol="0" anchor="ctr"/>
          <a:lstStyle/>
          <a:p>
            <a:pPr algn="ctr" indent="0" marL="0">
              <a:buNone/>
            </a:pPr>
            <a:r>
              <a:rPr lang="en-US" sz="2500" b="1" dirty="0">
                <a:solidFill>
                  <a:srgbClr val="FFFFFF"/>
                </a:solidFill>
                <a:latin typeface="Arial" pitchFamily="34" charset="0"/>
                <a:ea typeface="Arial" pitchFamily="34" charset="-122"/>
                <a:cs typeface="Arial" pitchFamily="34" charset="-120"/>
              </a:rPr>
              <a:t>Only eligible context</a:t>
            </a:r>
            <a:endParaRPr lang="en-US" sz="2500" dirty="0"/>
          </a:p>
          <a:p>
            <a:pPr algn="ctr" indent="0" marL="0">
              <a:buNone/>
            </a:pPr>
            <a:r>
              <a:rPr lang="en-US" sz="2500" b="1" dirty="0">
                <a:solidFill>
                  <a:srgbClr val="FFFFFF"/>
                </a:solidFill>
                <a:latin typeface="Arial" pitchFamily="34" charset="0"/>
                <a:ea typeface="Arial" pitchFamily="34" charset="-122"/>
                <a:cs typeface="Arial" pitchFamily="34" charset="-120"/>
              </a:rPr>
              <a:t>reaches generation</a:t>
            </a:r>
            <a:endParaRPr lang="en-US" sz="2500" dirty="0"/>
          </a:p>
        </p:txBody>
      </p:sp>
      <p:sp>
        <p:nvSpPr>
          <p:cNvPr id="22" name="Text 19"/>
          <p:cNvSpPr/>
          <p:nvPr/>
        </p:nvSpPr>
        <p:spPr>
          <a:xfrm>
            <a:off x="8503920" y="5120640"/>
            <a:ext cx="2834640" cy="457200"/>
          </a:xfrm>
          <a:prstGeom prst="rect">
            <a:avLst/>
          </a:prstGeom>
          <a:noFill/>
          <a:ln/>
        </p:spPr>
        <p:txBody>
          <a:bodyPr wrap="square" lIns="0" tIns="0" rIns="0" bIns="0" rtlCol="0" anchor="ctr"/>
          <a:lstStyle/>
          <a:p>
            <a:pPr algn="ctr" indent="0" marL="0">
              <a:buNone/>
            </a:pPr>
            <a:r>
              <a:rPr lang="en-US" sz="1400" dirty="0">
                <a:solidFill>
                  <a:srgbClr val="CCE0D8"/>
                </a:solidFill>
                <a:latin typeface="Arial" pitchFamily="34" charset="0"/>
                <a:ea typeface="Arial" pitchFamily="34" charset="-122"/>
                <a:cs typeface="Arial" pitchFamily="34" charset="-120"/>
              </a:rPr>
              <a:t>Provenance records history;</a:t>
            </a:r>
            <a:endParaRPr lang="en-US" sz="1400" dirty="0"/>
          </a:p>
          <a:p>
            <a:pPr algn="ctr" indent="0" marL="0">
              <a:buNone/>
            </a:pPr>
            <a:r>
              <a:rPr lang="en-US" sz="1400" dirty="0">
                <a:solidFill>
                  <a:srgbClr val="CCE0D8"/>
                </a:solidFill>
                <a:latin typeface="Arial" pitchFamily="34" charset="0"/>
                <a:ea typeface="Arial" pitchFamily="34" charset="-122"/>
                <a:cs typeface="Arial" pitchFamily="34" charset="-120"/>
              </a:rPr>
              <a:t>it is not a separate access gate.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6"/>
        </a:solidFill>
      </p:bgPr>
    </p:bg>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100" b="1" spc="150" kern="0" dirty="0">
                <a:solidFill>
                  <a:srgbClr val="007D70"/>
                </a:solidFill>
                <a:latin typeface="Arial" pitchFamily="34" charset="0"/>
                <a:ea typeface="Arial" pitchFamily="34" charset="-122"/>
                <a:cs typeface="Arial" pitchFamily="34" charset="-120"/>
              </a:rPr>
              <a:t>03 / ARCHITECTURE</a:t>
            </a:r>
            <a:endParaRPr lang="en-US" sz="1100" dirty="0"/>
          </a:p>
        </p:txBody>
      </p:sp>
      <p:sp>
        <p:nvSpPr>
          <p:cNvPr id="3" name="Text 1"/>
          <p:cNvSpPr/>
          <p:nvPr/>
        </p:nvSpPr>
        <p:spPr>
          <a:xfrm>
            <a:off x="548640" y="868680"/>
            <a:ext cx="11064240" cy="640080"/>
          </a:xfrm>
          <a:prstGeom prst="rect">
            <a:avLst/>
          </a:prstGeom>
          <a:noFill/>
          <a:ln/>
        </p:spPr>
        <p:txBody>
          <a:bodyPr wrap="square" lIns="0" tIns="0" rIns="0" bIns="0" rtlCol="0" anchor="ctr"/>
          <a:lstStyle/>
          <a:p>
            <a:pPr indent="0" marL="0">
              <a:buNone/>
            </a:pPr>
            <a:r>
              <a:rPr lang="en-US" sz="3400" b="1" dirty="0">
                <a:solidFill>
                  <a:srgbClr val="102D2C"/>
                </a:solidFill>
                <a:latin typeface="Arial" pitchFamily="34" charset="0"/>
                <a:ea typeface="Arial" pitchFamily="34" charset="-122"/>
                <a:cs typeface="Arial" pitchFamily="34" charset="-120"/>
              </a:rPr>
              <a:t>Local retrieval, external generation</a:t>
            </a:r>
            <a:endParaRPr lang="en-US" sz="3400" dirty="0"/>
          </a:p>
        </p:txBody>
      </p:sp>
      <p:sp>
        <p:nvSpPr>
          <p:cNvPr id="4" name="Text 2"/>
          <p:cNvSpPr/>
          <p:nvPr/>
        </p:nvSpPr>
        <p:spPr>
          <a:xfrm>
            <a:off x="548640" y="1645920"/>
            <a:ext cx="10881360" cy="5943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Security checks are integrated into both ingestion and query processing.</a:t>
            </a:r>
            <a:endParaRPr lang="en-US" sz="1700" dirty="0"/>
          </a:p>
        </p:txBody>
      </p:sp>
      <p:sp>
        <p:nvSpPr>
          <p:cNvPr id="5" name="Text 3"/>
          <p:cNvSpPr/>
          <p:nvPr/>
        </p:nvSpPr>
        <p:spPr>
          <a:xfrm>
            <a:off x="548640" y="6419088"/>
            <a:ext cx="9144000" cy="182880"/>
          </a:xfrm>
          <a:prstGeom prst="rect">
            <a:avLst/>
          </a:prstGeom>
          <a:noFill/>
          <a:ln/>
        </p:spPr>
        <p:txBody>
          <a:bodyPr wrap="square" lIns="0" tIns="0" rIns="0" bIns="0" rtlCol="0" anchor="ctr"/>
          <a:lstStyle/>
          <a:p>
            <a:pPr indent="0" marL="0">
              <a:buNone/>
            </a:pPr>
            <a:r>
              <a:rPr lang="en-US" sz="1000" dirty="0">
                <a:solidFill>
                  <a:srgbClr val="526663"/>
                </a:solidFill>
                <a:latin typeface="Arial" pitchFamily="34" charset="0"/>
                <a:ea typeface="Arial" pitchFamily="34" charset="-122"/>
                <a:cs typeface="Arial" pitchFamily="34" charset="-120"/>
              </a:rPr>
              <a:t>TrustRAG  /  Academic prototype  /  17 Sep 2026</a:t>
            </a:r>
            <a:endParaRPr lang="en-US" sz="1000" dirty="0"/>
          </a:p>
        </p:txBody>
      </p:sp>
      <p:sp>
        <p:nvSpPr>
          <p:cNvPr id="6" name="Text 4"/>
          <p:cNvSpPr/>
          <p:nvPr/>
        </p:nvSpPr>
        <p:spPr>
          <a:xfrm>
            <a:off x="11018520" y="6382512"/>
            <a:ext cx="594360" cy="274320"/>
          </a:xfrm>
          <a:prstGeom prst="rect">
            <a:avLst/>
          </a:prstGeom>
          <a:noFill/>
          <a:ln/>
        </p:spPr>
        <p:txBody>
          <a:bodyPr wrap="square" lIns="0" tIns="0" rIns="0" bIns="0" rtlCol="0" anchor="ctr"/>
          <a:lstStyle/>
          <a:p>
            <a:pPr algn="r" indent="0" marL="0">
              <a:buNone/>
            </a:pPr>
            <a:r>
              <a:rPr lang="en-US" sz="1100" b="1" dirty="0">
                <a:solidFill>
                  <a:srgbClr val="007D70"/>
                </a:solidFill>
                <a:latin typeface="Arial" pitchFamily="34" charset="0"/>
                <a:ea typeface="Arial" pitchFamily="34" charset="-122"/>
                <a:cs typeface="Arial" pitchFamily="34" charset="-120"/>
              </a:rPr>
              <a:t>04</a:t>
            </a:r>
            <a:endParaRPr lang="en-US" sz="1100" dirty="0"/>
          </a:p>
        </p:txBody>
      </p:sp>
      <p:sp>
        <p:nvSpPr>
          <p:cNvPr id="7" name="Shape 5"/>
          <p:cNvSpPr/>
          <p:nvPr/>
        </p:nvSpPr>
        <p:spPr>
          <a:xfrm>
            <a:off x="548640" y="2514600"/>
            <a:ext cx="3511296" cy="1508760"/>
          </a:xfrm>
          <a:prstGeom prst="roundRect">
            <a:avLst>
              <a:gd name="adj" fmla="val 7273"/>
            </a:avLst>
          </a:prstGeom>
          <a:solidFill>
            <a:srgbClr val="FFFFFF"/>
          </a:solidFill>
          <a:ln w="12700">
            <a:solidFill>
              <a:srgbClr val="FFFFFF"/>
            </a:solidFill>
            <a:prstDash val="solid"/>
          </a:ln>
        </p:spPr>
      </p:sp>
      <p:pic>
        <p:nvPicPr>
          <p:cNvPr id="8" name="Image 0" descr="/home/pavan/TrustRAG/ppt_assets/icons/layers-teal.png">    </p:cNvPr>
          <p:cNvPicPr>
            <a:picLocks noChangeAspect="1"/>
          </p:cNvPicPr>
          <p:nvPr/>
        </p:nvPicPr>
        <p:blipFill>
          <a:blip r:embed="rId1"/>
          <a:stretch>
            <a:fillRect/>
          </a:stretch>
        </p:blipFill>
        <p:spPr>
          <a:xfrm>
            <a:off x="749808" y="2743200"/>
            <a:ext cx="411480" cy="411480"/>
          </a:xfrm>
          <a:prstGeom prst="rect">
            <a:avLst/>
          </a:prstGeom>
        </p:spPr>
      </p:pic>
      <p:sp>
        <p:nvSpPr>
          <p:cNvPr id="9" name="Text 6"/>
          <p:cNvSpPr/>
          <p:nvPr/>
        </p:nvSpPr>
        <p:spPr>
          <a:xfrm>
            <a:off x="1325880" y="2724912"/>
            <a:ext cx="2487168" cy="365760"/>
          </a:xfrm>
          <a:prstGeom prst="rect">
            <a:avLst/>
          </a:prstGeom>
          <a:noFill/>
          <a:ln/>
        </p:spPr>
        <p:txBody>
          <a:bodyPr wrap="square" lIns="0" tIns="0" rIns="0" bIns="0" rtlCol="0" anchor="ctr"/>
          <a:lstStyle/>
          <a:p>
            <a:pPr indent="0" marL="0">
              <a:buNone/>
            </a:pPr>
            <a:r>
              <a:rPr lang="en-US" sz="2200" b="1" dirty="0">
                <a:solidFill>
                  <a:srgbClr val="102D2C"/>
                </a:solidFill>
                <a:latin typeface="Arial" pitchFamily="34" charset="0"/>
                <a:ea typeface="Arial" pitchFamily="34" charset="-122"/>
                <a:cs typeface="Arial" pitchFamily="34" charset="-120"/>
              </a:rPr>
              <a:t>React interface</a:t>
            </a:r>
            <a:endParaRPr lang="en-US" sz="2200" dirty="0"/>
          </a:p>
        </p:txBody>
      </p:sp>
      <p:sp>
        <p:nvSpPr>
          <p:cNvPr id="10" name="Text 7"/>
          <p:cNvSpPr/>
          <p:nvPr/>
        </p:nvSpPr>
        <p:spPr>
          <a:xfrm>
            <a:off x="777240" y="3337560"/>
            <a:ext cx="3017520" cy="365760"/>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7 authenticated pages</a:t>
            </a:r>
            <a:endParaRPr lang="en-US" sz="1600" dirty="0"/>
          </a:p>
        </p:txBody>
      </p:sp>
      <p:sp>
        <p:nvSpPr>
          <p:cNvPr id="11" name="Shape 8"/>
          <p:cNvSpPr/>
          <p:nvPr/>
        </p:nvSpPr>
        <p:spPr>
          <a:xfrm>
            <a:off x="4096512" y="3127248"/>
            <a:ext cx="201168" cy="256032"/>
          </a:xfrm>
          <a:prstGeom prst="chevron">
            <a:avLst/>
          </a:prstGeom>
          <a:solidFill>
            <a:srgbClr val="007D70"/>
          </a:solidFill>
          <a:ln w="12700">
            <a:solidFill>
              <a:srgbClr val="007D70"/>
            </a:solidFill>
            <a:prstDash val="solid"/>
          </a:ln>
        </p:spPr>
      </p:sp>
      <p:sp>
        <p:nvSpPr>
          <p:cNvPr id="12" name="Shape 9"/>
          <p:cNvSpPr/>
          <p:nvPr/>
        </p:nvSpPr>
        <p:spPr>
          <a:xfrm>
            <a:off x="4334256" y="2514600"/>
            <a:ext cx="3511296" cy="1508760"/>
          </a:xfrm>
          <a:prstGeom prst="roundRect">
            <a:avLst>
              <a:gd name="adj" fmla="val 7273"/>
            </a:avLst>
          </a:prstGeom>
          <a:solidFill>
            <a:srgbClr val="FFFFFF"/>
          </a:solidFill>
          <a:ln w="12700">
            <a:solidFill>
              <a:srgbClr val="FFFFFF"/>
            </a:solidFill>
            <a:prstDash val="solid"/>
          </a:ln>
        </p:spPr>
      </p:sp>
      <p:pic>
        <p:nvPicPr>
          <p:cNvPr id="13" name="Image 1" descr="/home/pavan/TrustRAG/ppt_assets/icons/code-teal.png">    </p:cNvPr>
          <p:cNvPicPr>
            <a:picLocks noChangeAspect="1"/>
          </p:cNvPicPr>
          <p:nvPr/>
        </p:nvPicPr>
        <p:blipFill>
          <a:blip r:embed="rId2"/>
          <a:stretch>
            <a:fillRect/>
          </a:stretch>
        </p:blipFill>
        <p:spPr>
          <a:xfrm>
            <a:off x="4535424" y="2743200"/>
            <a:ext cx="411480" cy="411480"/>
          </a:xfrm>
          <a:prstGeom prst="rect">
            <a:avLst/>
          </a:prstGeom>
        </p:spPr>
      </p:pic>
      <p:sp>
        <p:nvSpPr>
          <p:cNvPr id="14" name="Text 10"/>
          <p:cNvSpPr/>
          <p:nvPr/>
        </p:nvSpPr>
        <p:spPr>
          <a:xfrm>
            <a:off x="5111496" y="2724912"/>
            <a:ext cx="2487168" cy="365760"/>
          </a:xfrm>
          <a:prstGeom prst="rect">
            <a:avLst/>
          </a:prstGeom>
          <a:noFill/>
          <a:ln/>
        </p:spPr>
        <p:txBody>
          <a:bodyPr wrap="square" lIns="0" tIns="0" rIns="0" bIns="0" rtlCol="0" anchor="ctr"/>
          <a:lstStyle/>
          <a:p>
            <a:pPr indent="0" marL="0">
              <a:buNone/>
            </a:pPr>
            <a:r>
              <a:rPr lang="en-US" sz="2200" b="1" dirty="0">
                <a:solidFill>
                  <a:srgbClr val="102D2C"/>
                </a:solidFill>
                <a:latin typeface="Arial" pitchFamily="34" charset="0"/>
                <a:ea typeface="Arial" pitchFamily="34" charset="-122"/>
                <a:cs typeface="Arial" pitchFamily="34" charset="-120"/>
              </a:rPr>
              <a:t>FastAPI backend</a:t>
            </a:r>
            <a:endParaRPr lang="en-US" sz="2200" dirty="0"/>
          </a:p>
        </p:txBody>
      </p:sp>
      <p:sp>
        <p:nvSpPr>
          <p:cNvPr id="15" name="Text 11"/>
          <p:cNvSpPr/>
          <p:nvPr/>
        </p:nvSpPr>
        <p:spPr>
          <a:xfrm>
            <a:off x="4562856" y="3337560"/>
            <a:ext cx="3017520" cy="365760"/>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JWT • RBAC • orchestration</a:t>
            </a:r>
            <a:endParaRPr lang="en-US" sz="1600" dirty="0"/>
          </a:p>
        </p:txBody>
      </p:sp>
      <p:sp>
        <p:nvSpPr>
          <p:cNvPr id="16" name="Shape 12"/>
          <p:cNvSpPr/>
          <p:nvPr/>
        </p:nvSpPr>
        <p:spPr>
          <a:xfrm>
            <a:off x="7882128" y="3127248"/>
            <a:ext cx="201168" cy="256032"/>
          </a:xfrm>
          <a:prstGeom prst="chevron">
            <a:avLst/>
          </a:prstGeom>
          <a:solidFill>
            <a:srgbClr val="007D70"/>
          </a:solidFill>
          <a:ln w="12700">
            <a:solidFill>
              <a:srgbClr val="007D70"/>
            </a:solidFill>
            <a:prstDash val="solid"/>
          </a:ln>
        </p:spPr>
      </p:sp>
      <p:sp>
        <p:nvSpPr>
          <p:cNvPr id="17" name="Shape 13"/>
          <p:cNvSpPr/>
          <p:nvPr/>
        </p:nvSpPr>
        <p:spPr>
          <a:xfrm>
            <a:off x="8119872" y="2514600"/>
            <a:ext cx="3511296" cy="1508760"/>
          </a:xfrm>
          <a:prstGeom prst="roundRect">
            <a:avLst>
              <a:gd name="adj" fmla="val 7273"/>
            </a:avLst>
          </a:prstGeom>
          <a:solidFill>
            <a:srgbClr val="FFFFFF"/>
          </a:solidFill>
          <a:ln w="12700">
            <a:solidFill>
              <a:srgbClr val="FFFFFF"/>
            </a:solidFill>
            <a:prstDash val="solid"/>
          </a:ln>
        </p:spPr>
      </p:sp>
      <p:pic>
        <p:nvPicPr>
          <p:cNvPr id="18" name="Image 2" descr="/home/pavan/TrustRAG/ppt_assets/icons/shield-teal.png">    </p:cNvPr>
          <p:cNvPicPr>
            <a:picLocks noChangeAspect="1"/>
          </p:cNvPicPr>
          <p:nvPr/>
        </p:nvPicPr>
        <p:blipFill>
          <a:blip r:embed="rId3"/>
          <a:stretch>
            <a:fillRect/>
          </a:stretch>
        </p:blipFill>
        <p:spPr>
          <a:xfrm>
            <a:off x="8321040" y="2743200"/>
            <a:ext cx="411480" cy="411480"/>
          </a:xfrm>
          <a:prstGeom prst="rect">
            <a:avLst/>
          </a:prstGeom>
        </p:spPr>
      </p:pic>
      <p:sp>
        <p:nvSpPr>
          <p:cNvPr id="19" name="Text 14"/>
          <p:cNvSpPr/>
          <p:nvPr/>
        </p:nvSpPr>
        <p:spPr>
          <a:xfrm>
            <a:off x="8897112" y="2724912"/>
            <a:ext cx="2487168" cy="365760"/>
          </a:xfrm>
          <a:prstGeom prst="rect">
            <a:avLst/>
          </a:prstGeom>
          <a:noFill/>
          <a:ln/>
        </p:spPr>
        <p:txBody>
          <a:bodyPr wrap="square" lIns="0" tIns="0" rIns="0" bIns="0" rtlCol="0" anchor="ctr"/>
          <a:lstStyle/>
          <a:p>
            <a:pPr indent="0" marL="0">
              <a:buNone/>
            </a:pPr>
            <a:r>
              <a:rPr lang="en-US" sz="2200" b="1" dirty="0">
                <a:solidFill>
                  <a:srgbClr val="102D2C"/>
                </a:solidFill>
                <a:latin typeface="Arial" pitchFamily="34" charset="0"/>
                <a:ea typeface="Arial" pitchFamily="34" charset="-122"/>
                <a:cs typeface="Arial" pitchFamily="34" charset="-120"/>
              </a:rPr>
              <a:t>Secure RAG core</a:t>
            </a:r>
            <a:endParaRPr lang="en-US" sz="2200" dirty="0"/>
          </a:p>
        </p:txBody>
      </p:sp>
      <p:sp>
        <p:nvSpPr>
          <p:cNvPr id="20" name="Text 15"/>
          <p:cNvSpPr/>
          <p:nvPr/>
        </p:nvSpPr>
        <p:spPr>
          <a:xfrm>
            <a:off x="8348472" y="3337560"/>
            <a:ext cx="3017520" cy="365760"/>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Ingest • verify • retrieve</a:t>
            </a:r>
            <a:endParaRPr lang="en-US" sz="1600" dirty="0"/>
          </a:p>
        </p:txBody>
      </p:sp>
      <p:sp>
        <p:nvSpPr>
          <p:cNvPr id="21" name="Shape 16"/>
          <p:cNvSpPr/>
          <p:nvPr/>
        </p:nvSpPr>
        <p:spPr>
          <a:xfrm>
            <a:off x="548640" y="4480560"/>
            <a:ext cx="7287768" cy="1490472"/>
          </a:xfrm>
          <a:prstGeom prst="roundRect">
            <a:avLst>
              <a:gd name="adj" fmla="val 7362"/>
            </a:avLst>
          </a:prstGeom>
          <a:solidFill>
            <a:srgbClr val="FFFFFF"/>
          </a:solidFill>
          <a:ln w="12700">
            <a:solidFill>
              <a:srgbClr val="FFFFFF"/>
            </a:solidFill>
            <a:prstDash val="solid"/>
          </a:ln>
        </p:spPr>
      </p:sp>
      <p:pic>
        <p:nvPicPr>
          <p:cNvPr id="22" name="Image 3" descr="/home/pavan/TrustRAG/ppt_assets/icons/database-teal.png">    </p:cNvPr>
          <p:cNvPicPr>
            <a:picLocks noChangeAspect="1"/>
          </p:cNvPicPr>
          <p:nvPr/>
        </p:nvPicPr>
        <p:blipFill>
          <a:blip r:embed="rId4"/>
          <a:stretch>
            <a:fillRect/>
          </a:stretch>
        </p:blipFill>
        <p:spPr>
          <a:xfrm>
            <a:off x="804672" y="4718304"/>
            <a:ext cx="411480" cy="411480"/>
          </a:xfrm>
          <a:prstGeom prst="rect">
            <a:avLst/>
          </a:prstGeom>
        </p:spPr>
      </p:pic>
      <p:sp>
        <p:nvSpPr>
          <p:cNvPr id="23" name="Text 17"/>
          <p:cNvSpPr/>
          <p:nvPr/>
        </p:nvSpPr>
        <p:spPr>
          <a:xfrm>
            <a:off x="1463040" y="4690872"/>
            <a:ext cx="5943600" cy="365760"/>
          </a:xfrm>
          <a:prstGeom prst="rect">
            <a:avLst/>
          </a:prstGeom>
          <a:noFill/>
          <a:ln/>
        </p:spPr>
        <p:txBody>
          <a:bodyPr wrap="square" lIns="0" tIns="0" rIns="0" bIns="0" rtlCol="0" anchor="ctr"/>
          <a:lstStyle/>
          <a:p>
            <a:pPr indent="0" marL="0">
              <a:buNone/>
            </a:pPr>
            <a:r>
              <a:rPr lang="en-US" sz="2200" b="1" dirty="0">
                <a:solidFill>
                  <a:srgbClr val="102D2C"/>
                </a:solidFill>
                <a:latin typeface="Arial" pitchFamily="34" charset="0"/>
                <a:ea typeface="Arial" pitchFamily="34" charset="-122"/>
                <a:cs typeface="Arial" pitchFamily="34" charset="-120"/>
              </a:rPr>
              <a:t>Local data &amp; models</a:t>
            </a:r>
            <a:endParaRPr lang="en-US" sz="2200" dirty="0"/>
          </a:p>
        </p:txBody>
      </p:sp>
      <p:sp>
        <p:nvSpPr>
          <p:cNvPr id="24" name="Text 18"/>
          <p:cNvSpPr/>
          <p:nvPr/>
        </p:nvSpPr>
        <p:spPr>
          <a:xfrm>
            <a:off x="822960" y="5230368"/>
            <a:ext cx="6629400" cy="521208"/>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EmbeddingGemma-300M · 768 dimensions · ChromaDB</a:t>
            </a:r>
            <a:endParaRPr lang="en-US" sz="1600" dirty="0"/>
          </a:p>
          <a:p>
            <a:pPr indent="0" marL="0">
              <a:buNone/>
            </a:pPr>
            <a:r>
              <a:rPr lang="en-US" sz="1600" dirty="0">
                <a:solidFill>
                  <a:srgbClr val="526663"/>
                </a:solidFill>
                <a:latin typeface="Arial" pitchFamily="34" charset="0"/>
                <a:ea typeface="Arial" pitchFamily="34" charset="-122"/>
                <a:cs typeface="Arial" pitchFamily="34" charset="-120"/>
              </a:rPr>
              <a:t>Files + metadata · Ed25519 keys · provenance · SQLite audit</a:t>
            </a:r>
            <a:endParaRPr lang="en-US" sz="1600" dirty="0"/>
          </a:p>
        </p:txBody>
      </p:sp>
      <p:sp>
        <p:nvSpPr>
          <p:cNvPr id="25" name="Shape 19"/>
          <p:cNvSpPr/>
          <p:nvPr/>
        </p:nvSpPr>
        <p:spPr>
          <a:xfrm>
            <a:off x="8119872" y="4480560"/>
            <a:ext cx="3511296" cy="1490472"/>
          </a:xfrm>
          <a:prstGeom prst="roundRect">
            <a:avLst>
              <a:gd name="adj" fmla="val 7362"/>
            </a:avLst>
          </a:prstGeom>
          <a:solidFill>
            <a:srgbClr val="E2EFEB"/>
          </a:solidFill>
          <a:ln w="12700">
            <a:solidFill>
              <a:srgbClr val="E2EFEB"/>
            </a:solidFill>
            <a:prstDash val="solid"/>
          </a:ln>
        </p:spPr>
      </p:sp>
      <p:pic>
        <p:nvPicPr>
          <p:cNvPr id="26" name="Image 4" descr="/home/pavan/TrustRAG/ppt_assets/icons/chat-teal.png">    </p:cNvPr>
          <p:cNvPicPr>
            <a:picLocks noChangeAspect="1"/>
          </p:cNvPicPr>
          <p:nvPr/>
        </p:nvPicPr>
        <p:blipFill>
          <a:blip r:embed="rId5"/>
          <a:stretch>
            <a:fillRect/>
          </a:stretch>
        </p:blipFill>
        <p:spPr>
          <a:xfrm>
            <a:off x="8366760" y="4700016"/>
            <a:ext cx="411480" cy="411480"/>
          </a:xfrm>
          <a:prstGeom prst="rect">
            <a:avLst/>
          </a:prstGeom>
        </p:spPr>
      </p:pic>
      <p:sp>
        <p:nvSpPr>
          <p:cNvPr id="27" name="Text 20"/>
          <p:cNvSpPr/>
          <p:nvPr/>
        </p:nvSpPr>
        <p:spPr>
          <a:xfrm>
            <a:off x="8961120" y="4663440"/>
            <a:ext cx="2468880" cy="411480"/>
          </a:xfrm>
          <a:prstGeom prst="rect">
            <a:avLst/>
          </a:prstGeom>
          <a:noFill/>
          <a:ln/>
        </p:spPr>
        <p:txBody>
          <a:bodyPr wrap="square" lIns="0" tIns="0" rIns="0" bIns="0" rtlCol="0" anchor="ctr"/>
          <a:lstStyle/>
          <a:p>
            <a:pPr indent="0" marL="0">
              <a:buNone/>
            </a:pPr>
            <a:r>
              <a:rPr lang="en-US" sz="2100" b="1" dirty="0">
                <a:solidFill>
                  <a:srgbClr val="102D2C"/>
                </a:solidFill>
                <a:latin typeface="Arial" pitchFamily="34" charset="0"/>
                <a:ea typeface="Arial" pitchFamily="34" charset="-122"/>
                <a:cs typeface="Arial" pitchFamily="34" charset="-120"/>
              </a:rPr>
              <a:t>OpenRouter LLM</a:t>
            </a:r>
            <a:endParaRPr lang="en-US" sz="2100" dirty="0"/>
          </a:p>
        </p:txBody>
      </p:sp>
      <p:sp>
        <p:nvSpPr>
          <p:cNvPr id="28" name="Text 21"/>
          <p:cNvSpPr/>
          <p:nvPr/>
        </p:nvSpPr>
        <p:spPr>
          <a:xfrm>
            <a:off x="8366760" y="5266944"/>
            <a:ext cx="2990088" cy="484632"/>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The prompt and eligible document</a:t>
            </a:r>
            <a:endParaRPr lang="en-US" sz="1600" dirty="0"/>
          </a:p>
          <a:p>
            <a:pPr indent="0" marL="0">
              <a:buNone/>
            </a:pPr>
            <a:r>
              <a:rPr lang="en-US" sz="1600" dirty="0">
                <a:solidFill>
                  <a:srgbClr val="526663"/>
                </a:solidFill>
                <a:latin typeface="Arial" pitchFamily="34" charset="0"/>
                <a:ea typeface="Arial" pitchFamily="34" charset="-122"/>
                <a:cs typeface="Arial" pitchFamily="34" charset="-120"/>
              </a:rPr>
              <a:t>context leave the local system.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6"/>
        </a:solidFill>
      </p:bgPr>
    </p:bg>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100" b="1" spc="150" kern="0" dirty="0">
                <a:solidFill>
                  <a:srgbClr val="007D70"/>
                </a:solidFill>
                <a:latin typeface="Arial" pitchFamily="34" charset="0"/>
                <a:ea typeface="Arial" pitchFamily="34" charset="-122"/>
                <a:cs typeface="Arial" pitchFamily="34" charset="-120"/>
              </a:rPr>
              <a:t>04 / INGESTION</a:t>
            </a:r>
            <a:endParaRPr lang="en-US" sz="1100" dirty="0"/>
          </a:p>
        </p:txBody>
      </p:sp>
      <p:sp>
        <p:nvSpPr>
          <p:cNvPr id="3" name="Text 1"/>
          <p:cNvSpPr/>
          <p:nvPr/>
        </p:nvSpPr>
        <p:spPr>
          <a:xfrm>
            <a:off x="548640" y="868680"/>
            <a:ext cx="11064240" cy="640080"/>
          </a:xfrm>
          <a:prstGeom prst="rect">
            <a:avLst/>
          </a:prstGeom>
          <a:noFill/>
          <a:ln/>
        </p:spPr>
        <p:txBody>
          <a:bodyPr wrap="square" lIns="0" tIns="0" rIns="0" bIns="0" rtlCol="0" anchor="ctr"/>
          <a:lstStyle/>
          <a:p>
            <a:pPr indent="0" marL="0">
              <a:buNone/>
            </a:pPr>
            <a:r>
              <a:rPr lang="en-US" sz="3400" b="1" dirty="0">
                <a:solidFill>
                  <a:srgbClr val="102D2C"/>
                </a:solidFill>
                <a:latin typeface="Arial" pitchFamily="34" charset="0"/>
                <a:ea typeface="Arial" pitchFamily="34" charset="-122"/>
                <a:cs typeface="Arial" pitchFamily="34" charset="-120"/>
              </a:rPr>
              <a:t>Build security evidence before indexing</a:t>
            </a:r>
            <a:endParaRPr lang="en-US" sz="3400" dirty="0"/>
          </a:p>
        </p:txBody>
      </p:sp>
      <p:sp>
        <p:nvSpPr>
          <p:cNvPr id="4" name="Text 2"/>
          <p:cNvSpPr/>
          <p:nvPr/>
        </p:nvSpPr>
        <p:spPr>
          <a:xfrm>
            <a:off x="548640" y="1645920"/>
            <a:ext cx="10881360" cy="5943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PDF, DOCX and TXT enter an authenticated, classification-aware ingestion path.</a:t>
            </a:r>
            <a:endParaRPr lang="en-US" sz="1700" dirty="0"/>
          </a:p>
        </p:txBody>
      </p:sp>
      <p:sp>
        <p:nvSpPr>
          <p:cNvPr id="5" name="Text 3"/>
          <p:cNvSpPr/>
          <p:nvPr/>
        </p:nvSpPr>
        <p:spPr>
          <a:xfrm>
            <a:off x="548640" y="6419088"/>
            <a:ext cx="9144000" cy="182880"/>
          </a:xfrm>
          <a:prstGeom prst="rect">
            <a:avLst/>
          </a:prstGeom>
          <a:noFill/>
          <a:ln/>
        </p:spPr>
        <p:txBody>
          <a:bodyPr wrap="square" lIns="0" tIns="0" rIns="0" bIns="0" rtlCol="0" anchor="ctr"/>
          <a:lstStyle/>
          <a:p>
            <a:pPr indent="0" marL="0">
              <a:buNone/>
            </a:pPr>
            <a:r>
              <a:rPr lang="en-US" sz="1000" dirty="0">
                <a:solidFill>
                  <a:srgbClr val="526663"/>
                </a:solidFill>
                <a:latin typeface="Arial" pitchFamily="34" charset="0"/>
                <a:ea typeface="Arial" pitchFamily="34" charset="-122"/>
                <a:cs typeface="Arial" pitchFamily="34" charset="-120"/>
              </a:rPr>
              <a:t>TrustRAG  /  Academic prototype  /  17 Sep 2026</a:t>
            </a:r>
            <a:endParaRPr lang="en-US" sz="1000" dirty="0"/>
          </a:p>
        </p:txBody>
      </p:sp>
      <p:sp>
        <p:nvSpPr>
          <p:cNvPr id="6" name="Text 4"/>
          <p:cNvSpPr/>
          <p:nvPr/>
        </p:nvSpPr>
        <p:spPr>
          <a:xfrm>
            <a:off x="11018520" y="6382512"/>
            <a:ext cx="594360" cy="274320"/>
          </a:xfrm>
          <a:prstGeom prst="rect">
            <a:avLst/>
          </a:prstGeom>
          <a:noFill/>
          <a:ln/>
        </p:spPr>
        <p:txBody>
          <a:bodyPr wrap="square" lIns="0" tIns="0" rIns="0" bIns="0" rtlCol="0" anchor="ctr"/>
          <a:lstStyle/>
          <a:p>
            <a:pPr algn="r" indent="0" marL="0">
              <a:buNone/>
            </a:pPr>
            <a:r>
              <a:rPr lang="en-US" sz="1100" b="1" dirty="0">
                <a:solidFill>
                  <a:srgbClr val="007D70"/>
                </a:solidFill>
                <a:latin typeface="Arial" pitchFamily="34" charset="0"/>
                <a:ea typeface="Arial" pitchFamily="34" charset="-122"/>
                <a:cs typeface="Arial" pitchFamily="34" charset="-120"/>
              </a:rPr>
              <a:t>05</a:t>
            </a:r>
            <a:endParaRPr lang="en-US" sz="1100" dirty="0"/>
          </a:p>
        </p:txBody>
      </p:sp>
      <p:sp>
        <p:nvSpPr>
          <p:cNvPr id="7" name="Shape 5"/>
          <p:cNvSpPr/>
          <p:nvPr/>
        </p:nvSpPr>
        <p:spPr>
          <a:xfrm>
            <a:off x="548640" y="2514600"/>
            <a:ext cx="3511296" cy="1481328"/>
          </a:xfrm>
          <a:prstGeom prst="roundRect">
            <a:avLst>
              <a:gd name="adj" fmla="val 7407"/>
            </a:avLst>
          </a:prstGeom>
          <a:solidFill>
            <a:srgbClr val="FFFFFF"/>
          </a:solidFill>
          <a:ln w="12700">
            <a:solidFill>
              <a:srgbClr val="FFFFFF"/>
            </a:solidFill>
            <a:prstDash val="solid"/>
          </a:ln>
        </p:spPr>
      </p:sp>
      <p:sp>
        <p:nvSpPr>
          <p:cNvPr id="8" name="Shape 6"/>
          <p:cNvSpPr/>
          <p:nvPr/>
        </p:nvSpPr>
        <p:spPr>
          <a:xfrm>
            <a:off x="749808" y="2715768"/>
            <a:ext cx="438912" cy="438912"/>
          </a:xfrm>
          <a:prstGeom prst="roundRect">
            <a:avLst>
              <a:gd name="adj" fmla="val 25000"/>
            </a:avLst>
          </a:prstGeom>
          <a:solidFill>
            <a:srgbClr val="E2EFEB"/>
          </a:solidFill>
          <a:ln w="12700">
            <a:solidFill>
              <a:srgbClr val="E2EFEB"/>
            </a:solidFill>
            <a:prstDash val="solid"/>
          </a:ln>
        </p:spPr>
      </p:sp>
      <p:sp>
        <p:nvSpPr>
          <p:cNvPr id="9" name="Text 7"/>
          <p:cNvSpPr/>
          <p:nvPr/>
        </p:nvSpPr>
        <p:spPr>
          <a:xfrm>
            <a:off x="749808" y="2734056"/>
            <a:ext cx="438912" cy="365760"/>
          </a:xfrm>
          <a:prstGeom prst="rect">
            <a:avLst/>
          </a:prstGeom>
          <a:noFill/>
          <a:ln/>
        </p:spPr>
        <p:txBody>
          <a:bodyPr wrap="square" lIns="0" tIns="0" rIns="0" bIns="0" rtlCol="0" anchor="ctr"/>
          <a:lstStyle/>
          <a:p>
            <a:pPr algn="ctr" indent="0" marL="0">
              <a:buNone/>
            </a:pPr>
            <a:r>
              <a:rPr lang="en-US" sz="1800" b="1" dirty="0">
                <a:solidFill>
                  <a:srgbClr val="007D70"/>
                </a:solidFill>
                <a:latin typeface="Arial" pitchFamily="34" charset="0"/>
                <a:ea typeface="Arial" pitchFamily="34" charset="-122"/>
                <a:cs typeface="Arial" pitchFamily="34" charset="-120"/>
              </a:rPr>
              <a:t>1</a:t>
            </a:r>
            <a:endParaRPr lang="en-US" sz="1800" dirty="0"/>
          </a:p>
        </p:txBody>
      </p:sp>
      <p:sp>
        <p:nvSpPr>
          <p:cNvPr id="10" name="Text 8"/>
          <p:cNvSpPr/>
          <p:nvPr/>
        </p:nvSpPr>
        <p:spPr>
          <a:xfrm>
            <a:off x="1344168" y="2715768"/>
            <a:ext cx="2487168" cy="457200"/>
          </a:xfrm>
          <a:prstGeom prst="rect">
            <a:avLst/>
          </a:prstGeom>
          <a:noFill/>
          <a:ln/>
        </p:spPr>
        <p:txBody>
          <a:bodyPr wrap="square" lIns="0" tIns="0" rIns="0" bIns="0" rtlCol="0" anchor="ctr"/>
          <a:lstStyle/>
          <a:p>
            <a:pPr indent="0" marL="0">
              <a:buNone/>
            </a:pPr>
            <a:r>
              <a:rPr lang="en-US" sz="2100" b="1" dirty="0">
                <a:solidFill>
                  <a:srgbClr val="102D2C"/>
                </a:solidFill>
                <a:latin typeface="Arial" pitchFamily="34" charset="0"/>
                <a:ea typeface="Arial" pitchFamily="34" charset="-122"/>
                <a:cs typeface="Arial" pitchFamily="34" charset="-120"/>
              </a:rPr>
              <a:t>Validate</a:t>
            </a:r>
            <a:endParaRPr lang="en-US" sz="2100" dirty="0"/>
          </a:p>
        </p:txBody>
      </p:sp>
      <p:sp>
        <p:nvSpPr>
          <p:cNvPr id="11" name="Text 9"/>
          <p:cNvSpPr/>
          <p:nvPr/>
        </p:nvSpPr>
        <p:spPr>
          <a:xfrm>
            <a:off x="768096" y="3328416"/>
            <a:ext cx="3072384" cy="502920"/>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Type, size and clearance;</a:t>
            </a:r>
            <a:endParaRPr lang="en-US" sz="1600" dirty="0"/>
          </a:p>
          <a:p>
            <a:pPr indent="0" marL="0">
              <a:buNone/>
            </a:pPr>
            <a:r>
              <a:rPr lang="en-US" sz="1600" dirty="0">
                <a:solidFill>
                  <a:srgbClr val="526663"/>
                </a:solidFill>
                <a:latin typeface="Arial" pitchFamily="34" charset="0"/>
                <a:ea typeface="Arial" pitchFamily="34" charset="-122"/>
                <a:cs typeface="Arial" pitchFamily="34" charset="-120"/>
              </a:rPr>
              <a:t>server-generated document ID.</a:t>
            </a:r>
            <a:endParaRPr lang="en-US" sz="1600" dirty="0"/>
          </a:p>
        </p:txBody>
      </p:sp>
      <p:sp>
        <p:nvSpPr>
          <p:cNvPr id="12" name="Shape 10"/>
          <p:cNvSpPr/>
          <p:nvPr/>
        </p:nvSpPr>
        <p:spPr>
          <a:xfrm>
            <a:off x="4334256" y="2514600"/>
            <a:ext cx="3511296" cy="1481328"/>
          </a:xfrm>
          <a:prstGeom prst="roundRect">
            <a:avLst>
              <a:gd name="adj" fmla="val 7407"/>
            </a:avLst>
          </a:prstGeom>
          <a:solidFill>
            <a:srgbClr val="FFFFFF"/>
          </a:solidFill>
          <a:ln w="12700">
            <a:solidFill>
              <a:srgbClr val="FFFFFF"/>
            </a:solidFill>
            <a:prstDash val="solid"/>
          </a:ln>
        </p:spPr>
      </p:sp>
      <p:sp>
        <p:nvSpPr>
          <p:cNvPr id="13" name="Shape 11"/>
          <p:cNvSpPr/>
          <p:nvPr/>
        </p:nvSpPr>
        <p:spPr>
          <a:xfrm>
            <a:off x="4535424" y="2715768"/>
            <a:ext cx="438912" cy="438912"/>
          </a:xfrm>
          <a:prstGeom prst="roundRect">
            <a:avLst>
              <a:gd name="adj" fmla="val 25000"/>
            </a:avLst>
          </a:prstGeom>
          <a:solidFill>
            <a:srgbClr val="E2EFEB"/>
          </a:solidFill>
          <a:ln w="12700">
            <a:solidFill>
              <a:srgbClr val="E2EFEB"/>
            </a:solidFill>
            <a:prstDash val="solid"/>
          </a:ln>
        </p:spPr>
      </p:sp>
      <p:sp>
        <p:nvSpPr>
          <p:cNvPr id="14" name="Text 12"/>
          <p:cNvSpPr/>
          <p:nvPr/>
        </p:nvSpPr>
        <p:spPr>
          <a:xfrm>
            <a:off x="4535424" y="2734056"/>
            <a:ext cx="438912" cy="365760"/>
          </a:xfrm>
          <a:prstGeom prst="rect">
            <a:avLst/>
          </a:prstGeom>
          <a:noFill/>
          <a:ln/>
        </p:spPr>
        <p:txBody>
          <a:bodyPr wrap="square" lIns="0" tIns="0" rIns="0" bIns="0" rtlCol="0" anchor="ctr"/>
          <a:lstStyle/>
          <a:p>
            <a:pPr algn="ctr" indent="0" marL="0">
              <a:buNone/>
            </a:pPr>
            <a:r>
              <a:rPr lang="en-US" sz="1800" b="1" dirty="0">
                <a:solidFill>
                  <a:srgbClr val="007D70"/>
                </a:solidFill>
                <a:latin typeface="Arial" pitchFamily="34" charset="0"/>
                <a:ea typeface="Arial" pitchFamily="34" charset="-122"/>
                <a:cs typeface="Arial" pitchFamily="34" charset="-120"/>
              </a:rPr>
              <a:t>2</a:t>
            </a:r>
            <a:endParaRPr lang="en-US" sz="1800" dirty="0"/>
          </a:p>
        </p:txBody>
      </p:sp>
      <p:sp>
        <p:nvSpPr>
          <p:cNvPr id="15" name="Text 13"/>
          <p:cNvSpPr/>
          <p:nvPr/>
        </p:nvSpPr>
        <p:spPr>
          <a:xfrm>
            <a:off x="5129784" y="2715768"/>
            <a:ext cx="2487168" cy="457200"/>
          </a:xfrm>
          <a:prstGeom prst="rect">
            <a:avLst/>
          </a:prstGeom>
          <a:noFill/>
          <a:ln/>
        </p:spPr>
        <p:txBody>
          <a:bodyPr wrap="square" lIns="0" tIns="0" rIns="0" bIns="0" rtlCol="0" anchor="ctr"/>
          <a:lstStyle/>
          <a:p>
            <a:pPr indent="0" marL="0">
              <a:buNone/>
            </a:pPr>
            <a:r>
              <a:rPr lang="en-US" sz="2100" b="1" dirty="0">
                <a:solidFill>
                  <a:srgbClr val="102D2C"/>
                </a:solidFill>
                <a:latin typeface="Arial" pitchFamily="34" charset="0"/>
                <a:ea typeface="Arial" pitchFamily="34" charset="-122"/>
                <a:cs typeface="Arial" pitchFamily="34" charset="-120"/>
              </a:rPr>
              <a:t>Verify</a:t>
            </a:r>
            <a:endParaRPr lang="en-US" sz="2100" dirty="0"/>
          </a:p>
        </p:txBody>
      </p:sp>
      <p:sp>
        <p:nvSpPr>
          <p:cNvPr id="16" name="Text 14"/>
          <p:cNvSpPr/>
          <p:nvPr/>
        </p:nvSpPr>
        <p:spPr>
          <a:xfrm>
            <a:off x="4553712" y="3328416"/>
            <a:ext cx="3072384" cy="502920"/>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SHA-256 file digest;</a:t>
            </a:r>
            <a:endParaRPr lang="en-US" sz="1600" dirty="0"/>
          </a:p>
          <a:p>
            <a:pPr indent="0" marL="0">
              <a:buNone/>
            </a:pPr>
            <a:r>
              <a:rPr lang="en-US" sz="1600" dirty="0">
                <a:solidFill>
                  <a:srgbClr val="526663"/>
                </a:solidFill>
                <a:latin typeface="Arial" pitchFamily="34" charset="0"/>
                <a:ea typeface="Arial" pitchFamily="34" charset="-122"/>
                <a:cs typeface="Arial" pitchFamily="34" charset="-120"/>
              </a:rPr>
              <a:t>Ed25519 when signed.</a:t>
            </a:r>
            <a:endParaRPr lang="en-US" sz="1600" dirty="0"/>
          </a:p>
        </p:txBody>
      </p:sp>
      <p:sp>
        <p:nvSpPr>
          <p:cNvPr id="17" name="Shape 15"/>
          <p:cNvSpPr/>
          <p:nvPr/>
        </p:nvSpPr>
        <p:spPr>
          <a:xfrm>
            <a:off x="8119872" y="2514600"/>
            <a:ext cx="3511296" cy="1481328"/>
          </a:xfrm>
          <a:prstGeom prst="roundRect">
            <a:avLst>
              <a:gd name="adj" fmla="val 7407"/>
            </a:avLst>
          </a:prstGeom>
          <a:solidFill>
            <a:srgbClr val="FFFFFF"/>
          </a:solidFill>
          <a:ln w="12700">
            <a:solidFill>
              <a:srgbClr val="FFFFFF"/>
            </a:solidFill>
            <a:prstDash val="solid"/>
          </a:ln>
        </p:spPr>
      </p:sp>
      <p:sp>
        <p:nvSpPr>
          <p:cNvPr id="18" name="Shape 16"/>
          <p:cNvSpPr/>
          <p:nvPr/>
        </p:nvSpPr>
        <p:spPr>
          <a:xfrm>
            <a:off x="8321040" y="2715768"/>
            <a:ext cx="438912" cy="438912"/>
          </a:xfrm>
          <a:prstGeom prst="roundRect">
            <a:avLst>
              <a:gd name="adj" fmla="val 25000"/>
            </a:avLst>
          </a:prstGeom>
          <a:solidFill>
            <a:srgbClr val="E2EFEB"/>
          </a:solidFill>
          <a:ln w="12700">
            <a:solidFill>
              <a:srgbClr val="E2EFEB"/>
            </a:solidFill>
            <a:prstDash val="solid"/>
          </a:ln>
        </p:spPr>
      </p:sp>
      <p:sp>
        <p:nvSpPr>
          <p:cNvPr id="19" name="Text 17"/>
          <p:cNvSpPr/>
          <p:nvPr/>
        </p:nvSpPr>
        <p:spPr>
          <a:xfrm>
            <a:off x="8321040" y="2734056"/>
            <a:ext cx="438912" cy="365760"/>
          </a:xfrm>
          <a:prstGeom prst="rect">
            <a:avLst/>
          </a:prstGeom>
          <a:noFill/>
          <a:ln/>
        </p:spPr>
        <p:txBody>
          <a:bodyPr wrap="square" lIns="0" tIns="0" rIns="0" bIns="0" rtlCol="0" anchor="ctr"/>
          <a:lstStyle/>
          <a:p>
            <a:pPr algn="ctr" indent="0" marL="0">
              <a:buNone/>
            </a:pPr>
            <a:r>
              <a:rPr lang="en-US" sz="1800" b="1" dirty="0">
                <a:solidFill>
                  <a:srgbClr val="007D70"/>
                </a:solidFill>
                <a:latin typeface="Arial" pitchFamily="34" charset="0"/>
                <a:ea typeface="Arial" pitchFamily="34" charset="-122"/>
                <a:cs typeface="Arial" pitchFamily="34" charset="-120"/>
              </a:rPr>
              <a:t>3</a:t>
            </a:r>
            <a:endParaRPr lang="en-US" sz="1800" dirty="0"/>
          </a:p>
        </p:txBody>
      </p:sp>
      <p:sp>
        <p:nvSpPr>
          <p:cNvPr id="20" name="Text 18"/>
          <p:cNvSpPr/>
          <p:nvPr/>
        </p:nvSpPr>
        <p:spPr>
          <a:xfrm>
            <a:off x="8915400" y="2715768"/>
            <a:ext cx="2487168" cy="457200"/>
          </a:xfrm>
          <a:prstGeom prst="rect">
            <a:avLst/>
          </a:prstGeom>
          <a:noFill/>
          <a:ln/>
        </p:spPr>
        <p:txBody>
          <a:bodyPr wrap="square" lIns="0" tIns="0" rIns="0" bIns="0" rtlCol="0" anchor="ctr"/>
          <a:lstStyle/>
          <a:p>
            <a:pPr indent="0" marL="0">
              <a:buNone/>
            </a:pPr>
            <a:r>
              <a:rPr lang="en-US" sz="2100" b="1" dirty="0">
                <a:solidFill>
                  <a:srgbClr val="102D2C"/>
                </a:solidFill>
                <a:latin typeface="Arial" pitchFamily="34" charset="0"/>
                <a:ea typeface="Arial" pitchFamily="34" charset="-122"/>
                <a:cs typeface="Arial" pitchFamily="34" charset="-120"/>
              </a:rPr>
              <a:t>Extract &amp; scan</a:t>
            </a:r>
            <a:endParaRPr lang="en-US" sz="2100" dirty="0"/>
          </a:p>
        </p:txBody>
      </p:sp>
      <p:sp>
        <p:nvSpPr>
          <p:cNvPr id="21" name="Text 19"/>
          <p:cNvSpPr/>
          <p:nvPr/>
        </p:nvSpPr>
        <p:spPr>
          <a:xfrm>
            <a:off x="8339328" y="3328416"/>
            <a:ext cx="3072384" cy="502920"/>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Read text; scan for injection</a:t>
            </a:r>
            <a:endParaRPr lang="en-US" sz="1600" dirty="0"/>
          </a:p>
          <a:p>
            <a:pPr indent="0" marL="0">
              <a:buNone/>
            </a:pPr>
            <a:r>
              <a:rPr lang="en-US" sz="1600" dirty="0">
                <a:solidFill>
                  <a:srgbClr val="526663"/>
                </a:solidFill>
                <a:latin typeface="Arial" pitchFamily="34" charset="0"/>
                <a:ea typeface="Arial" pitchFamily="34" charset="-122"/>
                <a:cs typeface="Arial" pitchFamily="34" charset="-120"/>
              </a:rPr>
              <a:t>and poisoning patterns.</a:t>
            </a:r>
            <a:endParaRPr lang="en-US" sz="1600" dirty="0"/>
          </a:p>
        </p:txBody>
      </p:sp>
      <p:sp>
        <p:nvSpPr>
          <p:cNvPr id="22" name="Shape 20"/>
          <p:cNvSpPr/>
          <p:nvPr/>
        </p:nvSpPr>
        <p:spPr>
          <a:xfrm>
            <a:off x="548640" y="4270248"/>
            <a:ext cx="3511296" cy="1481328"/>
          </a:xfrm>
          <a:prstGeom prst="roundRect">
            <a:avLst>
              <a:gd name="adj" fmla="val 7407"/>
            </a:avLst>
          </a:prstGeom>
          <a:solidFill>
            <a:srgbClr val="FFFFFF"/>
          </a:solidFill>
          <a:ln w="12700">
            <a:solidFill>
              <a:srgbClr val="FFFFFF"/>
            </a:solidFill>
            <a:prstDash val="solid"/>
          </a:ln>
        </p:spPr>
      </p:sp>
      <p:sp>
        <p:nvSpPr>
          <p:cNvPr id="23" name="Shape 21"/>
          <p:cNvSpPr/>
          <p:nvPr/>
        </p:nvSpPr>
        <p:spPr>
          <a:xfrm>
            <a:off x="749808" y="4471416"/>
            <a:ext cx="438912" cy="438912"/>
          </a:xfrm>
          <a:prstGeom prst="roundRect">
            <a:avLst>
              <a:gd name="adj" fmla="val 25000"/>
            </a:avLst>
          </a:prstGeom>
          <a:solidFill>
            <a:srgbClr val="E2EFEB"/>
          </a:solidFill>
          <a:ln w="12700">
            <a:solidFill>
              <a:srgbClr val="E2EFEB"/>
            </a:solidFill>
            <a:prstDash val="solid"/>
          </a:ln>
        </p:spPr>
      </p:sp>
      <p:sp>
        <p:nvSpPr>
          <p:cNvPr id="24" name="Text 22"/>
          <p:cNvSpPr/>
          <p:nvPr/>
        </p:nvSpPr>
        <p:spPr>
          <a:xfrm>
            <a:off x="749808" y="4489704"/>
            <a:ext cx="438912" cy="365760"/>
          </a:xfrm>
          <a:prstGeom prst="rect">
            <a:avLst/>
          </a:prstGeom>
          <a:noFill/>
          <a:ln/>
        </p:spPr>
        <p:txBody>
          <a:bodyPr wrap="square" lIns="0" tIns="0" rIns="0" bIns="0" rtlCol="0" anchor="ctr"/>
          <a:lstStyle/>
          <a:p>
            <a:pPr algn="ctr" indent="0" marL="0">
              <a:buNone/>
            </a:pPr>
            <a:r>
              <a:rPr lang="en-US" sz="1800" b="1" dirty="0">
                <a:solidFill>
                  <a:srgbClr val="007D70"/>
                </a:solidFill>
                <a:latin typeface="Arial" pitchFamily="34" charset="0"/>
                <a:ea typeface="Arial" pitchFamily="34" charset="-122"/>
                <a:cs typeface="Arial" pitchFamily="34" charset="-120"/>
              </a:rPr>
              <a:t>4</a:t>
            </a:r>
            <a:endParaRPr lang="en-US" sz="1800" dirty="0"/>
          </a:p>
        </p:txBody>
      </p:sp>
      <p:sp>
        <p:nvSpPr>
          <p:cNvPr id="25" name="Text 23"/>
          <p:cNvSpPr/>
          <p:nvPr/>
        </p:nvSpPr>
        <p:spPr>
          <a:xfrm>
            <a:off x="1344168" y="4471416"/>
            <a:ext cx="2487168" cy="457200"/>
          </a:xfrm>
          <a:prstGeom prst="rect">
            <a:avLst/>
          </a:prstGeom>
          <a:noFill/>
          <a:ln/>
        </p:spPr>
        <p:txBody>
          <a:bodyPr wrap="square" lIns="0" tIns="0" rIns="0" bIns="0" rtlCol="0" anchor="ctr"/>
          <a:lstStyle/>
          <a:p>
            <a:pPr indent="0" marL="0">
              <a:buNone/>
            </a:pPr>
            <a:r>
              <a:rPr lang="en-US" sz="2100" b="1" dirty="0">
                <a:solidFill>
                  <a:srgbClr val="102D2C"/>
                </a:solidFill>
                <a:latin typeface="Arial" pitchFamily="34" charset="0"/>
                <a:ea typeface="Arial" pitchFamily="34" charset="-122"/>
                <a:cs typeface="Arial" pitchFamily="34" charset="-120"/>
              </a:rPr>
              <a:t>Assign trust</a:t>
            </a:r>
            <a:endParaRPr lang="en-US" sz="2100" dirty="0"/>
          </a:p>
        </p:txBody>
      </p:sp>
      <p:sp>
        <p:nvSpPr>
          <p:cNvPr id="26" name="Text 24"/>
          <p:cNvSpPr/>
          <p:nvPr/>
        </p:nvSpPr>
        <p:spPr>
          <a:xfrm>
            <a:off x="768096" y="5084064"/>
            <a:ext cx="3072384" cy="502920"/>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Trusted, Suspicious</a:t>
            </a:r>
            <a:endParaRPr lang="en-US" sz="1600" dirty="0"/>
          </a:p>
          <a:p>
            <a:pPr indent="0" marL="0">
              <a:buNone/>
            </a:pPr>
            <a:r>
              <a:rPr lang="en-US" sz="1600" dirty="0">
                <a:solidFill>
                  <a:srgbClr val="526663"/>
                </a:solidFill>
                <a:latin typeface="Arial" pitchFamily="34" charset="0"/>
                <a:ea typeface="Arial" pitchFamily="34" charset="-122"/>
                <a:cs typeface="Arial" pitchFamily="34" charset="-120"/>
              </a:rPr>
              <a:t>or Quarantined.</a:t>
            </a:r>
            <a:endParaRPr lang="en-US" sz="1600" dirty="0"/>
          </a:p>
        </p:txBody>
      </p:sp>
      <p:sp>
        <p:nvSpPr>
          <p:cNvPr id="27" name="Shape 25"/>
          <p:cNvSpPr/>
          <p:nvPr/>
        </p:nvSpPr>
        <p:spPr>
          <a:xfrm>
            <a:off x="4334256" y="4270248"/>
            <a:ext cx="3511296" cy="1481328"/>
          </a:xfrm>
          <a:prstGeom prst="roundRect">
            <a:avLst>
              <a:gd name="adj" fmla="val 7407"/>
            </a:avLst>
          </a:prstGeom>
          <a:solidFill>
            <a:srgbClr val="FFFFFF"/>
          </a:solidFill>
          <a:ln w="12700">
            <a:solidFill>
              <a:srgbClr val="FFFFFF"/>
            </a:solidFill>
            <a:prstDash val="solid"/>
          </a:ln>
        </p:spPr>
      </p:sp>
      <p:sp>
        <p:nvSpPr>
          <p:cNvPr id="28" name="Shape 26"/>
          <p:cNvSpPr/>
          <p:nvPr/>
        </p:nvSpPr>
        <p:spPr>
          <a:xfrm>
            <a:off x="4535424" y="4471416"/>
            <a:ext cx="438912" cy="438912"/>
          </a:xfrm>
          <a:prstGeom prst="roundRect">
            <a:avLst>
              <a:gd name="adj" fmla="val 25000"/>
            </a:avLst>
          </a:prstGeom>
          <a:solidFill>
            <a:srgbClr val="E2EFEB"/>
          </a:solidFill>
          <a:ln w="12700">
            <a:solidFill>
              <a:srgbClr val="E2EFEB"/>
            </a:solidFill>
            <a:prstDash val="solid"/>
          </a:ln>
        </p:spPr>
      </p:sp>
      <p:sp>
        <p:nvSpPr>
          <p:cNvPr id="29" name="Text 27"/>
          <p:cNvSpPr/>
          <p:nvPr/>
        </p:nvSpPr>
        <p:spPr>
          <a:xfrm>
            <a:off x="4535424" y="4489704"/>
            <a:ext cx="438912" cy="365760"/>
          </a:xfrm>
          <a:prstGeom prst="rect">
            <a:avLst/>
          </a:prstGeom>
          <a:noFill/>
          <a:ln/>
        </p:spPr>
        <p:txBody>
          <a:bodyPr wrap="square" lIns="0" tIns="0" rIns="0" bIns="0" rtlCol="0" anchor="ctr"/>
          <a:lstStyle/>
          <a:p>
            <a:pPr algn="ctr" indent="0" marL="0">
              <a:buNone/>
            </a:pPr>
            <a:r>
              <a:rPr lang="en-US" sz="1800" b="1" dirty="0">
                <a:solidFill>
                  <a:srgbClr val="007D70"/>
                </a:solidFill>
                <a:latin typeface="Arial" pitchFamily="34" charset="0"/>
                <a:ea typeface="Arial" pitchFamily="34" charset="-122"/>
                <a:cs typeface="Arial" pitchFamily="34" charset="-120"/>
              </a:rPr>
              <a:t>5</a:t>
            </a:r>
            <a:endParaRPr lang="en-US" sz="1800" dirty="0"/>
          </a:p>
        </p:txBody>
      </p:sp>
      <p:sp>
        <p:nvSpPr>
          <p:cNvPr id="30" name="Text 28"/>
          <p:cNvSpPr/>
          <p:nvPr/>
        </p:nvSpPr>
        <p:spPr>
          <a:xfrm>
            <a:off x="5129784" y="4471416"/>
            <a:ext cx="2487168" cy="457200"/>
          </a:xfrm>
          <a:prstGeom prst="rect">
            <a:avLst/>
          </a:prstGeom>
          <a:noFill/>
          <a:ln/>
        </p:spPr>
        <p:txBody>
          <a:bodyPr wrap="square" lIns="0" tIns="0" rIns="0" bIns="0" rtlCol="0" anchor="ctr"/>
          <a:lstStyle/>
          <a:p>
            <a:pPr indent="0" marL="0">
              <a:buNone/>
            </a:pPr>
            <a:r>
              <a:rPr lang="en-US" sz="2100" b="1" dirty="0">
                <a:solidFill>
                  <a:srgbClr val="102D2C"/>
                </a:solidFill>
                <a:latin typeface="Arial" pitchFamily="34" charset="0"/>
                <a:ea typeface="Arial" pitchFamily="34" charset="-122"/>
                <a:cs typeface="Arial" pitchFamily="34" charset="-120"/>
              </a:rPr>
              <a:t>Chunk &amp; embed</a:t>
            </a:r>
            <a:endParaRPr lang="en-US" sz="2100" dirty="0"/>
          </a:p>
        </p:txBody>
      </p:sp>
      <p:sp>
        <p:nvSpPr>
          <p:cNvPr id="31" name="Text 29"/>
          <p:cNvSpPr/>
          <p:nvPr/>
        </p:nvSpPr>
        <p:spPr>
          <a:xfrm>
            <a:off x="4553712" y="5084064"/>
            <a:ext cx="3072384" cy="502920"/>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512-character target, 64 overlap;</a:t>
            </a:r>
            <a:endParaRPr lang="en-US" sz="1600" dirty="0"/>
          </a:p>
          <a:p>
            <a:pPr indent="0" marL="0">
              <a:buNone/>
            </a:pPr>
            <a:r>
              <a:rPr lang="en-US" sz="1600" dirty="0">
                <a:solidFill>
                  <a:srgbClr val="526663"/>
                </a:solidFill>
                <a:latin typeface="Arial" pitchFamily="34" charset="0"/>
                <a:ea typeface="Arial" pitchFamily="34" charset="-122"/>
                <a:cs typeface="Arial" pitchFamily="34" charset="-120"/>
              </a:rPr>
              <a:t>local 768-dimensional vectors.</a:t>
            </a:r>
            <a:endParaRPr lang="en-US" sz="1600" dirty="0"/>
          </a:p>
        </p:txBody>
      </p:sp>
      <p:sp>
        <p:nvSpPr>
          <p:cNvPr id="32" name="Shape 30"/>
          <p:cNvSpPr/>
          <p:nvPr/>
        </p:nvSpPr>
        <p:spPr>
          <a:xfrm>
            <a:off x="8119872" y="4270248"/>
            <a:ext cx="3511296" cy="1481328"/>
          </a:xfrm>
          <a:prstGeom prst="roundRect">
            <a:avLst>
              <a:gd name="adj" fmla="val 7407"/>
            </a:avLst>
          </a:prstGeom>
          <a:solidFill>
            <a:srgbClr val="FFFFFF"/>
          </a:solidFill>
          <a:ln w="12700">
            <a:solidFill>
              <a:srgbClr val="FFFFFF"/>
            </a:solidFill>
            <a:prstDash val="solid"/>
          </a:ln>
        </p:spPr>
      </p:sp>
      <p:sp>
        <p:nvSpPr>
          <p:cNvPr id="33" name="Shape 31"/>
          <p:cNvSpPr/>
          <p:nvPr/>
        </p:nvSpPr>
        <p:spPr>
          <a:xfrm>
            <a:off x="8321040" y="4471416"/>
            <a:ext cx="438912" cy="438912"/>
          </a:xfrm>
          <a:prstGeom prst="roundRect">
            <a:avLst>
              <a:gd name="adj" fmla="val 25000"/>
            </a:avLst>
          </a:prstGeom>
          <a:solidFill>
            <a:srgbClr val="E2EFEB"/>
          </a:solidFill>
          <a:ln w="12700">
            <a:solidFill>
              <a:srgbClr val="E2EFEB"/>
            </a:solidFill>
            <a:prstDash val="solid"/>
          </a:ln>
        </p:spPr>
      </p:sp>
      <p:sp>
        <p:nvSpPr>
          <p:cNvPr id="34" name="Text 32"/>
          <p:cNvSpPr/>
          <p:nvPr/>
        </p:nvSpPr>
        <p:spPr>
          <a:xfrm>
            <a:off x="8321040" y="4489704"/>
            <a:ext cx="438912" cy="365760"/>
          </a:xfrm>
          <a:prstGeom prst="rect">
            <a:avLst/>
          </a:prstGeom>
          <a:noFill/>
          <a:ln/>
        </p:spPr>
        <p:txBody>
          <a:bodyPr wrap="square" lIns="0" tIns="0" rIns="0" bIns="0" rtlCol="0" anchor="ctr"/>
          <a:lstStyle/>
          <a:p>
            <a:pPr algn="ctr" indent="0" marL="0">
              <a:buNone/>
            </a:pPr>
            <a:r>
              <a:rPr lang="en-US" sz="1800" b="1" dirty="0">
                <a:solidFill>
                  <a:srgbClr val="007D70"/>
                </a:solidFill>
                <a:latin typeface="Arial" pitchFamily="34" charset="0"/>
                <a:ea typeface="Arial" pitchFamily="34" charset="-122"/>
                <a:cs typeface="Arial" pitchFamily="34" charset="-120"/>
              </a:rPr>
              <a:t>6</a:t>
            </a:r>
            <a:endParaRPr lang="en-US" sz="1800" dirty="0"/>
          </a:p>
        </p:txBody>
      </p:sp>
      <p:sp>
        <p:nvSpPr>
          <p:cNvPr id="35" name="Text 33"/>
          <p:cNvSpPr/>
          <p:nvPr/>
        </p:nvSpPr>
        <p:spPr>
          <a:xfrm>
            <a:off x="8915400" y="4471416"/>
            <a:ext cx="2487168" cy="457200"/>
          </a:xfrm>
          <a:prstGeom prst="rect">
            <a:avLst/>
          </a:prstGeom>
          <a:noFill/>
          <a:ln/>
        </p:spPr>
        <p:txBody>
          <a:bodyPr wrap="square" lIns="0" tIns="0" rIns="0" bIns="0" rtlCol="0" anchor="ctr"/>
          <a:lstStyle/>
          <a:p>
            <a:pPr indent="0" marL="0">
              <a:buNone/>
            </a:pPr>
            <a:r>
              <a:rPr lang="en-US" sz="2100" b="1" dirty="0">
                <a:solidFill>
                  <a:srgbClr val="102D2C"/>
                </a:solidFill>
                <a:latin typeface="Arial" pitchFamily="34" charset="0"/>
                <a:ea typeface="Arial" pitchFamily="34" charset="-122"/>
                <a:cs typeface="Arial" pitchFamily="34" charset="-120"/>
              </a:rPr>
              <a:t>Persist evidence</a:t>
            </a:r>
            <a:endParaRPr lang="en-US" sz="2100" dirty="0"/>
          </a:p>
        </p:txBody>
      </p:sp>
      <p:sp>
        <p:nvSpPr>
          <p:cNvPr id="36" name="Text 34"/>
          <p:cNvSpPr/>
          <p:nvPr/>
        </p:nvSpPr>
        <p:spPr>
          <a:xfrm>
            <a:off x="8339328" y="5084064"/>
            <a:ext cx="3072384" cy="502920"/>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File/chunk digests, classification,</a:t>
            </a:r>
            <a:endParaRPr lang="en-US" sz="1600" dirty="0"/>
          </a:p>
          <a:p>
            <a:pPr indent="0" marL="0">
              <a:buNone/>
            </a:pPr>
            <a:r>
              <a:rPr lang="en-US" sz="1600" dirty="0">
                <a:solidFill>
                  <a:srgbClr val="526663"/>
                </a:solidFill>
                <a:latin typeface="Arial" pitchFamily="34" charset="0"/>
                <a:ea typeface="Arial" pitchFamily="34" charset="-122"/>
                <a:cs typeface="Arial" pitchFamily="34" charset="-120"/>
              </a:rPr>
              <a:t>trust metadata and provenance.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6"/>
        </a:solidFill>
      </p:bgPr>
    </p:bg>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100" b="1" spc="150" kern="0" dirty="0">
                <a:solidFill>
                  <a:srgbClr val="007D70"/>
                </a:solidFill>
                <a:latin typeface="Arial" pitchFamily="34" charset="0"/>
                <a:ea typeface="Arial" pitchFamily="34" charset="-122"/>
                <a:cs typeface="Arial" pitchFamily="34" charset="-120"/>
              </a:rPr>
              <a:t>05 / TRUST POLICY</a:t>
            </a:r>
            <a:endParaRPr lang="en-US" sz="1100" dirty="0"/>
          </a:p>
        </p:txBody>
      </p:sp>
      <p:sp>
        <p:nvSpPr>
          <p:cNvPr id="3" name="Text 1"/>
          <p:cNvSpPr/>
          <p:nvPr/>
        </p:nvSpPr>
        <p:spPr>
          <a:xfrm>
            <a:off x="548640" y="868680"/>
            <a:ext cx="11064240" cy="640080"/>
          </a:xfrm>
          <a:prstGeom prst="rect">
            <a:avLst/>
          </a:prstGeom>
          <a:noFill/>
          <a:ln/>
        </p:spPr>
        <p:txBody>
          <a:bodyPr wrap="square" lIns="0" tIns="0" rIns="0" bIns="0" rtlCol="0" anchor="ctr"/>
          <a:lstStyle/>
          <a:p>
            <a:pPr indent="0" marL="0">
              <a:buNone/>
            </a:pPr>
            <a:r>
              <a:rPr lang="en-US" sz="3400" b="1" dirty="0">
                <a:solidFill>
                  <a:srgbClr val="102D2C"/>
                </a:solidFill>
                <a:latin typeface="Arial" pitchFamily="34" charset="0"/>
                <a:ea typeface="Arial" pitchFamily="34" charset="-122"/>
                <a:cs typeface="Arial" pitchFamily="34" charset="-120"/>
              </a:rPr>
              <a:t>Three categories. Explicit outcomes.</a:t>
            </a:r>
            <a:endParaRPr lang="en-US" sz="3400" dirty="0"/>
          </a:p>
        </p:txBody>
      </p:sp>
      <p:sp>
        <p:nvSpPr>
          <p:cNvPr id="4" name="Text 2"/>
          <p:cNvSpPr/>
          <p:nvPr/>
        </p:nvSpPr>
        <p:spPr>
          <a:xfrm>
            <a:off x="548640" y="1645920"/>
            <a:ext cx="10881360" cy="5943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Trust is a policy classification—not a calibrated probability of safety.</a:t>
            </a:r>
            <a:endParaRPr lang="en-US" sz="1700" dirty="0"/>
          </a:p>
        </p:txBody>
      </p:sp>
      <p:sp>
        <p:nvSpPr>
          <p:cNvPr id="5" name="Text 3"/>
          <p:cNvSpPr/>
          <p:nvPr/>
        </p:nvSpPr>
        <p:spPr>
          <a:xfrm>
            <a:off x="548640" y="6419088"/>
            <a:ext cx="9144000" cy="182880"/>
          </a:xfrm>
          <a:prstGeom prst="rect">
            <a:avLst/>
          </a:prstGeom>
          <a:noFill/>
          <a:ln/>
        </p:spPr>
        <p:txBody>
          <a:bodyPr wrap="square" lIns="0" tIns="0" rIns="0" bIns="0" rtlCol="0" anchor="ctr"/>
          <a:lstStyle/>
          <a:p>
            <a:pPr indent="0" marL="0">
              <a:buNone/>
            </a:pPr>
            <a:r>
              <a:rPr lang="en-US" sz="1000" dirty="0">
                <a:solidFill>
                  <a:srgbClr val="526663"/>
                </a:solidFill>
                <a:latin typeface="Arial" pitchFamily="34" charset="0"/>
                <a:ea typeface="Arial" pitchFamily="34" charset="-122"/>
                <a:cs typeface="Arial" pitchFamily="34" charset="-120"/>
              </a:rPr>
              <a:t>TrustRAG  /  Academic prototype  /  17 Sep 2026</a:t>
            </a:r>
            <a:endParaRPr lang="en-US" sz="1000" dirty="0"/>
          </a:p>
        </p:txBody>
      </p:sp>
      <p:sp>
        <p:nvSpPr>
          <p:cNvPr id="6" name="Text 4"/>
          <p:cNvSpPr/>
          <p:nvPr/>
        </p:nvSpPr>
        <p:spPr>
          <a:xfrm>
            <a:off x="11018520" y="6382512"/>
            <a:ext cx="594360" cy="274320"/>
          </a:xfrm>
          <a:prstGeom prst="rect">
            <a:avLst/>
          </a:prstGeom>
          <a:noFill/>
          <a:ln/>
        </p:spPr>
        <p:txBody>
          <a:bodyPr wrap="square" lIns="0" tIns="0" rIns="0" bIns="0" rtlCol="0" anchor="ctr"/>
          <a:lstStyle/>
          <a:p>
            <a:pPr algn="r" indent="0" marL="0">
              <a:buNone/>
            </a:pPr>
            <a:r>
              <a:rPr lang="en-US" sz="1100" b="1" dirty="0">
                <a:solidFill>
                  <a:srgbClr val="007D70"/>
                </a:solidFill>
                <a:latin typeface="Arial" pitchFamily="34" charset="0"/>
                <a:ea typeface="Arial" pitchFamily="34" charset="-122"/>
                <a:cs typeface="Arial" pitchFamily="34" charset="-120"/>
              </a:rPr>
              <a:t>06</a:t>
            </a:r>
            <a:endParaRPr lang="en-US" sz="1100" dirty="0"/>
          </a:p>
        </p:txBody>
      </p:sp>
      <p:sp>
        <p:nvSpPr>
          <p:cNvPr id="7" name="Shape 5"/>
          <p:cNvSpPr/>
          <p:nvPr/>
        </p:nvSpPr>
        <p:spPr>
          <a:xfrm>
            <a:off x="548640" y="2606040"/>
            <a:ext cx="3511296" cy="3172968"/>
          </a:xfrm>
          <a:prstGeom prst="roundRect">
            <a:avLst>
              <a:gd name="adj" fmla="val 3458"/>
            </a:avLst>
          </a:prstGeom>
          <a:solidFill>
            <a:srgbClr val="E1F2EA"/>
          </a:solidFill>
          <a:ln w="12700">
            <a:solidFill>
              <a:srgbClr val="E1F2EA"/>
            </a:solidFill>
            <a:prstDash val="solid"/>
          </a:ln>
        </p:spPr>
      </p:sp>
      <p:pic>
        <p:nvPicPr>
          <p:cNvPr id="8" name="Image 0" descr="/home/pavan/TrustRAG/ppt_assets/icons/check-teal.png">    </p:cNvPr>
          <p:cNvPicPr>
            <a:picLocks noChangeAspect="1"/>
          </p:cNvPicPr>
          <p:nvPr/>
        </p:nvPicPr>
        <p:blipFill>
          <a:blip r:embed="rId1"/>
          <a:stretch>
            <a:fillRect/>
          </a:stretch>
        </p:blipFill>
        <p:spPr>
          <a:xfrm>
            <a:off x="822960" y="2880360"/>
            <a:ext cx="502920" cy="502920"/>
          </a:xfrm>
          <a:prstGeom prst="rect">
            <a:avLst/>
          </a:prstGeom>
        </p:spPr>
      </p:pic>
      <p:sp>
        <p:nvSpPr>
          <p:cNvPr id="9" name="Text 6"/>
          <p:cNvSpPr/>
          <p:nvPr/>
        </p:nvSpPr>
        <p:spPr>
          <a:xfrm>
            <a:off x="822960" y="3602736"/>
            <a:ext cx="2962656" cy="457200"/>
          </a:xfrm>
          <a:prstGeom prst="rect">
            <a:avLst/>
          </a:prstGeom>
          <a:noFill/>
          <a:ln/>
        </p:spPr>
        <p:txBody>
          <a:bodyPr wrap="square" lIns="0" tIns="0" rIns="0" bIns="0" rtlCol="0" anchor="ctr"/>
          <a:lstStyle/>
          <a:p>
            <a:pPr indent="0" marL="0">
              <a:buNone/>
            </a:pPr>
            <a:r>
              <a:rPr lang="en-US" sz="2700" b="1" dirty="0">
                <a:solidFill>
                  <a:srgbClr val="007D70"/>
                </a:solidFill>
                <a:latin typeface="Arial" pitchFamily="34" charset="0"/>
                <a:ea typeface="Arial" pitchFamily="34" charset="-122"/>
                <a:cs typeface="Arial" pitchFamily="34" charset="-120"/>
              </a:rPr>
              <a:t>Trusted</a:t>
            </a:r>
            <a:endParaRPr lang="en-US" sz="2700" dirty="0"/>
          </a:p>
        </p:txBody>
      </p:sp>
      <p:sp>
        <p:nvSpPr>
          <p:cNvPr id="10" name="Text 7"/>
          <p:cNvSpPr/>
          <p:nvPr/>
        </p:nvSpPr>
        <p:spPr>
          <a:xfrm>
            <a:off x="822960" y="4325112"/>
            <a:ext cx="2962656" cy="603504"/>
          </a:xfrm>
          <a:prstGeom prst="rect">
            <a:avLst/>
          </a:prstGeom>
          <a:noFill/>
          <a:ln/>
        </p:spPr>
        <p:txBody>
          <a:bodyPr wrap="square" lIns="0" tIns="0" rIns="0" bIns="0" rtlCol="0" anchor="ctr"/>
          <a:lstStyle/>
          <a:p>
            <a:pPr indent="0" marL="0">
              <a:buNone/>
            </a:pPr>
            <a:r>
              <a:rPr lang="en-US" sz="2000" dirty="0">
                <a:solidFill>
                  <a:srgbClr val="102D2C"/>
                </a:solidFill>
                <a:latin typeface="Arial" pitchFamily="34" charset="0"/>
                <a:ea typeface="Arial" pitchFamily="34" charset="-122"/>
                <a:cs typeface="Arial" pitchFamily="34" charset="-120"/>
              </a:rPr>
              <a:t>Valid signature</a:t>
            </a:r>
            <a:endParaRPr lang="en-US" sz="2000" dirty="0"/>
          </a:p>
          <a:p>
            <a:pPr indent="0" marL="0">
              <a:buNone/>
            </a:pPr>
            <a:r>
              <a:rPr lang="en-US" sz="2000" dirty="0">
                <a:solidFill>
                  <a:srgbClr val="102D2C"/>
                </a:solidFill>
                <a:latin typeface="Arial" pitchFamily="34" charset="0"/>
                <a:ea typeface="Arial" pitchFamily="34" charset="-122"/>
                <a:cs typeface="Arial" pitchFamily="34" charset="-120"/>
              </a:rPr>
              <a:t>+ clean scans</a:t>
            </a:r>
            <a:endParaRPr lang="en-US" sz="2000" dirty="0"/>
          </a:p>
        </p:txBody>
      </p:sp>
      <p:sp>
        <p:nvSpPr>
          <p:cNvPr id="11" name="Text 8"/>
          <p:cNvSpPr/>
          <p:nvPr/>
        </p:nvSpPr>
        <p:spPr>
          <a:xfrm>
            <a:off x="822960" y="5193792"/>
            <a:ext cx="2962656" cy="292608"/>
          </a:xfrm>
          <a:prstGeom prst="rect">
            <a:avLst/>
          </a:prstGeom>
          <a:noFill/>
          <a:ln/>
        </p:spPr>
        <p:txBody>
          <a:bodyPr wrap="square" lIns="0" tIns="0" rIns="0" bIns="0" rtlCol="0" anchor="ctr"/>
          <a:lstStyle/>
          <a:p>
            <a:pPr indent="0" marL="0">
              <a:buNone/>
            </a:pPr>
            <a:r>
              <a:rPr lang="en-US" sz="1500" b="1" dirty="0">
                <a:solidFill>
                  <a:srgbClr val="007D70"/>
                </a:solidFill>
                <a:latin typeface="Arial" pitchFamily="34" charset="0"/>
                <a:ea typeface="Arial" pitchFamily="34" charset="-122"/>
                <a:cs typeface="Arial" pitchFamily="34" charset="-120"/>
              </a:rPr>
              <a:t>Eligible; ranked first</a:t>
            </a:r>
            <a:endParaRPr lang="en-US" sz="1500" dirty="0"/>
          </a:p>
        </p:txBody>
      </p:sp>
      <p:sp>
        <p:nvSpPr>
          <p:cNvPr id="12" name="Shape 9"/>
          <p:cNvSpPr/>
          <p:nvPr/>
        </p:nvSpPr>
        <p:spPr>
          <a:xfrm>
            <a:off x="4334256" y="2606040"/>
            <a:ext cx="3511296" cy="3172968"/>
          </a:xfrm>
          <a:prstGeom prst="roundRect">
            <a:avLst>
              <a:gd name="adj" fmla="val 3458"/>
            </a:avLst>
          </a:prstGeom>
          <a:solidFill>
            <a:srgbClr val="FFF1D8"/>
          </a:solidFill>
          <a:ln w="12700">
            <a:solidFill>
              <a:srgbClr val="FFF1D8"/>
            </a:solidFill>
            <a:prstDash val="solid"/>
          </a:ln>
        </p:spPr>
      </p:sp>
      <p:pic>
        <p:nvPicPr>
          <p:cNvPr id="13" name="Image 1" descr="/home/pavan/TrustRAG/ppt_assets/icons/alert-amber.png">    </p:cNvPr>
          <p:cNvPicPr>
            <a:picLocks noChangeAspect="1"/>
          </p:cNvPicPr>
          <p:nvPr/>
        </p:nvPicPr>
        <p:blipFill>
          <a:blip r:embed="rId2"/>
          <a:stretch>
            <a:fillRect/>
          </a:stretch>
        </p:blipFill>
        <p:spPr>
          <a:xfrm>
            <a:off x="4608576" y="2880360"/>
            <a:ext cx="502920" cy="502920"/>
          </a:xfrm>
          <a:prstGeom prst="rect">
            <a:avLst/>
          </a:prstGeom>
        </p:spPr>
      </p:pic>
      <p:sp>
        <p:nvSpPr>
          <p:cNvPr id="14" name="Text 10"/>
          <p:cNvSpPr/>
          <p:nvPr/>
        </p:nvSpPr>
        <p:spPr>
          <a:xfrm>
            <a:off x="4608576" y="3602736"/>
            <a:ext cx="2962656" cy="457200"/>
          </a:xfrm>
          <a:prstGeom prst="rect">
            <a:avLst/>
          </a:prstGeom>
          <a:noFill/>
          <a:ln/>
        </p:spPr>
        <p:txBody>
          <a:bodyPr wrap="square" lIns="0" tIns="0" rIns="0" bIns="0" rtlCol="0" anchor="ctr"/>
          <a:lstStyle/>
          <a:p>
            <a:pPr indent="0" marL="0">
              <a:buNone/>
            </a:pPr>
            <a:r>
              <a:rPr lang="en-US" sz="2700" b="1" dirty="0">
                <a:solidFill>
                  <a:srgbClr val="9A6400"/>
                </a:solidFill>
                <a:latin typeface="Arial" pitchFamily="34" charset="0"/>
                <a:ea typeface="Arial" pitchFamily="34" charset="-122"/>
                <a:cs typeface="Arial" pitchFamily="34" charset="-120"/>
              </a:rPr>
              <a:t>Suspicious</a:t>
            </a:r>
            <a:endParaRPr lang="en-US" sz="2700" dirty="0"/>
          </a:p>
        </p:txBody>
      </p:sp>
      <p:sp>
        <p:nvSpPr>
          <p:cNvPr id="15" name="Text 11"/>
          <p:cNvSpPr/>
          <p:nvPr/>
        </p:nvSpPr>
        <p:spPr>
          <a:xfrm>
            <a:off x="4608576" y="4325112"/>
            <a:ext cx="2962656" cy="603504"/>
          </a:xfrm>
          <a:prstGeom prst="rect">
            <a:avLst/>
          </a:prstGeom>
          <a:noFill/>
          <a:ln/>
        </p:spPr>
        <p:txBody>
          <a:bodyPr wrap="square" lIns="0" tIns="0" rIns="0" bIns="0" rtlCol="0" anchor="ctr"/>
          <a:lstStyle/>
          <a:p>
            <a:pPr indent="0" marL="0">
              <a:buNone/>
            </a:pPr>
            <a:r>
              <a:rPr lang="en-US" sz="2000" dirty="0">
                <a:solidFill>
                  <a:srgbClr val="102D2C"/>
                </a:solidFill>
                <a:latin typeface="Arial" pitchFamily="34" charset="0"/>
                <a:ea typeface="Arial" pitchFamily="34" charset="-122"/>
                <a:cs typeface="Arial" pitchFamily="34" charset="-120"/>
              </a:rPr>
              <a:t>Unsigned</a:t>
            </a:r>
            <a:endParaRPr lang="en-US" sz="2000" dirty="0"/>
          </a:p>
          <a:p>
            <a:pPr indent="0" marL="0">
              <a:buNone/>
            </a:pPr>
            <a:r>
              <a:rPr lang="en-US" sz="2000" dirty="0">
                <a:solidFill>
                  <a:srgbClr val="102D2C"/>
                </a:solidFill>
                <a:latin typeface="Arial" pitchFamily="34" charset="0"/>
                <a:ea typeface="Arial" pitchFamily="34" charset="-122"/>
                <a:cs typeface="Arial" pitchFamily="34" charset="-120"/>
              </a:rPr>
              <a:t>+ clean scans</a:t>
            </a:r>
            <a:endParaRPr lang="en-US" sz="2000" dirty="0"/>
          </a:p>
        </p:txBody>
      </p:sp>
      <p:sp>
        <p:nvSpPr>
          <p:cNvPr id="16" name="Text 12"/>
          <p:cNvSpPr/>
          <p:nvPr/>
        </p:nvSpPr>
        <p:spPr>
          <a:xfrm>
            <a:off x="4608576" y="5193792"/>
            <a:ext cx="2962656" cy="292608"/>
          </a:xfrm>
          <a:prstGeom prst="rect">
            <a:avLst/>
          </a:prstGeom>
          <a:noFill/>
          <a:ln/>
        </p:spPr>
        <p:txBody>
          <a:bodyPr wrap="square" lIns="0" tIns="0" rIns="0" bIns="0" rtlCol="0" anchor="ctr"/>
          <a:lstStyle/>
          <a:p>
            <a:pPr indent="0" marL="0">
              <a:buNone/>
            </a:pPr>
            <a:r>
              <a:rPr lang="en-US" sz="1500" b="1" dirty="0">
                <a:solidFill>
                  <a:srgbClr val="9A6400"/>
                </a:solidFill>
                <a:latin typeface="Arial" pitchFamily="34" charset="0"/>
                <a:ea typeface="Arial" pitchFamily="34" charset="-122"/>
                <a:cs typeface="Arial" pitchFamily="34" charset="-120"/>
              </a:rPr>
              <a:t>Eligible; ranked lower</a:t>
            </a:r>
            <a:endParaRPr lang="en-US" sz="1500" dirty="0"/>
          </a:p>
        </p:txBody>
      </p:sp>
      <p:sp>
        <p:nvSpPr>
          <p:cNvPr id="17" name="Shape 13"/>
          <p:cNvSpPr/>
          <p:nvPr/>
        </p:nvSpPr>
        <p:spPr>
          <a:xfrm>
            <a:off x="8119872" y="2606040"/>
            <a:ext cx="3511296" cy="3172968"/>
          </a:xfrm>
          <a:prstGeom prst="roundRect">
            <a:avLst>
              <a:gd name="adj" fmla="val 3458"/>
            </a:avLst>
          </a:prstGeom>
          <a:solidFill>
            <a:srgbClr val="F9E6E8"/>
          </a:solidFill>
          <a:ln w="12700">
            <a:solidFill>
              <a:srgbClr val="F9E6E8"/>
            </a:solidFill>
            <a:prstDash val="solid"/>
          </a:ln>
        </p:spPr>
      </p:sp>
      <p:pic>
        <p:nvPicPr>
          <p:cNvPr id="18" name="Image 2" descr="/home/pavan/TrustRAG/ppt_assets/icons/lock-red.png">    </p:cNvPr>
          <p:cNvPicPr>
            <a:picLocks noChangeAspect="1"/>
          </p:cNvPicPr>
          <p:nvPr/>
        </p:nvPicPr>
        <p:blipFill>
          <a:blip r:embed="rId3"/>
          <a:stretch>
            <a:fillRect/>
          </a:stretch>
        </p:blipFill>
        <p:spPr>
          <a:xfrm>
            <a:off x="8394192" y="2880360"/>
            <a:ext cx="502920" cy="502920"/>
          </a:xfrm>
          <a:prstGeom prst="rect">
            <a:avLst/>
          </a:prstGeom>
        </p:spPr>
      </p:pic>
      <p:sp>
        <p:nvSpPr>
          <p:cNvPr id="19" name="Text 14"/>
          <p:cNvSpPr/>
          <p:nvPr/>
        </p:nvSpPr>
        <p:spPr>
          <a:xfrm>
            <a:off x="8394192" y="3602736"/>
            <a:ext cx="2962656" cy="457200"/>
          </a:xfrm>
          <a:prstGeom prst="rect">
            <a:avLst/>
          </a:prstGeom>
          <a:noFill/>
          <a:ln/>
        </p:spPr>
        <p:txBody>
          <a:bodyPr wrap="square" lIns="0" tIns="0" rIns="0" bIns="0" rtlCol="0" anchor="ctr"/>
          <a:lstStyle/>
          <a:p>
            <a:pPr indent="0" marL="0">
              <a:buNone/>
            </a:pPr>
            <a:r>
              <a:rPr lang="en-US" sz="2700" b="1" dirty="0">
                <a:solidFill>
                  <a:srgbClr val="B13B45"/>
                </a:solidFill>
                <a:latin typeface="Arial" pitchFamily="34" charset="0"/>
                <a:ea typeface="Arial" pitchFamily="34" charset="-122"/>
                <a:cs typeface="Arial" pitchFamily="34" charset="-120"/>
              </a:rPr>
              <a:t>Quarantined</a:t>
            </a:r>
            <a:endParaRPr lang="en-US" sz="2700" dirty="0"/>
          </a:p>
        </p:txBody>
      </p:sp>
      <p:sp>
        <p:nvSpPr>
          <p:cNvPr id="20" name="Text 15"/>
          <p:cNvSpPr/>
          <p:nvPr/>
        </p:nvSpPr>
        <p:spPr>
          <a:xfrm>
            <a:off x="8394192" y="4325112"/>
            <a:ext cx="2962656" cy="603504"/>
          </a:xfrm>
          <a:prstGeom prst="rect">
            <a:avLst/>
          </a:prstGeom>
          <a:noFill/>
          <a:ln/>
        </p:spPr>
        <p:txBody>
          <a:bodyPr wrap="square" lIns="0" tIns="0" rIns="0" bIns="0" rtlCol="0" anchor="ctr"/>
          <a:lstStyle/>
          <a:p>
            <a:pPr indent="0" marL="0">
              <a:buNone/>
            </a:pPr>
            <a:r>
              <a:rPr lang="en-US" sz="2000" dirty="0">
                <a:solidFill>
                  <a:srgbClr val="102D2C"/>
                </a:solidFill>
                <a:latin typeface="Arial" pitchFamily="34" charset="0"/>
                <a:ea typeface="Arial" pitchFamily="34" charset="-122"/>
                <a:cs typeface="Arial" pitchFamily="34" charset="-120"/>
              </a:rPr>
              <a:t>Invalid signature OR</a:t>
            </a:r>
            <a:endParaRPr lang="en-US" sz="2000" dirty="0"/>
          </a:p>
          <a:p>
            <a:pPr indent="0" marL="0">
              <a:buNone/>
            </a:pPr>
            <a:r>
              <a:rPr lang="en-US" sz="2000" dirty="0">
                <a:solidFill>
                  <a:srgbClr val="102D2C"/>
                </a:solidFill>
                <a:latin typeface="Arial" pitchFamily="34" charset="0"/>
                <a:ea typeface="Arial" pitchFamily="34" charset="-122"/>
                <a:cs typeface="Arial" pitchFamily="34" charset="-120"/>
              </a:rPr>
              <a:t>positive content scan</a:t>
            </a:r>
            <a:endParaRPr lang="en-US" sz="2000" dirty="0"/>
          </a:p>
        </p:txBody>
      </p:sp>
      <p:sp>
        <p:nvSpPr>
          <p:cNvPr id="21" name="Text 16"/>
          <p:cNvSpPr/>
          <p:nvPr/>
        </p:nvSpPr>
        <p:spPr>
          <a:xfrm>
            <a:off x="8394192" y="5193792"/>
            <a:ext cx="2962656" cy="292608"/>
          </a:xfrm>
          <a:prstGeom prst="rect">
            <a:avLst/>
          </a:prstGeom>
          <a:noFill/>
          <a:ln/>
        </p:spPr>
        <p:txBody>
          <a:bodyPr wrap="square" lIns="0" tIns="0" rIns="0" bIns="0" rtlCol="0" anchor="ctr"/>
          <a:lstStyle/>
          <a:p>
            <a:pPr indent="0" marL="0">
              <a:buNone/>
            </a:pPr>
            <a:r>
              <a:rPr lang="en-US" sz="1500" b="1" dirty="0">
                <a:solidFill>
                  <a:srgbClr val="B13B45"/>
                </a:solidFill>
                <a:latin typeface="Arial" pitchFamily="34" charset="0"/>
                <a:ea typeface="Arial" pitchFamily="34" charset="-122"/>
                <a:cs typeface="Arial" pitchFamily="34" charset="-120"/>
              </a:rPr>
              <a:t>Blocked from secure context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6"/>
        </a:solidFill>
      </p:bgPr>
    </p:bg>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100" b="1" spc="150" kern="0" dirty="0">
                <a:solidFill>
                  <a:srgbClr val="007D70"/>
                </a:solidFill>
                <a:latin typeface="Arial" pitchFamily="34" charset="0"/>
                <a:ea typeface="Arial" pitchFamily="34" charset="-122"/>
                <a:cs typeface="Arial" pitchFamily="34" charset="-120"/>
              </a:rPr>
              <a:t>06 / QUERY-TIME ENFORCEMENT</a:t>
            </a:r>
            <a:endParaRPr lang="en-US" sz="1100" dirty="0"/>
          </a:p>
        </p:txBody>
      </p:sp>
      <p:sp>
        <p:nvSpPr>
          <p:cNvPr id="3" name="Text 1"/>
          <p:cNvSpPr/>
          <p:nvPr/>
        </p:nvSpPr>
        <p:spPr>
          <a:xfrm>
            <a:off x="548640" y="868680"/>
            <a:ext cx="11064240" cy="640080"/>
          </a:xfrm>
          <a:prstGeom prst="rect">
            <a:avLst/>
          </a:prstGeom>
          <a:noFill/>
          <a:ln/>
        </p:spPr>
        <p:txBody>
          <a:bodyPr wrap="square" lIns="0" tIns="0" rIns="0" bIns="0" rtlCol="0" anchor="ctr"/>
          <a:lstStyle/>
          <a:p>
            <a:pPr indent="0" marL="0">
              <a:buNone/>
            </a:pPr>
            <a:r>
              <a:rPr lang="en-US" sz="3400" b="1" dirty="0">
                <a:solidFill>
                  <a:srgbClr val="102D2C"/>
                </a:solidFill>
                <a:latin typeface="Arial" pitchFamily="34" charset="0"/>
                <a:ea typeface="Arial" pitchFamily="34" charset="-122"/>
                <a:cs typeface="Arial" pitchFamily="34" charset="-120"/>
              </a:rPr>
              <a:t>Recheck evidence at retrieval time</a:t>
            </a:r>
            <a:endParaRPr lang="en-US" sz="3400" dirty="0"/>
          </a:p>
        </p:txBody>
      </p:sp>
      <p:sp>
        <p:nvSpPr>
          <p:cNvPr id="4" name="Text 2"/>
          <p:cNvSpPr/>
          <p:nvPr/>
        </p:nvSpPr>
        <p:spPr>
          <a:xfrm>
            <a:off x="548640" y="1645920"/>
            <a:ext cx="10881360" cy="5943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Ingestion-time labels alone are not enough: stored content can change.</a:t>
            </a:r>
            <a:endParaRPr lang="en-US" sz="1700" dirty="0"/>
          </a:p>
        </p:txBody>
      </p:sp>
      <p:sp>
        <p:nvSpPr>
          <p:cNvPr id="5" name="Text 3"/>
          <p:cNvSpPr/>
          <p:nvPr/>
        </p:nvSpPr>
        <p:spPr>
          <a:xfrm>
            <a:off x="548640" y="6419088"/>
            <a:ext cx="9144000" cy="182880"/>
          </a:xfrm>
          <a:prstGeom prst="rect">
            <a:avLst/>
          </a:prstGeom>
          <a:noFill/>
          <a:ln/>
        </p:spPr>
        <p:txBody>
          <a:bodyPr wrap="square" lIns="0" tIns="0" rIns="0" bIns="0" rtlCol="0" anchor="ctr"/>
          <a:lstStyle/>
          <a:p>
            <a:pPr indent="0" marL="0">
              <a:buNone/>
            </a:pPr>
            <a:r>
              <a:rPr lang="en-US" sz="1000" dirty="0">
                <a:solidFill>
                  <a:srgbClr val="526663"/>
                </a:solidFill>
                <a:latin typeface="Arial" pitchFamily="34" charset="0"/>
                <a:ea typeface="Arial" pitchFamily="34" charset="-122"/>
                <a:cs typeface="Arial" pitchFamily="34" charset="-120"/>
              </a:rPr>
              <a:t>TrustRAG  /  Academic prototype  /  17 Sep 2026</a:t>
            </a:r>
            <a:endParaRPr lang="en-US" sz="1000" dirty="0"/>
          </a:p>
        </p:txBody>
      </p:sp>
      <p:sp>
        <p:nvSpPr>
          <p:cNvPr id="6" name="Text 4"/>
          <p:cNvSpPr/>
          <p:nvPr/>
        </p:nvSpPr>
        <p:spPr>
          <a:xfrm>
            <a:off x="11018520" y="6382512"/>
            <a:ext cx="594360" cy="274320"/>
          </a:xfrm>
          <a:prstGeom prst="rect">
            <a:avLst/>
          </a:prstGeom>
          <a:noFill/>
          <a:ln/>
        </p:spPr>
        <p:txBody>
          <a:bodyPr wrap="square" lIns="0" tIns="0" rIns="0" bIns="0" rtlCol="0" anchor="ctr"/>
          <a:lstStyle/>
          <a:p>
            <a:pPr algn="r" indent="0" marL="0">
              <a:buNone/>
            </a:pPr>
            <a:r>
              <a:rPr lang="en-US" sz="1100" b="1" dirty="0">
                <a:solidFill>
                  <a:srgbClr val="007D70"/>
                </a:solidFill>
                <a:latin typeface="Arial" pitchFamily="34" charset="0"/>
                <a:ea typeface="Arial" pitchFamily="34" charset="-122"/>
                <a:cs typeface="Arial" pitchFamily="34" charset="-120"/>
              </a:rPr>
              <a:t>07</a:t>
            </a:r>
            <a:endParaRPr lang="en-US" sz="1100" dirty="0"/>
          </a:p>
        </p:txBody>
      </p:sp>
      <p:sp>
        <p:nvSpPr>
          <p:cNvPr id="7" name="Shape 5"/>
          <p:cNvSpPr/>
          <p:nvPr/>
        </p:nvSpPr>
        <p:spPr>
          <a:xfrm>
            <a:off x="548640" y="2468880"/>
            <a:ext cx="10104120" cy="658368"/>
          </a:xfrm>
          <a:prstGeom prst="roundRect">
            <a:avLst>
              <a:gd name="adj" fmla="val 16667"/>
            </a:avLst>
          </a:prstGeom>
          <a:solidFill>
            <a:srgbClr val="FFFFFF"/>
          </a:solidFill>
          <a:ln w="12700">
            <a:solidFill>
              <a:srgbClr val="FFFFFF"/>
            </a:solidFill>
            <a:prstDash val="solid"/>
          </a:ln>
        </p:spPr>
      </p:sp>
      <p:sp>
        <p:nvSpPr>
          <p:cNvPr id="8" name="Text 6"/>
          <p:cNvSpPr/>
          <p:nvPr/>
        </p:nvSpPr>
        <p:spPr>
          <a:xfrm>
            <a:off x="777240" y="2606040"/>
            <a:ext cx="502920" cy="365760"/>
          </a:xfrm>
          <a:prstGeom prst="rect">
            <a:avLst/>
          </a:prstGeom>
          <a:noFill/>
          <a:ln/>
        </p:spPr>
        <p:txBody>
          <a:bodyPr wrap="square" lIns="0" tIns="0" rIns="0" bIns="0" rtlCol="0" anchor="ctr"/>
          <a:lstStyle/>
          <a:p>
            <a:pPr indent="0" marL="0">
              <a:buNone/>
            </a:pPr>
            <a:r>
              <a:rPr lang="en-US" sz="2300" b="1" dirty="0">
                <a:solidFill>
                  <a:srgbClr val="007D70"/>
                </a:solidFill>
                <a:latin typeface="Arial" pitchFamily="34" charset="0"/>
                <a:ea typeface="Arial" pitchFamily="34" charset="-122"/>
                <a:cs typeface="Arial" pitchFamily="34" charset="-120"/>
              </a:rPr>
              <a:t>01</a:t>
            </a:r>
            <a:endParaRPr lang="en-US" sz="2300" dirty="0"/>
          </a:p>
        </p:txBody>
      </p:sp>
      <p:sp>
        <p:nvSpPr>
          <p:cNvPr id="9" name="Text 7"/>
          <p:cNvSpPr/>
          <p:nvPr/>
        </p:nvSpPr>
        <p:spPr>
          <a:xfrm>
            <a:off x="1481328" y="2596896"/>
            <a:ext cx="2999232" cy="393192"/>
          </a:xfrm>
          <a:prstGeom prst="rect">
            <a:avLst/>
          </a:prstGeom>
          <a:noFill/>
          <a:ln/>
        </p:spPr>
        <p:txBody>
          <a:bodyPr wrap="square" lIns="0" tIns="0" rIns="0" bIns="0" rtlCol="0" anchor="ctr"/>
          <a:lstStyle/>
          <a:p>
            <a:pPr indent="0" marL="0">
              <a:buNone/>
            </a:pPr>
            <a:r>
              <a:rPr lang="en-US" sz="1900" b="1" dirty="0">
                <a:solidFill>
                  <a:srgbClr val="102D2C"/>
                </a:solidFill>
                <a:latin typeface="Arial" pitchFamily="34" charset="0"/>
                <a:ea typeface="Arial" pitchFamily="34" charset="-122"/>
                <a:cs typeface="Arial" pitchFamily="34" charset="-120"/>
              </a:rPr>
              <a:t>Retrieve candidates</a:t>
            </a:r>
            <a:endParaRPr lang="en-US" sz="1900" dirty="0"/>
          </a:p>
        </p:txBody>
      </p:sp>
      <p:sp>
        <p:nvSpPr>
          <p:cNvPr id="10" name="Text 8"/>
          <p:cNvSpPr/>
          <p:nvPr/>
        </p:nvSpPr>
        <p:spPr>
          <a:xfrm>
            <a:off x="4617720" y="2578608"/>
            <a:ext cx="5760720" cy="420624"/>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Embed query and fetch up to 3 × top-K from ChromaDB.</a:t>
            </a:r>
            <a:endParaRPr lang="en-US" sz="1600" dirty="0"/>
          </a:p>
        </p:txBody>
      </p:sp>
      <p:sp>
        <p:nvSpPr>
          <p:cNvPr id="11" name="Shape 9"/>
          <p:cNvSpPr/>
          <p:nvPr/>
        </p:nvSpPr>
        <p:spPr>
          <a:xfrm>
            <a:off x="548640" y="3300984"/>
            <a:ext cx="10104120" cy="658368"/>
          </a:xfrm>
          <a:prstGeom prst="roundRect">
            <a:avLst>
              <a:gd name="adj" fmla="val 16667"/>
            </a:avLst>
          </a:prstGeom>
          <a:solidFill>
            <a:srgbClr val="FFFFFF"/>
          </a:solidFill>
          <a:ln w="12700">
            <a:solidFill>
              <a:srgbClr val="FFFFFF"/>
            </a:solidFill>
            <a:prstDash val="solid"/>
          </a:ln>
        </p:spPr>
      </p:sp>
      <p:sp>
        <p:nvSpPr>
          <p:cNvPr id="12" name="Text 10"/>
          <p:cNvSpPr/>
          <p:nvPr/>
        </p:nvSpPr>
        <p:spPr>
          <a:xfrm>
            <a:off x="777240" y="3438144"/>
            <a:ext cx="502920" cy="365760"/>
          </a:xfrm>
          <a:prstGeom prst="rect">
            <a:avLst/>
          </a:prstGeom>
          <a:noFill/>
          <a:ln/>
        </p:spPr>
        <p:txBody>
          <a:bodyPr wrap="square" lIns="0" tIns="0" rIns="0" bIns="0" rtlCol="0" anchor="ctr"/>
          <a:lstStyle/>
          <a:p>
            <a:pPr indent="0" marL="0">
              <a:buNone/>
            </a:pPr>
            <a:r>
              <a:rPr lang="en-US" sz="2300" b="1" dirty="0">
                <a:solidFill>
                  <a:srgbClr val="007D70"/>
                </a:solidFill>
                <a:latin typeface="Arial" pitchFamily="34" charset="0"/>
                <a:ea typeface="Arial" pitchFamily="34" charset="-122"/>
                <a:cs typeface="Arial" pitchFamily="34" charset="-120"/>
              </a:rPr>
              <a:t>02</a:t>
            </a:r>
            <a:endParaRPr lang="en-US" sz="2300" dirty="0"/>
          </a:p>
        </p:txBody>
      </p:sp>
      <p:sp>
        <p:nvSpPr>
          <p:cNvPr id="13" name="Text 11"/>
          <p:cNvSpPr/>
          <p:nvPr/>
        </p:nvSpPr>
        <p:spPr>
          <a:xfrm>
            <a:off x="1481328" y="3429000"/>
            <a:ext cx="2999232" cy="393192"/>
          </a:xfrm>
          <a:prstGeom prst="rect">
            <a:avLst/>
          </a:prstGeom>
          <a:noFill/>
          <a:ln/>
        </p:spPr>
        <p:txBody>
          <a:bodyPr wrap="square" lIns="0" tIns="0" rIns="0" bIns="0" rtlCol="0" anchor="ctr"/>
          <a:lstStyle/>
          <a:p>
            <a:pPr indent="0" marL="0">
              <a:buNone/>
            </a:pPr>
            <a:r>
              <a:rPr lang="en-US" sz="1900" b="1" dirty="0">
                <a:solidFill>
                  <a:srgbClr val="102D2C"/>
                </a:solidFill>
                <a:latin typeface="Arial" pitchFamily="34" charset="0"/>
                <a:ea typeface="Arial" pitchFamily="34" charset="-122"/>
                <a:cs typeface="Arial" pitchFamily="34" charset="-120"/>
              </a:rPr>
              <a:t>Validate document evidence</a:t>
            </a:r>
            <a:endParaRPr lang="en-US" sz="1900" dirty="0"/>
          </a:p>
        </p:txBody>
      </p:sp>
      <p:sp>
        <p:nvSpPr>
          <p:cNvPr id="14" name="Text 12"/>
          <p:cNvSpPr/>
          <p:nvPr/>
        </p:nvSpPr>
        <p:spPr>
          <a:xfrm>
            <a:off x="4617720" y="3410712"/>
            <a:ext cx="5760720" cy="420624"/>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Check authoritative records, current file digests and signatures.</a:t>
            </a:r>
            <a:endParaRPr lang="en-US" sz="1600" dirty="0"/>
          </a:p>
        </p:txBody>
      </p:sp>
      <p:sp>
        <p:nvSpPr>
          <p:cNvPr id="15" name="Shape 13"/>
          <p:cNvSpPr/>
          <p:nvPr/>
        </p:nvSpPr>
        <p:spPr>
          <a:xfrm>
            <a:off x="548640" y="4133088"/>
            <a:ext cx="10104120" cy="658368"/>
          </a:xfrm>
          <a:prstGeom prst="roundRect">
            <a:avLst>
              <a:gd name="adj" fmla="val 16667"/>
            </a:avLst>
          </a:prstGeom>
          <a:solidFill>
            <a:srgbClr val="FFFFFF"/>
          </a:solidFill>
          <a:ln w="12700">
            <a:solidFill>
              <a:srgbClr val="FFFFFF"/>
            </a:solidFill>
            <a:prstDash val="solid"/>
          </a:ln>
        </p:spPr>
      </p:sp>
      <p:sp>
        <p:nvSpPr>
          <p:cNvPr id="16" name="Text 14"/>
          <p:cNvSpPr/>
          <p:nvPr/>
        </p:nvSpPr>
        <p:spPr>
          <a:xfrm>
            <a:off x="777240" y="4270248"/>
            <a:ext cx="502920" cy="365760"/>
          </a:xfrm>
          <a:prstGeom prst="rect">
            <a:avLst/>
          </a:prstGeom>
          <a:noFill/>
          <a:ln/>
        </p:spPr>
        <p:txBody>
          <a:bodyPr wrap="square" lIns="0" tIns="0" rIns="0" bIns="0" rtlCol="0" anchor="ctr"/>
          <a:lstStyle/>
          <a:p>
            <a:pPr indent="0" marL="0">
              <a:buNone/>
            </a:pPr>
            <a:r>
              <a:rPr lang="en-US" sz="2300" b="1" dirty="0">
                <a:solidFill>
                  <a:srgbClr val="007D70"/>
                </a:solidFill>
                <a:latin typeface="Arial" pitchFamily="34" charset="0"/>
                <a:ea typeface="Arial" pitchFamily="34" charset="-122"/>
                <a:cs typeface="Arial" pitchFamily="34" charset="-120"/>
              </a:rPr>
              <a:t>03</a:t>
            </a:r>
            <a:endParaRPr lang="en-US" sz="2300" dirty="0"/>
          </a:p>
        </p:txBody>
      </p:sp>
      <p:sp>
        <p:nvSpPr>
          <p:cNvPr id="17" name="Text 15"/>
          <p:cNvSpPr/>
          <p:nvPr/>
        </p:nvSpPr>
        <p:spPr>
          <a:xfrm>
            <a:off x="1481328" y="4261104"/>
            <a:ext cx="2999232" cy="393192"/>
          </a:xfrm>
          <a:prstGeom prst="rect">
            <a:avLst/>
          </a:prstGeom>
          <a:noFill/>
          <a:ln/>
        </p:spPr>
        <p:txBody>
          <a:bodyPr wrap="square" lIns="0" tIns="0" rIns="0" bIns="0" rtlCol="0" anchor="ctr"/>
          <a:lstStyle/>
          <a:p>
            <a:pPr indent="0" marL="0">
              <a:buNone/>
            </a:pPr>
            <a:r>
              <a:rPr lang="en-US" sz="1900" b="1" dirty="0">
                <a:solidFill>
                  <a:srgbClr val="102D2C"/>
                </a:solidFill>
                <a:latin typeface="Arial" pitchFamily="34" charset="0"/>
                <a:ea typeface="Arial" pitchFamily="34" charset="-122"/>
                <a:cs typeface="Arial" pitchFamily="34" charset="-120"/>
              </a:rPr>
              <a:t>Enforce eligibility</a:t>
            </a:r>
            <a:endParaRPr lang="en-US" sz="1900" dirty="0"/>
          </a:p>
        </p:txBody>
      </p:sp>
      <p:sp>
        <p:nvSpPr>
          <p:cNvPr id="18" name="Text 16"/>
          <p:cNvSpPr/>
          <p:nvPr/>
        </p:nvSpPr>
        <p:spPr>
          <a:xfrm>
            <a:off x="4617720" y="4242816"/>
            <a:ext cx="5760720" cy="420624"/>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Apply classification and quarantine; verify chunk digests; rescan content.</a:t>
            </a:r>
            <a:endParaRPr lang="en-US" sz="1600" dirty="0"/>
          </a:p>
        </p:txBody>
      </p:sp>
      <p:sp>
        <p:nvSpPr>
          <p:cNvPr id="19" name="Shape 17"/>
          <p:cNvSpPr/>
          <p:nvPr/>
        </p:nvSpPr>
        <p:spPr>
          <a:xfrm>
            <a:off x="548640" y="4965192"/>
            <a:ext cx="10104120" cy="658368"/>
          </a:xfrm>
          <a:prstGeom prst="roundRect">
            <a:avLst>
              <a:gd name="adj" fmla="val 16667"/>
            </a:avLst>
          </a:prstGeom>
          <a:solidFill>
            <a:srgbClr val="FFFFFF"/>
          </a:solidFill>
          <a:ln w="12700">
            <a:solidFill>
              <a:srgbClr val="FFFFFF"/>
            </a:solidFill>
            <a:prstDash val="solid"/>
          </a:ln>
        </p:spPr>
      </p:sp>
      <p:sp>
        <p:nvSpPr>
          <p:cNvPr id="20" name="Text 18"/>
          <p:cNvSpPr/>
          <p:nvPr/>
        </p:nvSpPr>
        <p:spPr>
          <a:xfrm>
            <a:off x="777240" y="5102352"/>
            <a:ext cx="502920" cy="365760"/>
          </a:xfrm>
          <a:prstGeom prst="rect">
            <a:avLst/>
          </a:prstGeom>
          <a:noFill/>
          <a:ln/>
        </p:spPr>
        <p:txBody>
          <a:bodyPr wrap="square" lIns="0" tIns="0" rIns="0" bIns="0" rtlCol="0" anchor="ctr"/>
          <a:lstStyle/>
          <a:p>
            <a:pPr indent="0" marL="0">
              <a:buNone/>
            </a:pPr>
            <a:r>
              <a:rPr lang="en-US" sz="2300" b="1" dirty="0">
                <a:solidFill>
                  <a:srgbClr val="007D70"/>
                </a:solidFill>
                <a:latin typeface="Arial" pitchFamily="34" charset="0"/>
                <a:ea typeface="Arial" pitchFamily="34" charset="-122"/>
                <a:cs typeface="Arial" pitchFamily="34" charset="-120"/>
              </a:rPr>
              <a:t>04</a:t>
            </a:r>
            <a:endParaRPr lang="en-US" sz="2300" dirty="0"/>
          </a:p>
        </p:txBody>
      </p:sp>
      <p:sp>
        <p:nvSpPr>
          <p:cNvPr id="21" name="Text 19"/>
          <p:cNvSpPr/>
          <p:nvPr/>
        </p:nvSpPr>
        <p:spPr>
          <a:xfrm>
            <a:off x="1481328" y="5093208"/>
            <a:ext cx="2999232" cy="393192"/>
          </a:xfrm>
          <a:prstGeom prst="rect">
            <a:avLst/>
          </a:prstGeom>
          <a:noFill/>
          <a:ln/>
        </p:spPr>
        <p:txBody>
          <a:bodyPr wrap="square" lIns="0" tIns="0" rIns="0" bIns="0" rtlCol="0" anchor="ctr"/>
          <a:lstStyle/>
          <a:p>
            <a:pPr indent="0" marL="0">
              <a:buNone/>
            </a:pPr>
            <a:r>
              <a:rPr lang="en-US" sz="1900" b="1" dirty="0">
                <a:solidFill>
                  <a:srgbClr val="102D2C"/>
                </a:solidFill>
                <a:latin typeface="Arial" pitchFamily="34" charset="0"/>
                <a:ea typeface="Arial" pitchFamily="34" charset="-122"/>
                <a:cs typeface="Arial" pitchFamily="34" charset="-120"/>
              </a:rPr>
              <a:t>Rank &amp; generate</a:t>
            </a:r>
            <a:endParaRPr lang="en-US" sz="1900" dirty="0"/>
          </a:p>
        </p:txBody>
      </p:sp>
      <p:sp>
        <p:nvSpPr>
          <p:cNvPr id="22" name="Text 20"/>
          <p:cNvSpPr/>
          <p:nvPr/>
        </p:nvSpPr>
        <p:spPr>
          <a:xfrm>
            <a:off x="4617720" y="5074920"/>
            <a:ext cx="5760720" cy="420624"/>
          </a:xfrm>
          <a:prstGeom prst="rect">
            <a:avLst/>
          </a:prstGeom>
          <a:noFill/>
          <a:ln/>
        </p:spPr>
        <p:txBody>
          <a:bodyPr wrap="square" lIns="0" tIns="0" rIns="0" bIns="0" rtlCol="0" anchor="ctr"/>
          <a:lstStyle/>
          <a:p>
            <a:pPr indent="0" marL="0">
              <a:buNone/>
            </a:pPr>
            <a:r>
              <a:rPr lang="en-US" sz="1600" dirty="0">
                <a:solidFill>
                  <a:srgbClr val="526663"/>
                </a:solidFill>
                <a:latin typeface="Arial" pitchFamily="34" charset="0"/>
                <a:ea typeface="Arial" pitchFamily="34" charset="-122"/>
                <a:cs typeface="Arial" pitchFamily="34" charset="-120"/>
              </a:rPr>
              <a:t>Trusted first, then distance. Send eligible context to the LLM.</a:t>
            </a:r>
            <a:endParaRPr lang="en-US" sz="1600" dirty="0"/>
          </a:p>
        </p:txBody>
      </p:sp>
      <p:pic>
        <p:nvPicPr>
          <p:cNvPr id="23" name="Image 0" descr="/home/pavan/TrustRAG/ppt_assets/icons/shield-teal.png">    </p:cNvPr>
          <p:cNvPicPr>
            <a:picLocks noChangeAspect="1"/>
          </p:cNvPicPr>
          <p:nvPr/>
        </p:nvPicPr>
        <p:blipFill>
          <a:blip r:embed="rId1"/>
          <a:stretch>
            <a:fillRect/>
          </a:stretch>
        </p:blipFill>
        <p:spPr>
          <a:xfrm>
            <a:off x="11009376" y="3593592"/>
            <a:ext cx="502920" cy="502920"/>
          </a:xfrm>
          <a:prstGeom prst="rect">
            <a:avLst/>
          </a:prstGeom>
        </p:spPr>
      </p:pic>
      <p:sp>
        <p:nvSpPr>
          <p:cNvPr id="24" name="Text 21"/>
          <p:cNvSpPr/>
          <p:nvPr/>
        </p:nvSpPr>
        <p:spPr>
          <a:xfrm>
            <a:off x="777240" y="5961888"/>
            <a:ext cx="10424160" cy="256032"/>
          </a:xfrm>
          <a:prstGeom prst="rect">
            <a:avLst/>
          </a:prstGeom>
          <a:noFill/>
          <a:ln/>
        </p:spPr>
        <p:txBody>
          <a:bodyPr wrap="square" lIns="0" tIns="0" rIns="0" bIns="0" rtlCol="0" anchor="ctr"/>
          <a:lstStyle/>
          <a:p>
            <a:pPr indent="0" marL="0">
              <a:buNone/>
            </a:pPr>
            <a:r>
              <a:rPr lang="en-US" sz="1500" b="1" dirty="0">
                <a:solidFill>
                  <a:srgbClr val="007D70"/>
                </a:solidFill>
                <a:latin typeface="Arial" pitchFamily="34" charset="0"/>
                <a:ea typeface="Arial" pitchFamily="34" charset="-122"/>
                <a:cs typeface="Arial" pitchFamily="34" charset="-120"/>
              </a:rPr>
              <a:t>Changed evidence can persist quarantine across metadata, vectors and provenance.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6"/>
        </a:solidFill>
      </p:bgPr>
    </p:bg>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100" b="1" spc="150" kern="0" dirty="0">
                <a:solidFill>
                  <a:srgbClr val="007D70"/>
                </a:solidFill>
                <a:latin typeface="Arial" pitchFamily="34" charset="0"/>
                <a:ea typeface="Arial" pitchFamily="34" charset="-122"/>
                <a:cs typeface="Arial" pitchFamily="34" charset="-120"/>
              </a:rPr>
              <a:t>07 / AUTHENTICATION &amp; AUTHORIZATION</a:t>
            </a:r>
            <a:endParaRPr lang="en-US" sz="1100" dirty="0"/>
          </a:p>
        </p:txBody>
      </p:sp>
      <p:sp>
        <p:nvSpPr>
          <p:cNvPr id="3" name="Text 1"/>
          <p:cNvSpPr/>
          <p:nvPr/>
        </p:nvSpPr>
        <p:spPr>
          <a:xfrm>
            <a:off x="548640" y="868680"/>
            <a:ext cx="11064240" cy="640080"/>
          </a:xfrm>
          <a:prstGeom prst="rect">
            <a:avLst/>
          </a:prstGeom>
          <a:noFill/>
          <a:ln/>
        </p:spPr>
        <p:txBody>
          <a:bodyPr wrap="square" lIns="0" tIns="0" rIns="0" bIns="0" rtlCol="0" anchor="ctr"/>
          <a:lstStyle/>
          <a:p>
            <a:pPr indent="0" marL="0">
              <a:buNone/>
            </a:pPr>
            <a:r>
              <a:rPr lang="en-US" sz="3400" b="1" dirty="0">
                <a:solidFill>
                  <a:srgbClr val="102D2C"/>
                </a:solidFill>
                <a:latin typeface="Arial" pitchFamily="34" charset="0"/>
                <a:ea typeface="Arial" pitchFamily="34" charset="-122"/>
                <a:cs typeface="Arial" pitchFamily="34" charset="-120"/>
              </a:rPr>
              <a:t>Access control spans the full workflow</a:t>
            </a:r>
            <a:endParaRPr lang="en-US" sz="3400" dirty="0"/>
          </a:p>
        </p:txBody>
      </p:sp>
      <p:sp>
        <p:nvSpPr>
          <p:cNvPr id="4" name="Text 2"/>
          <p:cNvSpPr/>
          <p:nvPr/>
        </p:nvSpPr>
        <p:spPr>
          <a:xfrm>
            <a:off x="548640" y="1645920"/>
            <a:ext cx="10881360" cy="5943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Authorization is enforced server-side, not only by hiding controls in the interface.</a:t>
            </a:r>
            <a:endParaRPr lang="en-US" sz="1700" dirty="0"/>
          </a:p>
        </p:txBody>
      </p:sp>
      <p:sp>
        <p:nvSpPr>
          <p:cNvPr id="5" name="Text 3"/>
          <p:cNvSpPr/>
          <p:nvPr/>
        </p:nvSpPr>
        <p:spPr>
          <a:xfrm>
            <a:off x="548640" y="6419088"/>
            <a:ext cx="9144000" cy="182880"/>
          </a:xfrm>
          <a:prstGeom prst="rect">
            <a:avLst/>
          </a:prstGeom>
          <a:noFill/>
          <a:ln/>
        </p:spPr>
        <p:txBody>
          <a:bodyPr wrap="square" lIns="0" tIns="0" rIns="0" bIns="0" rtlCol="0" anchor="ctr"/>
          <a:lstStyle/>
          <a:p>
            <a:pPr indent="0" marL="0">
              <a:buNone/>
            </a:pPr>
            <a:r>
              <a:rPr lang="en-US" sz="1000" dirty="0">
                <a:solidFill>
                  <a:srgbClr val="526663"/>
                </a:solidFill>
                <a:latin typeface="Arial" pitchFamily="34" charset="0"/>
                <a:ea typeface="Arial" pitchFamily="34" charset="-122"/>
                <a:cs typeface="Arial" pitchFamily="34" charset="-120"/>
              </a:rPr>
              <a:t>TrustRAG  /  Academic prototype  /  17 Sep 2026</a:t>
            </a:r>
            <a:endParaRPr lang="en-US" sz="1000" dirty="0"/>
          </a:p>
        </p:txBody>
      </p:sp>
      <p:sp>
        <p:nvSpPr>
          <p:cNvPr id="6" name="Text 4"/>
          <p:cNvSpPr/>
          <p:nvPr/>
        </p:nvSpPr>
        <p:spPr>
          <a:xfrm>
            <a:off x="11018520" y="6382512"/>
            <a:ext cx="594360" cy="274320"/>
          </a:xfrm>
          <a:prstGeom prst="rect">
            <a:avLst/>
          </a:prstGeom>
          <a:noFill/>
          <a:ln/>
        </p:spPr>
        <p:txBody>
          <a:bodyPr wrap="square" lIns="0" tIns="0" rIns="0" bIns="0" rtlCol="0" anchor="ctr"/>
          <a:lstStyle/>
          <a:p>
            <a:pPr algn="r" indent="0" marL="0">
              <a:buNone/>
            </a:pPr>
            <a:r>
              <a:rPr lang="en-US" sz="1100" b="1" dirty="0">
                <a:solidFill>
                  <a:srgbClr val="007D70"/>
                </a:solidFill>
                <a:latin typeface="Arial" pitchFamily="34" charset="0"/>
                <a:ea typeface="Arial" pitchFamily="34" charset="-122"/>
                <a:cs typeface="Arial" pitchFamily="34" charset="-120"/>
              </a:rPr>
              <a:t>08</a:t>
            </a:r>
            <a:endParaRPr lang="en-US" sz="1100" dirty="0"/>
          </a:p>
        </p:txBody>
      </p:sp>
      <p:sp>
        <p:nvSpPr>
          <p:cNvPr id="7" name="Shape 5"/>
          <p:cNvSpPr/>
          <p:nvPr/>
        </p:nvSpPr>
        <p:spPr>
          <a:xfrm>
            <a:off x="548640" y="2560320"/>
            <a:ext cx="5349240" cy="3383280"/>
          </a:xfrm>
          <a:prstGeom prst="roundRect">
            <a:avLst>
              <a:gd name="adj" fmla="val 3243"/>
            </a:avLst>
          </a:prstGeom>
          <a:solidFill>
            <a:srgbClr val="FFFFFF"/>
          </a:solidFill>
          <a:ln w="12700">
            <a:solidFill>
              <a:srgbClr val="FFFFFF"/>
            </a:solidFill>
            <a:prstDash val="solid"/>
          </a:ln>
        </p:spPr>
      </p:sp>
      <p:pic>
        <p:nvPicPr>
          <p:cNvPr id="8" name="Image 0" descr="/home/pavan/TrustRAG/ppt_assets/icons/user-teal.png">    </p:cNvPr>
          <p:cNvPicPr>
            <a:picLocks noChangeAspect="1"/>
          </p:cNvPicPr>
          <p:nvPr/>
        </p:nvPicPr>
        <p:blipFill>
          <a:blip r:embed="rId1"/>
          <a:stretch>
            <a:fillRect/>
          </a:stretch>
        </p:blipFill>
        <p:spPr>
          <a:xfrm>
            <a:off x="822960" y="2834640"/>
            <a:ext cx="411480" cy="411480"/>
          </a:xfrm>
          <a:prstGeom prst="rect">
            <a:avLst/>
          </a:prstGeom>
        </p:spPr>
      </p:pic>
      <p:sp>
        <p:nvSpPr>
          <p:cNvPr id="9" name="Text 6"/>
          <p:cNvSpPr/>
          <p:nvPr/>
        </p:nvSpPr>
        <p:spPr>
          <a:xfrm>
            <a:off x="1463040" y="2834640"/>
            <a:ext cx="4023360" cy="411480"/>
          </a:xfrm>
          <a:prstGeom prst="rect">
            <a:avLst/>
          </a:prstGeom>
          <a:noFill/>
          <a:ln/>
        </p:spPr>
        <p:txBody>
          <a:bodyPr wrap="square" lIns="0" tIns="0" rIns="0" bIns="0" rtlCol="0" anchor="ctr"/>
          <a:lstStyle/>
          <a:p>
            <a:pPr indent="0" marL="0">
              <a:buNone/>
            </a:pPr>
            <a:r>
              <a:rPr lang="en-US" sz="2400" b="1" dirty="0">
                <a:solidFill>
                  <a:srgbClr val="102D2C"/>
                </a:solidFill>
                <a:latin typeface="Arial" pitchFamily="34" charset="0"/>
                <a:ea typeface="Arial" pitchFamily="34" charset="-122"/>
                <a:cs typeface="Arial" pitchFamily="34" charset="-120"/>
              </a:rPr>
              <a:t>Four role profiles</a:t>
            </a:r>
            <a:endParaRPr lang="en-US" sz="2400" dirty="0"/>
          </a:p>
        </p:txBody>
      </p:sp>
      <p:sp>
        <p:nvSpPr>
          <p:cNvPr id="10" name="Shape 7"/>
          <p:cNvSpPr/>
          <p:nvPr/>
        </p:nvSpPr>
        <p:spPr>
          <a:xfrm>
            <a:off x="822960" y="3657600"/>
            <a:ext cx="2130552" cy="566928"/>
          </a:xfrm>
          <a:prstGeom prst="roundRect">
            <a:avLst>
              <a:gd name="adj" fmla="val 19355"/>
            </a:avLst>
          </a:prstGeom>
          <a:solidFill>
            <a:srgbClr val="E5F0EC"/>
          </a:solidFill>
          <a:ln w="12700">
            <a:solidFill>
              <a:srgbClr val="E5F0EC"/>
            </a:solidFill>
            <a:prstDash val="solid"/>
          </a:ln>
        </p:spPr>
      </p:sp>
      <p:sp>
        <p:nvSpPr>
          <p:cNvPr id="11" name="Text 8"/>
          <p:cNvSpPr/>
          <p:nvPr/>
        </p:nvSpPr>
        <p:spPr>
          <a:xfrm>
            <a:off x="960120" y="3767328"/>
            <a:ext cx="1856232" cy="320040"/>
          </a:xfrm>
          <a:prstGeom prst="rect">
            <a:avLst/>
          </a:prstGeom>
          <a:noFill/>
          <a:ln/>
        </p:spPr>
        <p:txBody>
          <a:bodyPr wrap="square" lIns="0" tIns="0" rIns="0" bIns="0" rtlCol="0" anchor="ctr"/>
          <a:lstStyle/>
          <a:p>
            <a:pPr indent="0" marL="0">
              <a:buNone/>
            </a:pPr>
            <a:r>
              <a:rPr lang="en-US" sz="1900" b="1" dirty="0">
                <a:solidFill>
                  <a:srgbClr val="007D70"/>
                </a:solidFill>
                <a:latin typeface="Arial" pitchFamily="34" charset="0"/>
                <a:ea typeface="Arial" pitchFamily="34" charset="-122"/>
                <a:cs typeface="Arial" pitchFamily="34" charset="-120"/>
              </a:rPr>
              <a:t>Employee</a:t>
            </a:r>
            <a:endParaRPr lang="en-US" sz="1900" dirty="0"/>
          </a:p>
        </p:txBody>
      </p:sp>
      <p:sp>
        <p:nvSpPr>
          <p:cNvPr id="12" name="Shape 9"/>
          <p:cNvSpPr/>
          <p:nvPr/>
        </p:nvSpPr>
        <p:spPr>
          <a:xfrm>
            <a:off x="3227832" y="3657600"/>
            <a:ext cx="2130552" cy="566928"/>
          </a:xfrm>
          <a:prstGeom prst="roundRect">
            <a:avLst>
              <a:gd name="adj" fmla="val 19355"/>
            </a:avLst>
          </a:prstGeom>
          <a:solidFill>
            <a:srgbClr val="E5F0EC"/>
          </a:solidFill>
          <a:ln w="12700">
            <a:solidFill>
              <a:srgbClr val="E5F0EC"/>
            </a:solidFill>
            <a:prstDash val="solid"/>
          </a:ln>
        </p:spPr>
      </p:sp>
      <p:sp>
        <p:nvSpPr>
          <p:cNvPr id="13" name="Text 10"/>
          <p:cNvSpPr/>
          <p:nvPr/>
        </p:nvSpPr>
        <p:spPr>
          <a:xfrm>
            <a:off x="3364992" y="3767328"/>
            <a:ext cx="1856232" cy="320040"/>
          </a:xfrm>
          <a:prstGeom prst="rect">
            <a:avLst/>
          </a:prstGeom>
          <a:noFill/>
          <a:ln/>
        </p:spPr>
        <p:txBody>
          <a:bodyPr wrap="square" lIns="0" tIns="0" rIns="0" bIns="0" rtlCol="0" anchor="ctr"/>
          <a:lstStyle/>
          <a:p>
            <a:pPr indent="0" marL="0">
              <a:buNone/>
            </a:pPr>
            <a:r>
              <a:rPr lang="en-US" sz="1900" b="1" dirty="0">
                <a:solidFill>
                  <a:srgbClr val="007D70"/>
                </a:solidFill>
                <a:latin typeface="Arial" pitchFamily="34" charset="0"/>
                <a:ea typeface="Arial" pitchFamily="34" charset="-122"/>
                <a:cs typeface="Arial" pitchFamily="34" charset="-120"/>
              </a:rPr>
              <a:t>HR</a:t>
            </a:r>
            <a:endParaRPr lang="en-US" sz="1900" dirty="0"/>
          </a:p>
        </p:txBody>
      </p:sp>
      <p:sp>
        <p:nvSpPr>
          <p:cNvPr id="14" name="Shape 11"/>
          <p:cNvSpPr/>
          <p:nvPr/>
        </p:nvSpPr>
        <p:spPr>
          <a:xfrm>
            <a:off x="822960" y="4507992"/>
            <a:ext cx="2130552" cy="566928"/>
          </a:xfrm>
          <a:prstGeom prst="roundRect">
            <a:avLst>
              <a:gd name="adj" fmla="val 19355"/>
            </a:avLst>
          </a:prstGeom>
          <a:solidFill>
            <a:srgbClr val="E5F0EC"/>
          </a:solidFill>
          <a:ln w="12700">
            <a:solidFill>
              <a:srgbClr val="E5F0EC"/>
            </a:solidFill>
            <a:prstDash val="solid"/>
          </a:ln>
        </p:spPr>
      </p:sp>
      <p:sp>
        <p:nvSpPr>
          <p:cNvPr id="15" name="Text 12"/>
          <p:cNvSpPr/>
          <p:nvPr/>
        </p:nvSpPr>
        <p:spPr>
          <a:xfrm>
            <a:off x="960120" y="4617720"/>
            <a:ext cx="1856232" cy="320040"/>
          </a:xfrm>
          <a:prstGeom prst="rect">
            <a:avLst/>
          </a:prstGeom>
          <a:noFill/>
          <a:ln/>
        </p:spPr>
        <p:txBody>
          <a:bodyPr wrap="square" lIns="0" tIns="0" rIns="0" bIns="0" rtlCol="0" anchor="ctr"/>
          <a:lstStyle/>
          <a:p>
            <a:pPr indent="0" marL="0">
              <a:buNone/>
            </a:pPr>
            <a:r>
              <a:rPr lang="en-US" sz="1900" b="1" dirty="0">
                <a:solidFill>
                  <a:srgbClr val="007D70"/>
                </a:solidFill>
                <a:latin typeface="Arial" pitchFamily="34" charset="0"/>
                <a:ea typeface="Arial" pitchFamily="34" charset="-122"/>
                <a:cs typeface="Arial" pitchFamily="34" charset="-120"/>
              </a:rPr>
              <a:t>IT_Security</a:t>
            </a:r>
            <a:endParaRPr lang="en-US" sz="1900" dirty="0"/>
          </a:p>
        </p:txBody>
      </p:sp>
      <p:sp>
        <p:nvSpPr>
          <p:cNvPr id="16" name="Shape 13"/>
          <p:cNvSpPr/>
          <p:nvPr/>
        </p:nvSpPr>
        <p:spPr>
          <a:xfrm>
            <a:off x="3227832" y="4507992"/>
            <a:ext cx="2130552" cy="566928"/>
          </a:xfrm>
          <a:prstGeom prst="roundRect">
            <a:avLst>
              <a:gd name="adj" fmla="val 19355"/>
            </a:avLst>
          </a:prstGeom>
          <a:solidFill>
            <a:srgbClr val="E5F0EC"/>
          </a:solidFill>
          <a:ln w="12700">
            <a:solidFill>
              <a:srgbClr val="E5F0EC"/>
            </a:solidFill>
            <a:prstDash val="solid"/>
          </a:ln>
        </p:spPr>
      </p:sp>
      <p:sp>
        <p:nvSpPr>
          <p:cNvPr id="17" name="Text 14"/>
          <p:cNvSpPr/>
          <p:nvPr/>
        </p:nvSpPr>
        <p:spPr>
          <a:xfrm>
            <a:off x="3364992" y="4617720"/>
            <a:ext cx="1856232" cy="320040"/>
          </a:xfrm>
          <a:prstGeom prst="rect">
            <a:avLst/>
          </a:prstGeom>
          <a:noFill/>
          <a:ln/>
        </p:spPr>
        <p:txBody>
          <a:bodyPr wrap="square" lIns="0" tIns="0" rIns="0" bIns="0" rtlCol="0" anchor="ctr"/>
          <a:lstStyle/>
          <a:p>
            <a:pPr indent="0" marL="0">
              <a:buNone/>
            </a:pPr>
            <a:r>
              <a:rPr lang="en-US" sz="1900" b="1" dirty="0">
                <a:solidFill>
                  <a:srgbClr val="007D70"/>
                </a:solidFill>
                <a:latin typeface="Arial" pitchFamily="34" charset="0"/>
                <a:ea typeface="Arial" pitchFamily="34" charset="-122"/>
                <a:cs typeface="Arial" pitchFamily="34" charset="-120"/>
              </a:rPr>
              <a:t>Admin</a:t>
            </a:r>
            <a:endParaRPr lang="en-US" sz="1900" dirty="0"/>
          </a:p>
        </p:txBody>
      </p:sp>
      <p:sp>
        <p:nvSpPr>
          <p:cNvPr id="18" name="Text 15"/>
          <p:cNvSpPr/>
          <p:nvPr/>
        </p:nvSpPr>
        <p:spPr>
          <a:xfrm>
            <a:off x="6291072" y="2633472"/>
            <a:ext cx="5029200" cy="384048"/>
          </a:xfrm>
          <a:prstGeom prst="rect">
            <a:avLst/>
          </a:prstGeom>
          <a:noFill/>
          <a:ln/>
        </p:spPr>
        <p:txBody>
          <a:bodyPr wrap="square" lIns="0" tIns="0" rIns="0" bIns="0" rtlCol="0" anchor="ctr"/>
          <a:lstStyle/>
          <a:p>
            <a:pPr indent="0" marL="0">
              <a:buNone/>
            </a:pPr>
            <a:r>
              <a:rPr lang="en-US" sz="2200" b="1" dirty="0">
                <a:solidFill>
                  <a:srgbClr val="102D2C"/>
                </a:solidFill>
                <a:latin typeface="Arial" pitchFamily="34" charset="0"/>
                <a:ea typeface="Arial" pitchFamily="34" charset="-122"/>
                <a:cs typeface="Arial" pitchFamily="34" charset="-120"/>
              </a:rPr>
              <a:t>Authenticated access</a:t>
            </a:r>
            <a:endParaRPr lang="en-US" sz="2200" dirty="0"/>
          </a:p>
        </p:txBody>
      </p:sp>
      <p:sp>
        <p:nvSpPr>
          <p:cNvPr id="19" name="Text 16"/>
          <p:cNvSpPr/>
          <p:nvPr/>
        </p:nvSpPr>
        <p:spPr>
          <a:xfrm>
            <a:off x="6291072" y="3081528"/>
            <a:ext cx="4956048" cy="530352"/>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Data, dashboard, status, evaluation and query APIs require JWTs.</a:t>
            </a:r>
            <a:endParaRPr lang="en-US" sz="1700" dirty="0"/>
          </a:p>
        </p:txBody>
      </p:sp>
      <p:sp>
        <p:nvSpPr>
          <p:cNvPr id="20" name="Text 17"/>
          <p:cNvSpPr/>
          <p:nvPr/>
        </p:nvSpPr>
        <p:spPr>
          <a:xfrm>
            <a:off x="6291072" y="3730752"/>
            <a:ext cx="5029200" cy="384048"/>
          </a:xfrm>
          <a:prstGeom prst="rect">
            <a:avLst/>
          </a:prstGeom>
          <a:noFill/>
          <a:ln/>
        </p:spPr>
        <p:txBody>
          <a:bodyPr wrap="square" lIns="0" tIns="0" rIns="0" bIns="0" rtlCol="0" anchor="ctr"/>
          <a:lstStyle/>
          <a:p>
            <a:pPr indent="0" marL="0">
              <a:buNone/>
            </a:pPr>
            <a:r>
              <a:rPr lang="en-US" sz="2200" b="1" dirty="0">
                <a:solidFill>
                  <a:srgbClr val="102D2C"/>
                </a:solidFill>
                <a:latin typeface="Arial" pitchFamily="34" charset="0"/>
                <a:ea typeface="Arial" pitchFamily="34" charset="-122"/>
                <a:cs typeface="Arial" pitchFamily="34" charset="-120"/>
              </a:rPr>
              <a:t>Classification enforcement</a:t>
            </a:r>
            <a:endParaRPr lang="en-US" sz="2200" dirty="0"/>
          </a:p>
        </p:txBody>
      </p:sp>
      <p:sp>
        <p:nvSpPr>
          <p:cNvPr id="21" name="Text 18"/>
          <p:cNvSpPr/>
          <p:nvPr/>
        </p:nvSpPr>
        <p:spPr>
          <a:xfrm>
            <a:off x="6291072" y="4178808"/>
            <a:ext cx="4956048" cy="530352"/>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Uploads, listings, details and secure retrieval respect clearance.</a:t>
            </a:r>
            <a:endParaRPr lang="en-US" sz="1700" dirty="0"/>
          </a:p>
        </p:txBody>
      </p:sp>
      <p:sp>
        <p:nvSpPr>
          <p:cNvPr id="22" name="Text 19"/>
          <p:cNvSpPr/>
          <p:nvPr/>
        </p:nvSpPr>
        <p:spPr>
          <a:xfrm>
            <a:off x="6291072" y="4828032"/>
            <a:ext cx="5029200" cy="384048"/>
          </a:xfrm>
          <a:prstGeom prst="rect">
            <a:avLst/>
          </a:prstGeom>
          <a:noFill/>
          <a:ln/>
        </p:spPr>
        <p:txBody>
          <a:bodyPr wrap="square" lIns="0" tIns="0" rIns="0" bIns="0" rtlCol="0" anchor="ctr"/>
          <a:lstStyle/>
          <a:p>
            <a:pPr indent="0" marL="0">
              <a:buNone/>
            </a:pPr>
            <a:r>
              <a:rPr lang="en-US" sz="2200" b="1" dirty="0">
                <a:solidFill>
                  <a:srgbClr val="102D2C"/>
                </a:solidFill>
                <a:latin typeface="Arial" pitchFamily="34" charset="0"/>
                <a:ea typeface="Arial" pitchFamily="34" charset="-122"/>
                <a:cs typeface="Arial" pitchFamily="34" charset="-120"/>
              </a:rPr>
              <a:t>Privileged operations</a:t>
            </a:r>
            <a:endParaRPr lang="en-US" sz="2200" dirty="0"/>
          </a:p>
        </p:txBody>
      </p:sp>
      <p:sp>
        <p:nvSpPr>
          <p:cNvPr id="23" name="Text 20"/>
          <p:cNvSpPr/>
          <p:nvPr/>
        </p:nvSpPr>
        <p:spPr>
          <a:xfrm>
            <a:off x="6291072" y="5276088"/>
            <a:ext cx="4956048" cy="530352"/>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Unfiltered baseline and audit event access: Admin / IT_Security.</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6"/>
        </a:solidFill>
      </p:bgPr>
    </p:bg>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100" b="1" spc="150" kern="0" dirty="0">
                <a:solidFill>
                  <a:srgbClr val="007D70"/>
                </a:solidFill>
                <a:latin typeface="Arial" pitchFamily="34" charset="0"/>
                <a:ea typeface="Arial" pitchFamily="34" charset="-122"/>
                <a:cs typeface="Arial" pitchFamily="34" charset="-120"/>
              </a:rPr>
              <a:t>08 / INTERFACE &amp; TRACEABILITY</a:t>
            </a:r>
            <a:endParaRPr lang="en-US" sz="1100" dirty="0"/>
          </a:p>
        </p:txBody>
      </p:sp>
      <p:sp>
        <p:nvSpPr>
          <p:cNvPr id="3" name="Text 1"/>
          <p:cNvSpPr/>
          <p:nvPr/>
        </p:nvSpPr>
        <p:spPr>
          <a:xfrm>
            <a:off x="548640" y="868680"/>
            <a:ext cx="11064240" cy="640080"/>
          </a:xfrm>
          <a:prstGeom prst="rect">
            <a:avLst/>
          </a:prstGeom>
          <a:noFill/>
          <a:ln/>
        </p:spPr>
        <p:txBody>
          <a:bodyPr wrap="square" lIns="0" tIns="0" rIns="0" bIns="0" rtlCol="0" anchor="ctr"/>
          <a:lstStyle/>
          <a:p>
            <a:pPr indent="0" marL="0">
              <a:buNone/>
            </a:pPr>
            <a:r>
              <a:rPr lang="en-US" sz="3400" b="1" dirty="0">
                <a:solidFill>
                  <a:srgbClr val="102D2C"/>
                </a:solidFill>
                <a:latin typeface="Arial" pitchFamily="34" charset="0"/>
                <a:ea typeface="Arial" pitchFamily="34" charset="-122"/>
                <a:cs typeface="Arial" pitchFamily="34" charset="-120"/>
              </a:rPr>
              <a:t>Expose decisions—not just answers</a:t>
            </a:r>
            <a:endParaRPr lang="en-US" sz="3400" dirty="0"/>
          </a:p>
        </p:txBody>
      </p:sp>
      <p:sp>
        <p:nvSpPr>
          <p:cNvPr id="4" name="Text 2"/>
          <p:cNvSpPr/>
          <p:nvPr/>
        </p:nvSpPr>
        <p:spPr>
          <a:xfrm>
            <a:off x="548640" y="1645920"/>
            <a:ext cx="10881360" cy="5943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A seven-page React interface connects document management, query context and security telemetry.</a:t>
            </a:r>
            <a:endParaRPr lang="en-US" sz="1700" dirty="0"/>
          </a:p>
        </p:txBody>
      </p:sp>
      <p:sp>
        <p:nvSpPr>
          <p:cNvPr id="5" name="Text 3"/>
          <p:cNvSpPr/>
          <p:nvPr/>
        </p:nvSpPr>
        <p:spPr>
          <a:xfrm>
            <a:off x="548640" y="6419088"/>
            <a:ext cx="9144000" cy="182880"/>
          </a:xfrm>
          <a:prstGeom prst="rect">
            <a:avLst/>
          </a:prstGeom>
          <a:noFill/>
          <a:ln/>
        </p:spPr>
        <p:txBody>
          <a:bodyPr wrap="square" lIns="0" tIns="0" rIns="0" bIns="0" rtlCol="0" anchor="ctr"/>
          <a:lstStyle/>
          <a:p>
            <a:pPr indent="0" marL="0">
              <a:buNone/>
            </a:pPr>
            <a:r>
              <a:rPr lang="en-US" sz="1000" dirty="0">
                <a:solidFill>
                  <a:srgbClr val="526663"/>
                </a:solidFill>
                <a:latin typeface="Arial" pitchFamily="34" charset="0"/>
                <a:ea typeface="Arial" pitchFamily="34" charset="-122"/>
                <a:cs typeface="Arial" pitchFamily="34" charset="-120"/>
              </a:rPr>
              <a:t>TrustRAG  /  Academic prototype  /  17 Sep 2026</a:t>
            </a:r>
            <a:endParaRPr lang="en-US" sz="1000" dirty="0"/>
          </a:p>
        </p:txBody>
      </p:sp>
      <p:sp>
        <p:nvSpPr>
          <p:cNvPr id="6" name="Text 4"/>
          <p:cNvSpPr/>
          <p:nvPr/>
        </p:nvSpPr>
        <p:spPr>
          <a:xfrm>
            <a:off x="11018520" y="6382512"/>
            <a:ext cx="594360" cy="274320"/>
          </a:xfrm>
          <a:prstGeom prst="rect">
            <a:avLst/>
          </a:prstGeom>
          <a:noFill/>
          <a:ln/>
        </p:spPr>
        <p:txBody>
          <a:bodyPr wrap="square" lIns="0" tIns="0" rIns="0" bIns="0" rtlCol="0" anchor="ctr"/>
          <a:lstStyle/>
          <a:p>
            <a:pPr algn="r" indent="0" marL="0">
              <a:buNone/>
            </a:pPr>
            <a:r>
              <a:rPr lang="en-US" sz="1100" b="1" dirty="0">
                <a:solidFill>
                  <a:srgbClr val="007D70"/>
                </a:solidFill>
                <a:latin typeface="Arial" pitchFamily="34" charset="0"/>
                <a:ea typeface="Arial" pitchFamily="34" charset="-122"/>
                <a:cs typeface="Arial" pitchFamily="34" charset="-120"/>
              </a:rPr>
              <a:t>09</a:t>
            </a:r>
            <a:endParaRPr lang="en-US" sz="1100" dirty="0"/>
          </a:p>
        </p:txBody>
      </p:sp>
      <p:sp>
        <p:nvSpPr>
          <p:cNvPr id="7" name="Shape 5"/>
          <p:cNvSpPr/>
          <p:nvPr/>
        </p:nvSpPr>
        <p:spPr>
          <a:xfrm>
            <a:off x="548640" y="2514600"/>
            <a:ext cx="2139696" cy="557784"/>
          </a:xfrm>
          <a:prstGeom prst="roundRect">
            <a:avLst>
              <a:gd name="adj" fmla="val 19672"/>
            </a:avLst>
          </a:prstGeom>
          <a:solidFill>
            <a:srgbClr val="FFFFFF"/>
          </a:solidFill>
          <a:ln w="12700">
            <a:solidFill>
              <a:srgbClr val="FFFFFF"/>
            </a:solidFill>
            <a:prstDash val="solid"/>
          </a:ln>
        </p:spPr>
      </p:sp>
      <p:sp>
        <p:nvSpPr>
          <p:cNvPr id="8" name="Text 6"/>
          <p:cNvSpPr/>
          <p:nvPr/>
        </p:nvSpPr>
        <p:spPr>
          <a:xfrm>
            <a:off x="722376" y="2633472"/>
            <a:ext cx="1792224" cy="301752"/>
          </a:xfrm>
          <a:prstGeom prst="rect">
            <a:avLst/>
          </a:prstGeom>
          <a:noFill/>
          <a:ln/>
        </p:spPr>
        <p:txBody>
          <a:bodyPr wrap="square" lIns="0" tIns="0" rIns="0" bIns="0" rtlCol="0" anchor="ctr"/>
          <a:lstStyle/>
          <a:p>
            <a:pPr indent="0" marL="0">
              <a:buNone/>
            </a:pPr>
            <a:r>
              <a:rPr lang="en-US" sz="1700" b="1" dirty="0">
                <a:solidFill>
                  <a:srgbClr val="102D2C"/>
                </a:solidFill>
                <a:latin typeface="Arial" pitchFamily="34" charset="0"/>
                <a:ea typeface="Arial" pitchFamily="34" charset="-122"/>
                <a:cs typeface="Arial" pitchFamily="34" charset="-120"/>
              </a:rPr>
              <a:t>Dashboard</a:t>
            </a:r>
            <a:endParaRPr lang="en-US" sz="1700" dirty="0"/>
          </a:p>
        </p:txBody>
      </p:sp>
      <p:sp>
        <p:nvSpPr>
          <p:cNvPr id="9" name="Shape 7"/>
          <p:cNvSpPr/>
          <p:nvPr/>
        </p:nvSpPr>
        <p:spPr>
          <a:xfrm>
            <a:off x="2962656" y="2514600"/>
            <a:ext cx="2139696" cy="557784"/>
          </a:xfrm>
          <a:prstGeom prst="roundRect">
            <a:avLst>
              <a:gd name="adj" fmla="val 19672"/>
            </a:avLst>
          </a:prstGeom>
          <a:solidFill>
            <a:srgbClr val="FFFFFF"/>
          </a:solidFill>
          <a:ln w="12700">
            <a:solidFill>
              <a:srgbClr val="FFFFFF"/>
            </a:solidFill>
            <a:prstDash val="solid"/>
          </a:ln>
        </p:spPr>
      </p:sp>
      <p:sp>
        <p:nvSpPr>
          <p:cNvPr id="10" name="Text 8"/>
          <p:cNvSpPr/>
          <p:nvPr/>
        </p:nvSpPr>
        <p:spPr>
          <a:xfrm>
            <a:off x="3136392" y="2633472"/>
            <a:ext cx="1792224" cy="301752"/>
          </a:xfrm>
          <a:prstGeom prst="rect">
            <a:avLst/>
          </a:prstGeom>
          <a:noFill/>
          <a:ln/>
        </p:spPr>
        <p:txBody>
          <a:bodyPr wrap="square" lIns="0" tIns="0" rIns="0" bIns="0" rtlCol="0" anchor="ctr"/>
          <a:lstStyle/>
          <a:p>
            <a:pPr indent="0" marL="0">
              <a:buNone/>
            </a:pPr>
            <a:r>
              <a:rPr lang="en-US" sz="1700" b="1" dirty="0">
                <a:solidFill>
                  <a:srgbClr val="102D2C"/>
                </a:solidFill>
                <a:latin typeface="Arial" pitchFamily="34" charset="0"/>
                <a:ea typeface="Arial" pitchFamily="34" charset="-122"/>
                <a:cs typeface="Arial" pitchFamily="34" charset="-120"/>
              </a:rPr>
              <a:t>Documents</a:t>
            </a:r>
            <a:endParaRPr lang="en-US" sz="1700" dirty="0"/>
          </a:p>
        </p:txBody>
      </p:sp>
      <p:sp>
        <p:nvSpPr>
          <p:cNvPr id="11" name="Shape 9"/>
          <p:cNvSpPr/>
          <p:nvPr/>
        </p:nvSpPr>
        <p:spPr>
          <a:xfrm>
            <a:off x="548640" y="3273552"/>
            <a:ext cx="2139696" cy="557784"/>
          </a:xfrm>
          <a:prstGeom prst="roundRect">
            <a:avLst>
              <a:gd name="adj" fmla="val 19672"/>
            </a:avLst>
          </a:prstGeom>
          <a:solidFill>
            <a:srgbClr val="FFFFFF"/>
          </a:solidFill>
          <a:ln w="12700">
            <a:solidFill>
              <a:srgbClr val="FFFFFF"/>
            </a:solidFill>
            <a:prstDash val="solid"/>
          </a:ln>
        </p:spPr>
      </p:sp>
      <p:sp>
        <p:nvSpPr>
          <p:cNvPr id="12" name="Text 10"/>
          <p:cNvSpPr/>
          <p:nvPr/>
        </p:nvSpPr>
        <p:spPr>
          <a:xfrm>
            <a:off x="722376" y="3392424"/>
            <a:ext cx="1792224" cy="301752"/>
          </a:xfrm>
          <a:prstGeom prst="rect">
            <a:avLst/>
          </a:prstGeom>
          <a:noFill/>
          <a:ln/>
        </p:spPr>
        <p:txBody>
          <a:bodyPr wrap="square" lIns="0" tIns="0" rIns="0" bIns="0" rtlCol="0" anchor="ctr"/>
          <a:lstStyle/>
          <a:p>
            <a:pPr indent="0" marL="0">
              <a:buNone/>
            </a:pPr>
            <a:r>
              <a:rPr lang="en-US" sz="1700" b="1" dirty="0">
                <a:solidFill>
                  <a:srgbClr val="102D2C"/>
                </a:solidFill>
                <a:latin typeface="Arial" pitchFamily="34" charset="0"/>
                <a:ea typeface="Arial" pitchFamily="34" charset="-122"/>
                <a:cs typeface="Arial" pitchFamily="34" charset="-120"/>
              </a:rPr>
              <a:t>Chat</a:t>
            </a:r>
            <a:endParaRPr lang="en-US" sz="1700" dirty="0"/>
          </a:p>
        </p:txBody>
      </p:sp>
      <p:sp>
        <p:nvSpPr>
          <p:cNvPr id="13" name="Shape 11"/>
          <p:cNvSpPr/>
          <p:nvPr/>
        </p:nvSpPr>
        <p:spPr>
          <a:xfrm>
            <a:off x="2962656" y="3273552"/>
            <a:ext cx="2139696" cy="557784"/>
          </a:xfrm>
          <a:prstGeom prst="roundRect">
            <a:avLst>
              <a:gd name="adj" fmla="val 19672"/>
            </a:avLst>
          </a:prstGeom>
          <a:solidFill>
            <a:srgbClr val="FFFFFF"/>
          </a:solidFill>
          <a:ln w="12700">
            <a:solidFill>
              <a:srgbClr val="FFFFFF"/>
            </a:solidFill>
            <a:prstDash val="solid"/>
          </a:ln>
        </p:spPr>
      </p:sp>
      <p:sp>
        <p:nvSpPr>
          <p:cNvPr id="14" name="Text 12"/>
          <p:cNvSpPr/>
          <p:nvPr/>
        </p:nvSpPr>
        <p:spPr>
          <a:xfrm>
            <a:off x="3136392" y="3392424"/>
            <a:ext cx="1792224" cy="301752"/>
          </a:xfrm>
          <a:prstGeom prst="rect">
            <a:avLst/>
          </a:prstGeom>
          <a:noFill/>
          <a:ln/>
        </p:spPr>
        <p:txBody>
          <a:bodyPr wrap="square" lIns="0" tIns="0" rIns="0" bIns="0" rtlCol="0" anchor="ctr"/>
          <a:lstStyle/>
          <a:p>
            <a:pPr indent="0" marL="0">
              <a:buNone/>
            </a:pPr>
            <a:r>
              <a:rPr lang="en-US" sz="1700" b="1" dirty="0">
                <a:solidFill>
                  <a:srgbClr val="102D2C"/>
                </a:solidFill>
                <a:latin typeface="Arial" pitchFamily="34" charset="0"/>
                <a:ea typeface="Arial" pitchFamily="34" charset="-122"/>
                <a:cs typeface="Arial" pitchFamily="34" charset="-120"/>
              </a:rPr>
              <a:t>Evaluation</a:t>
            </a:r>
            <a:endParaRPr lang="en-US" sz="1700" dirty="0"/>
          </a:p>
        </p:txBody>
      </p:sp>
      <p:sp>
        <p:nvSpPr>
          <p:cNvPr id="15" name="Shape 13"/>
          <p:cNvSpPr/>
          <p:nvPr/>
        </p:nvSpPr>
        <p:spPr>
          <a:xfrm>
            <a:off x="548640" y="4032504"/>
            <a:ext cx="2139696" cy="557784"/>
          </a:xfrm>
          <a:prstGeom prst="roundRect">
            <a:avLst>
              <a:gd name="adj" fmla="val 19672"/>
            </a:avLst>
          </a:prstGeom>
          <a:solidFill>
            <a:srgbClr val="FFFFFF"/>
          </a:solidFill>
          <a:ln w="12700">
            <a:solidFill>
              <a:srgbClr val="FFFFFF"/>
            </a:solidFill>
            <a:prstDash val="solid"/>
          </a:ln>
        </p:spPr>
      </p:sp>
      <p:sp>
        <p:nvSpPr>
          <p:cNvPr id="16" name="Text 14"/>
          <p:cNvSpPr/>
          <p:nvPr/>
        </p:nvSpPr>
        <p:spPr>
          <a:xfrm>
            <a:off x="722376" y="4151376"/>
            <a:ext cx="1792224" cy="301752"/>
          </a:xfrm>
          <a:prstGeom prst="rect">
            <a:avLst/>
          </a:prstGeom>
          <a:noFill/>
          <a:ln/>
        </p:spPr>
        <p:txBody>
          <a:bodyPr wrap="square" lIns="0" tIns="0" rIns="0" bIns="0" rtlCol="0" anchor="ctr"/>
          <a:lstStyle/>
          <a:p>
            <a:pPr indent="0" marL="0">
              <a:buNone/>
            </a:pPr>
            <a:r>
              <a:rPr lang="en-US" sz="1700" b="1" dirty="0">
                <a:solidFill>
                  <a:srgbClr val="102D2C"/>
                </a:solidFill>
                <a:latin typeface="Arial" pitchFamily="34" charset="0"/>
                <a:ea typeface="Arial" pitchFamily="34" charset="-122"/>
                <a:cs typeface="Arial" pitchFamily="34" charset="-120"/>
              </a:rPr>
              <a:t>Audit Log</a:t>
            </a:r>
            <a:endParaRPr lang="en-US" sz="1700" dirty="0"/>
          </a:p>
        </p:txBody>
      </p:sp>
      <p:sp>
        <p:nvSpPr>
          <p:cNvPr id="17" name="Shape 15"/>
          <p:cNvSpPr/>
          <p:nvPr/>
        </p:nvSpPr>
        <p:spPr>
          <a:xfrm>
            <a:off x="2962656" y="4032504"/>
            <a:ext cx="2139696" cy="557784"/>
          </a:xfrm>
          <a:prstGeom prst="roundRect">
            <a:avLst>
              <a:gd name="adj" fmla="val 19672"/>
            </a:avLst>
          </a:prstGeom>
          <a:solidFill>
            <a:srgbClr val="FFFFFF"/>
          </a:solidFill>
          <a:ln w="12700">
            <a:solidFill>
              <a:srgbClr val="FFFFFF"/>
            </a:solidFill>
            <a:prstDash val="solid"/>
          </a:ln>
        </p:spPr>
      </p:sp>
      <p:sp>
        <p:nvSpPr>
          <p:cNvPr id="18" name="Text 16"/>
          <p:cNvSpPr/>
          <p:nvPr/>
        </p:nvSpPr>
        <p:spPr>
          <a:xfrm>
            <a:off x="3136392" y="4151376"/>
            <a:ext cx="1792224" cy="301752"/>
          </a:xfrm>
          <a:prstGeom prst="rect">
            <a:avLst/>
          </a:prstGeom>
          <a:noFill/>
          <a:ln/>
        </p:spPr>
        <p:txBody>
          <a:bodyPr wrap="square" lIns="0" tIns="0" rIns="0" bIns="0" rtlCol="0" anchor="ctr"/>
          <a:lstStyle/>
          <a:p>
            <a:pPr indent="0" marL="0">
              <a:buNone/>
            </a:pPr>
            <a:r>
              <a:rPr lang="en-US" sz="1700" b="1" dirty="0">
                <a:solidFill>
                  <a:srgbClr val="102D2C"/>
                </a:solidFill>
                <a:latin typeface="Arial" pitchFamily="34" charset="0"/>
                <a:ea typeface="Arial" pitchFamily="34" charset="-122"/>
                <a:cs typeface="Arial" pitchFamily="34" charset="-120"/>
              </a:rPr>
              <a:t>Knowledge Base</a:t>
            </a:r>
            <a:endParaRPr lang="en-US" sz="1700" dirty="0"/>
          </a:p>
        </p:txBody>
      </p:sp>
      <p:sp>
        <p:nvSpPr>
          <p:cNvPr id="19" name="Shape 17"/>
          <p:cNvSpPr/>
          <p:nvPr/>
        </p:nvSpPr>
        <p:spPr>
          <a:xfrm>
            <a:off x="548640" y="4791456"/>
            <a:ext cx="2139696" cy="557784"/>
          </a:xfrm>
          <a:prstGeom prst="roundRect">
            <a:avLst>
              <a:gd name="adj" fmla="val 19672"/>
            </a:avLst>
          </a:prstGeom>
          <a:solidFill>
            <a:srgbClr val="FFFFFF"/>
          </a:solidFill>
          <a:ln w="12700">
            <a:solidFill>
              <a:srgbClr val="FFFFFF"/>
            </a:solidFill>
            <a:prstDash val="solid"/>
          </a:ln>
        </p:spPr>
      </p:sp>
      <p:sp>
        <p:nvSpPr>
          <p:cNvPr id="20" name="Text 18"/>
          <p:cNvSpPr/>
          <p:nvPr/>
        </p:nvSpPr>
        <p:spPr>
          <a:xfrm>
            <a:off x="722376" y="4910328"/>
            <a:ext cx="1792224" cy="301752"/>
          </a:xfrm>
          <a:prstGeom prst="rect">
            <a:avLst/>
          </a:prstGeom>
          <a:noFill/>
          <a:ln/>
        </p:spPr>
        <p:txBody>
          <a:bodyPr wrap="square" lIns="0" tIns="0" rIns="0" bIns="0" rtlCol="0" anchor="ctr"/>
          <a:lstStyle/>
          <a:p>
            <a:pPr indent="0" marL="0">
              <a:buNone/>
            </a:pPr>
            <a:r>
              <a:rPr lang="en-US" sz="1700" b="1" dirty="0">
                <a:solidFill>
                  <a:srgbClr val="102D2C"/>
                </a:solidFill>
                <a:latin typeface="Arial" pitchFamily="34" charset="0"/>
                <a:ea typeface="Arial" pitchFamily="34" charset="-122"/>
                <a:cs typeface="Arial" pitchFamily="34" charset="-120"/>
              </a:rPr>
              <a:t>Status</a:t>
            </a:r>
            <a:endParaRPr lang="en-US" sz="1700" dirty="0"/>
          </a:p>
        </p:txBody>
      </p:sp>
      <p:sp>
        <p:nvSpPr>
          <p:cNvPr id="21" name="Shape 19"/>
          <p:cNvSpPr/>
          <p:nvPr/>
        </p:nvSpPr>
        <p:spPr>
          <a:xfrm>
            <a:off x="5715000" y="2514600"/>
            <a:ext cx="5916168" cy="3456432"/>
          </a:xfrm>
          <a:prstGeom prst="roundRect">
            <a:avLst>
              <a:gd name="adj" fmla="val 3175"/>
            </a:avLst>
          </a:prstGeom>
          <a:solidFill>
            <a:srgbClr val="102D2C"/>
          </a:solidFill>
          <a:ln w="12700">
            <a:solidFill>
              <a:srgbClr val="102D2C"/>
            </a:solidFill>
            <a:prstDash val="solid"/>
          </a:ln>
        </p:spPr>
      </p:sp>
      <p:pic>
        <p:nvPicPr>
          <p:cNvPr id="22" name="Image 0" descr="/home/pavan/TrustRAG/ppt_assets/icons/eye-teal.png">    </p:cNvPr>
          <p:cNvPicPr>
            <a:picLocks noChangeAspect="1"/>
          </p:cNvPicPr>
          <p:nvPr/>
        </p:nvPicPr>
        <p:blipFill>
          <a:blip r:embed="rId1"/>
          <a:stretch>
            <a:fillRect/>
          </a:stretch>
        </p:blipFill>
        <p:spPr>
          <a:xfrm>
            <a:off x="6016752" y="2807208"/>
            <a:ext cx="457200" cy="457200"/>
          </a:xfrm>
          <a:prstGeom prst="rect">
            <a:avLst/>
          </a:prstGeom>
        </p:spPr>
      </p:pic>
      <p:sp>
        <p:nvSpPr>
          <p:cNvPr id="23" name="Text 20"/>
          <p:cNvSpPr/>
          <p:nvPr/>
        </p:nvSpPr>
        <p:spPr>
          <a:xfrm>
            <a:off x="6675120" y="2770632"/>
            <a:ext cx="4526280" cy="45720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Upload / query event traces</a:t>
            </a:r>
            <a:endParaRPr lang="en-US" sz="2300" dirty="0"/>
          </a:p>
        </p:txBody>
      </p:sp>
      <p:sp>
        <p:nvSpPr>
          <p:cNvPr id="24" name="Text 21"/>
          <p:cNvSpPr/>
          <p:nvPr/>
        </p:nvSpPr>
        <p:spPr>
          <a:xfrm>
            <a:off x="6035040" y="3648456"/>
            <a:ext cx="5303520" cy="1261872"/>
          </a:xfrm>
          <a:prstGeom prst="rect">
            <a:avLst/>
          </a:prstGeom>
          <a:noFill/>
          <a:ln/>
        </p:spPr>
        <p:txBody>
          <a:bodyPr wrap="square" lIns="0" tIns="0" rIns="0" bIns="0" rtlCol="0" anchor="ctr"/>
          <a:lstStyle/>
          <a:p>
            <a:pPr indent="0" marL="0">
              <a:buNone/>
            </a:pPr>
            <a:r>
              <a:rPr lang="en-US" sz="1900" b="1" dirty="0">
                <a:solidFill>
                  <a:srgbClr val="D3E5DF"/>
                </a:solidFill>
                <a:latin typeface="Arial" pitchFamily="34" charset="0"/>
                <a:ea typeface="Arial" pitchFamily="34" charset="-122"/>
                <a:cs typeface="Arial" pitchFamily="34" charset="-120"/>
              </a:rPr>
              <a:t>Request ID, outcome, stages and duration</a:t>
            </a:r>
            <a:endParaRPr lang="en-US" sz="1900" dirty="0"/>
          </a:p>
          <a:p>
            <a:pPr indent="0" marL="0">
              <a:buNone/>
            </a:pPr>
            <a:r>
              <a:rPr lang="en-US" sz="1900" b="1" dirty="0">
                <a:solidFill>
                  <a:srgbClr val="D3E5DF"/>
                </a:solidFill>
                <a:latin typeface="Arial" pitchFamily="34" charset="0"/>
                <a:ea typeface="Arial" pitchFamily="34" charset="-122"/>
                <a:cs typeface="Arial" pitchFamily="34" charset="-120"/>
              </a:rPr>
              <a:t>Privileged event filters and expandable traces</a:t>
            </a:r>
            <a:endParaRPr lang="en-US" sz="1900" dirty="0"/>
          </a:p>
          <a:p>
            <a:pPr indent="0" marL="0">
              <a:buNone/>
            </a:pPr>
            <a:r>
              <a:rPr lang="en-US" sz="1900" b="1" dirty="0">
                <a:solidFill>
                  <a:srgbClr val="D3E5DF"/>
                </a:solidFill>
                <a:latin typeface="Arial" pitchFamily="34" charset="0"/>
                <a:ea typeface="Arial" pitchFamily="34" charset="-122"/>
                <a:cs typeface="Arial" pitchFamily="34" charset="-120"/>
              </a:rPr>
              <a:t>Current call sites omit prompts, text and secrets</a:t>
            </a:r>
            <a:endParaRPr lang="en-US" sz="1900" dirty="0"/>
          </a:p>
        </p:txBody>
      </p:sp>
      <p:sp>
        <p:nvSpPr>
          <p:cNvPr id="25" name="Text 22"/>
          <p:cNvSpPr/>
          <p:nvPr/>
        </p:nvSpPr>
        <p:spPr>
          <a:xfrm>
            <a:off x="6035040" y="5276088"/>
            <a:ext cx="5257800" cy="475488"/>
          </a:xfrm>
          <a:prstGeom prst="rect">
            <a:avLst/>
          </a:prstGeom>
          <a:noFill/>
          <a:ln/>
        </p:spPr>
        <p:txBody>
          <a:bodyPr wrap="square" lIns="0" tIns="0" rIns="0" bIns="0" rtlCol="0" anchor="ctr"/>
          <a:lstStyle/>
          <a:p>
            <a:pPr indent="0" marL="0">
              <a:buNone/>
            </a:pPr>
            <a:r>
              <a:rPr lang="en-US" sz="1600" b="1" dirty="0">
                <a:solidFill>
                  <a:srgbClr val="70E1C0"/>
                </a:solidFill>
                <a:latin typeface="Arial" pitchFamily="34" charset="0"/>
                <a:ea typeface="Arial" pitchFamily="34" charset="-122"/>
                <a:cs typeface="Arial" pitchFamily="34" charset="-120"/>
              </a:rPr>
              <a:t>SQLite audit and JSON provenance are mutable;</a:t>
            </a:r>
            <a:endParaRPr lang="en-US" sz="1600" dirty="0"/>
          </a:p>
          <a:p>
            <a:pPr indent="0" marL="0">
              <a:buNone/>
            </a:pPr>
            <a:r>
              <a:rPr lang="en-US" sz="1600" b="1" dirty="0">
                <a:solidFill>
                  <a:srgbClr val="70E1C0"/>
                </a:solidFill>
                <a:latin typeface="Arial" pitchFamily="34" charset="0"/>
                <a:ea typeface="Arial" pitchFamily="34" charset="-122"/>
                <a:cs typeface="Arial" pitchFamily="34" charset="-120"/>
              </a:rPr>
              <a:t>neither is cryptographically tamper-evident.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6"/>
        </a:solidFill>
      </p:bgPr>
    </p:bg>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100" b="1" spc="150" kern="0" dirty="0">
                <a:solidFill>
                  <a:srgbClr val="007D70"/>
                </a:solidFill>
                <a:latin typeface="Arial" pitchFamily="34" charset="0"/>
                <a:ea typeface="Arial" pitchFamily="34" charset="-122"/>
                <a:cs typeface="Arial" pitchFamily="34" charset="-120"/>
              </a:rPr>
              <a:t>09 / VERIFICATION</a:t>
            </a:r>
            <a:endParaRPr lang="en-US" sz="1100" dirty="0"/>
          </a:p>
        </p:txBody>
      </p:sp>
      <p:sp>
        <p:nvSpPr>
          <p:cNvPr id="3" name="Text 1"/>
          <p:cNvSpPr/>
          <p:nvPr/>
        </p:nvSpPr>
        <p:spPr>
          <a:xfrm>
            <a:off x="548640" y="868680"/>
            <a:ext cx="11064240" cy="640080"/>
          </a:xfrm>
          <a:prstGeom prst="rect">
            <a:avLst/>
          </a:prstGeom>
          <a:noFill/>
          <a:ln/>
        </p:spPr>
        <p:txBody>
          <a:bodyPr wrap="square" lIns="0" tIns="0" rIns="0" bIns="0" rtlCol="0" anchor="ctr"/>
          <a:lstStyle/>
          <a:p>
            <a:pPr indent="0" marL="0">
              <a:buNone/>
            </a:pPr>
            <a:r>
              <a:rPr lang="en-US" sz="3400" b="1" dirty="0">
                <a:solidFill>
                  <a:srgbClr val="102D2C"/>
                </a:solidFill>
                <a:latin typeface="Arial" pitchFamily="34" charset="0"/>
                <a:ea typeface="Arial" pitchFamily="34" charset="-122"/>
                <a:cs typeface="Arial" pitchFamily="34" charset="-120"/>
              </a:rPr>
              <a:t>Implemented controls, bounded evidence</a:t>
            </a:r>
            <a:endParaRPr lang="en-US" sz="3400" dirty="0"/>
          </a:p>
        </p:txBody>
      </p:sp>
      <p:sp>
        <p:nvSpPr>
          <p:cNvPr id="4" name="Text 2"/>
          <p:cNvSpPr/>
          <p:nvPr/>
        </p:nvSpPr>
        <p:spPr>
          <a:xfrm>
            <a:off x="548640" y="1645920"/>
            <a:ext cx="10881360" cy="5943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Reported verification from the project handoff on 17 September 2026—not a new run for this deck.</a:t>
            </a:r>
            <a:endParaRPr lang="en-US" sz="1700" dirty="0"/>
          </a:p>
        </p:txBody>
      </p:sp>
      <p:sp>
        <p:nvSpPr>
          <p:cNvPr id="5" name="Text 3"/>
          <p:cNvSpPr/>
          <p:nvPr/>
        </p:nvSpPr>
        <p:spPr>
          <a:xfrm>
            <a:off x="548640" y="6419088"/>
            <a:ext cx="9144000" cy="182880"/>
          </a:xfrm>
          <a:prstGeom prst="rect">
            <a:avLst/>
          </a:prstGeom>
          <a:noFill/>
          <a:ln/>
        </p:spPr>
        <p:txBody>
          <a:bodyPr wrap="square" lIns="0" tIns="0" rIns="0" bIns="0" rtlCol="0" anchor="ctr"/>
          <a:lstStyle/>
          <a:p>
            <a:pPr indent="0" marL="0">
              <a:buNone/>
            </a:pPr>
            <a:r>
              <a:rPr lang="en-US" sz="1000" dirty="0">
                <a:solidFill>
                  <a:srgbClr val="526663"/>
                </a:solidFill>
                <a:latin typeface="Arial" pitchFamily="34" charset="0"/>
                <a:ea typeface="Arial" pitchFamily="34" charset="-122"/>
                <a:cs typeface="Arial" pitchFamily="34" charset="-120"/>
              </a:rPr>
              <a:t>TrustRAG  /  Academic prototype  /  17 Sep 2026</a:t>
            </a:r>
            <a:endParaRPr lang="en-US" sz="1000" dirty="0"/>
          </a:p>
        </p:txBody>
      </p:sp>
      <p:sp>
        <p:nvSpPr>
          <p:cNvPr id="6" name="Text 4"/>
          <p:cNvSpPr/>
          <p:nvPr/>
        </p:nvSpPr>
        <p:spPr>
          <a:xfrm>
            <a:off x="11018520" y="6382512"/>
            <a:ext cx="594360" cy="274320"/>
          </a:xfrm>
          <a:prstGeom prst="rect">
            <a:avLst/>
          </a:prstGeom>
          <a:noFill/>
          <a:ln/>
        </p:spPr>
        <p:txBody>
          <a:bodyPr wrap="square" lIns="0" tIns="0" rIns="0" bIns="0" rtlCol="0" anchor="ctr"/>
          <a:lstStyle/>
          <a:p>
            <a:pPr algn="r" indent="0" marL="0">
              <a:buNone/>
            </a:pPr>
            <a:r>
              <a:rPr lang="en-US" sz="1100" b="1" dirty="0">
                <a:solidFill>
                  <a:srgbClr val="007D70"/>
                </a:solidFill>
                <a:latin typeface="Arial" pitchFamily="34" charset="0"/>
                <a:ea typeface="Arial" pitchFamily="34" charset="-122"/>
                <a:cs typeface="Arial" pitchFamily="34" charset="-120"/>
              </a:rPr>
              <a:t>10</a:t>
            </a:r>
            <a:endParaRPr lang="en-US" sz="1100" dirty="0"/>
          </a:p>
        </p:txBody>
      </p:sp>
      <p:sp>
        <p:nvSpPr>
          <p:cNvPr id="7" name="Shape 5"/>
          <p:cNvSpPr/>
          <p:nvPr/>
        </p:nvSpPr>
        <p:spPr>
          <a:xfrm>
            <a:off x="548640" y="2560320"/>
            <a:ext cx="2926080" cy="3383280"/>
          </a:xfrm>
          <a:prstGeom prst="roundRect">
            <a:avLst>
              <a:gd name="adj" fmla="val 3750"/>
            </a:avLst>
          </a:prstGeom>
          <a:solidFill>
            <a:srgbClr val="102D2C"/>
          </a:solidFill>
          <a:ln w="12700">
            <a:solidFill>
              <a:srgbClr val="102D2C"/>
            </a:solidFill>
            <a:prstDash val="solid"/>
          </a:ln>
        </p:spPr>
      </p:sp>
      <p:sp>
        <p:nvSpPr>
          <p:cNvPr id="8" name="Text 6"/>
          <p:cNvSpPr/>
          <p:nvPr/>
        </p:nvSpPr>
        <p:spPr>
          <a:xfrm>
            <a:off x="841248" y="2825496"/>
            <a:ext cx="2286000" cy="1051560"/>
          </a:xfrm>
          <a:prstGeom prst="rect">
            <a:avLst/>
          </a:prstGeom>
          <a:noFill/>
          <a:ln/>
        </p:spPr>
        <p:txBody>
          <a:bodyPr wrap="square" lIns="0" tIns="0" rIns="0" bIns="0" rtlCol="0" anchor="ctr"/>
          <a:lstStyle/>
          <a:p>
            <a:pPr indent="0" marL="0">
              <a:buNone/>
            </a:pPr>
            <a:r>
              <a:rPr lang="en-US" sz="6800" b="1" dirty="0">
                <a:solidFill>
                  <a:srgbClr val="70E1C0"/>
                </a:solidFill>
                <a:latin typeface="Arial" pitchFamily="34" charset="0"/>
                <a:ea typeface="Arial" pitchFamily="34" charset="-122"/>
                <a:cs typeface="Arial" pitchFamily="34" charset="-120"/>
              </a:rPr>
              <a:t>67</a:t>
            </a:r>
            <a:endParaRPr lang="en-US" sz="6800" dirty="0"/>
          </a:p>
        </p:txBody>
      </p:sp>
      <p:sp>
        <p:nvSpPr>
          <p:cNvPr id="9" name="Text 7"/>
          <p:cNvSpPr/>
          <p:nvPr/>
        </p:nvSpPr>
        <p:spPr>
          <a:xfrm>
            <a:off x="859536" y="4050792"/>
            <a:ext cx="2304288" cy="621792"/>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automated tests passed</a:t>
            </a:r>
            <a:endParaRPr lang="en-US" sz="2400" dirty="0"/>
          </a:p>
        </p:txBody>
      </p:sp>
      <p:sp>
        <p:nvSpPr>
          <p:cNvPr id="10" name="Text 8"/>
          <p:cNvSpPr/>
          <p:nvPr/>
        </p:nvSpPr>
        <p:spPr>
          <a:xfrm>
            <a:off x="859536" y="5093208"/>
            <a:ext cx="2313432" cy="502920"/>
          </a:xfrm>
          <a:prstGeom prst="rect">
            <a:avLst/>
          </a:prstGeom>
          <a:noFill/>
          <a:ln/>
        </p:spPr>
        <p:txBody>
          <a:bodyPr wrap="square" lIns="0" tIns="0" rIns="0" bIns="0" rtlCol="0" anchor="ctr"/>
          <a:lstStyle/>
          <a:p>
            <a:pPr indent="0" marL="0">
              <a:buNone/>
            </a:pPr>
            <a:r>
              <a:rPr lang="en-US" sz="1500" dirty="0">
                <a:solidFill>
                  <a:srgbClr val="D3E5DF"/>
                </a:solidFill>
                <a:latin typeface="Arial" pitchFamily="34" charset="0"/>
                <a:ea typeface="Arial" pitchFamily="34" charset="-122"/>
                <a:cs typeface="Arial" pitchFamily="34" charset="-120"/>
              </a:rPr>
              <a:t>1 deprecation warning</a:t>
            </a:r>
            <a:endParaRPr lang="en-US" sz="1500" dirty="0"/>
          </a:p>
          <a:p>
            <a:pPr indent="0" marL="0">
              <a:buNone/>
            </a:pPr>
            <a:r>
              <a:rPr lang="en-US" sz="1500" dirty="0">
                <a:solidFill>
                  <a:srgbClr val="D3E5DF"/>
                </a:solidFill>
                <a:latin typeface="Arial" pitchFamily="34" charset="0"/>
                <a:ea typeface="Arial" pitchFamily="34" charset="-122"/>
                <a:cs typeface="Arial" pitchFamily="34" charset="-120"/>
              </a:rPr>
              <a:t>Frontend build + lint passed</a:t>
            </a:r>
            <a:endParaRPr lang="en-US" sz="1500" dirty="0"/>
          </a:p>
        </p:txBody>
      </p:sp>
      <p:sp>
        <p:nvSpPr>
          <p:cNvPr id="11" name="Text 9"/>
          <p:cNvSpPr/>
          <p:nvPr/>
        </p:nvSpPr>
        <p:spPr>
          <a:xfrm>
            <a:off x="3840480" y="2660904"/>
            <a:ext cx="7589520" cy="438912"/>
          </a:xfrm>
          <a:prstGeom prst="rect">
            <a:avLst/>
          </a:prstGeom>
          <a:noFill/>
          <a:ln/>
        </p:spPr>
        <p:txBody>
          <a:bodyPr wrap="square" lIns="0" tIns="0" rIns="0" bIns="0" rtlCol="0" anchor="ctr"/>
          <a:lstStyle/>
          <a:p>
            <a:pPr indent="0" marL="0">
              <a:buNone/>
            </a:pPr>
            <a:r>
              <a:rPr lang="en-US" sz="2500" b="1" dirty="0">
                <a:solidFill>
                  <a:srgbClr val="102D2C"/>
                </a:solidFill>
                <a:latin typeface="Arial" pitchFamily="34" charset="0"/>
                <a:ea typeface="Arial" pitchFamily="34" charset="-122"/>
                <a:cs typeface="Arial" pitchFamily="34" charset="-120"/>
              </a:rPr>
              <a:t>Four synthetic component scenarios</a:t>
            </a:r>
            <a:endParaRPr lang="en-US" sz="2500" dirty="0"/>
          </a:p>
        </p:txBody>
      </p:sp>
      <p:sp>
        <p:nvSpPr>
          <p:cNvPr id="12" name="Shape 10"/>
          <p:cNvSpPr/>
          <p:nvPr/>
        </p:nvSpPr>
        <p:spPr>
          <a:xfrm>
            <a:off x="3840480" y="3401568"/>
            <a:ext cx="3685032" cy="576072"/>
          </a:xfrm>
          <a:prstGeom prst="roundRect">
            <a:avLst>
              <a:gd name="adj" fmla="val 19048"/>
            </a:avLst>
          </a:prstGeom>
          <a:solidFill>
            <a:srgbClr val="FFFFFF"/>
          </a:solidFill>
          <a:ln w="12700">
            <a:solidFill>
              <a:srgbClr val="FFFFFF"/>
            </a:solidFill>
            <a:prstDash val="solid"/>
          </a:ln>
        </p:spPr>
      </p:sp>
      <p:pic>
        <p:nvPicPr>
          <p:cNvPr id="13" name="Image 0" descr="/home/pavan/TrustRAG/ppt_assets/icons/check-teal.png">    </p:cNvPr>
          <p:cNvPicPr>
            <a:picLocks noChangeAspect="1"/>
          </p:cNvPicPr>
          <p:nvPr/>
        </p:nvPicPr>
        <p:blipFill>
          <a:blip r:embed="rId1"/>
          <a:stretch>
            <a:fillRect/>
          </a:stretch>
        </p:blipFill>
        <p:spPr>
          <a:xfrm>
            <a:off x="3977640" y="3547872"/>
            <a:ext cx="246888" cy="246888"/>
          </a:xfrm>
          <a:prstGeom prst="rect">
            <a:avLst/>
          </a:prstGeom>
        </p:spPr>
      </p:pic>
      <p:sp>
        <p:nvSpPr>
          <p:cNvPr id="14" name="Text 11"/>
          <p:cNvSpPr/>
          <p:nvPr/>
        </p:nvSpPr>
        <p:spPr>
          <a:xfrm>
            <a:off x="4398264" y="3538728"/>
            <a:ext cx="2971800" cy="301752"/>
          </a:xfrm>
          <a:prstGeom prst="rect">
            <a:avLst/>
          </a:prstGeom>
          <a:noFill/>
          <a:ln/>
        </p:spPr>
        <p:txBody>
          <a:bodyPr wrap="square" lIns="0" tIns="0" rIns="0" bIns="0" rtlCol="0" anchor="ctr"/>
          <a:lstStyle/>
          <a:p>
            <a:pPr indent="0" marL="0">
              <a:buNone/>
            </a:pPr>
            <a:r>
              <a:rPr lang="en-US" sz="1700" dirty="0">
                <a:solidFill>
                  <a:srgbClr val="102D2C"/>
                </a:solidFill>
                <a:latin typeface="Arial" pitchFamily="34" charset="0"/>
                <a:ea typeface="Arial" pitchFamily="34" charset="-122"/>
                <a:cs typeface="Arial" pitchFamily="34" charset="-120"/>
              </a:rPr>
              <a:t>Cryptographic tampering</a:t>
            </a:r>
            <a:endParaRPr lang="en-US" sz="1700" dirty="0"/>
          </a:p>
        </p:txBody>
      </p:sp>
      <p:sp>
        <p:nvSpPr>
          <p:cNvPr id="15" name="Shape 12"/>
          <p:cNvSpPr/>
          <p:nvPr/>
        </p:nvSpPr>
        <p:spPr>
          <a:xfrm>
            <a:off x="7808976" y="3401568"/>
            <a:ext cx="3685032" cy="576072"/>
          </a:xfrm>
          <a:prstGeom prst="roundRect">
            <a:avLst>
              <a:gd name="adj" fmla="val 19048"/>
            </a:avLst>
          </a:prstGeom>
          <a:solidFill>
            <a:srgbClr val="FFFFFF"/>
          </a:solidFill>
          <a:ln w="12700">
            <a:solidFill>
              <a:srgbClr val="FFFFFF"/>
            </a:solidFill>
            <a:prstDash val="solid"/>
          </a:ln>
        </p:spPr>
      </p:sp>
      <p:pic>
        <p:nvPicPr>
          <p:cNvPr id="16" name="Image 1" descr="/home/pavan/TrustRAG/ppt_assets/icons/check-teal.png">    </p:cNvPr>
          <p:cNvPicPr>
            <a:picLocks noChangeAspect="1"/>
          </p:cNvPicPr>
          <p:nvPr/>
        </p:nvPicPr>
        <p:blipFill>
          <a:blip r:embed="rId2"/>
          <a:stretch>
            <a:fillRect/>
          </a:stretch>
        </p:blipFill>
        <p:spPr>
          <a:xfrm>
            <a:off x="7946136" y="3547872"/>
            <a:ext cx="246888" cy="246888"/>
          </a:xfrm>
          <a:prstGeom prst="rect">
            <a:avLst/>
          </a:prstGeom>
        </p:spPr>
      </p:pic>
      <p:sp>
        <p:nvSpPr>
          <p:cNvPr id="17" name="Text 13"/>
          <p:cNvSpPr/>
          <p:nvPr/>
        </p:nvSpPr>
        <p:spPr>
          <a:xfrm>
            <a:off x="8366760" y="3538728"/>
            <a:ext cx="2971800" cy="301752"/>
          </a:xfrm>
          <a:prstGeom prst="rect">
            <a:avLst/>
          </a:prstGeom>
          <a:noFill/>
          <a:ln/>
        </p:spPr>
        <p:txBody>
          <a:bodyPr wrap="square" lIns="0" tIns="0" rIns="0" bIns="0" rtlCol="0" anchor="ctr"/>
          <a:lstStyle/>
          <a:p>
            <a:pPr indent="0" marL="0">
              <a:buNone/>
            </a:pPr>
            <a:r>
              <a:rPr lang="en-US" sz="1700" dirty="0">
                <a:solidFill>
                  <a:srgbClr val="102D2C"/>
                </a:solidFill>
                <a:latin typeface="Arial" pitchFamily="34" charset="0"/>
                <a:ea typeface="Arial" pitchFamily="34" charset="-122"/>
                <a:cs typeface="Arial" pitchFamily="34" charset="-120"/>
              </a:rPr>
              <a:t>Indirect prompt injection</a:t>
            </a:r>
            <a:endParaRPr lang="en-US" sz="1700" dirty="0"/>
          </a:p>
        </p:txBody>
      </p:sp>
      <p:sp>
        <p:nvSpPr>
          <p:cNvPr id="18" name="Shape 14"/>
          <p:cNvSpPr/>
          <p:nvPr/>
        </p:nvSpPr>
        <p:spPr>
          <a:xfrm>
            <a:off x="3840480" y="4169664"/>
            <a:ext cx="3685032" cy="576072"/>
          </a:xfrm>
          <a:prstGeom prst="roundRect">
            <a:avLst>
              <a:gd name="adj" fmla="val 19048"/>
            </a:avLst>
          </a:prstGeom>
          <a:solidFill>
            <a:srgbClr val="FFFFFF"/>
          </a:solidFill>
          <a:ln w="12700">
            <a:solidFill>
              <a:srgbClr val="FFFFFF"/>
            </a:solidFill>
            <a:prstDash val="solid"/>
          </a:ln>
        </p:spPr>
      </p:sp>
      <p:pic>
        <p:nvPicPr>
          <p:cNvPr id="19" name="Image 2" descr="/home/pavan/TrustRAG/ppt_assets/icons/check-teal.png">    </p:cNvPr>
          <p:cNvPicPr>
            <a:picLocks noChangeAspect="1"/>
          </p:cNvPicPr>
          <p:nvPr/>
        </p:nvPicPr>
        <p:blipFill>
          <a:blip r:embed="rId3"/>
          <a:stretch>
            <a:fillRect/>
          </a:stretch>
        </p:blipFill>
        <p:spPr>
          <a:xfrm>
            <a:off x="3977640" y="4315968"/>
            <a:ext cx="246888" cy="246888"/>
          </a:xfrm>
          <a:prstGeom prst="rect">
            <a:avLst/>
          </a:prstGeom>
        </p:spPr>
      </p:pic>
      <p:sp>
        <p:nvSpPr>
          <p:cNvPr id="20" name="Text 15"/>
          <p:cNvSpPr/>
          <p:nvPr/>
        </p:nvSpPr>
        <p:spPr>
          <a:xfrm>
            <a:off x="4398264" y="4306824"/>
            <a:ext cx="2971800" cy="301752"/>
          </a:xfrm>
          <a:prstGeom prst="rect">
            <a:avLst/>
          </a:prstGeom>
          <a:noFill/>
          <a:ln/>
        </p:spPr>
        <p:txBody>
          <a:bodyPr wrap="square" lIns="0" tIns="0" rIns="0" bIns="0" rtlCol="0" anchor="ctr"/>
          <a:lstStyle/>
          <a:p>
            <a:pPr indent="0" marL="0">
              <a:buNone/>
            </a:pPr>
            <a:r>
              <a:rPr lang="en-US" sz="1700" dirty="0">
                <a:solidFill>
                  <a:srgbClr val="102D2C"/>
                </a:solidFill>
                <a:latin typeface="Arial" pitchFamily="34" charset="0"/>
                <a:ea typeface="Arial" pitchFamily="34" charset="-122"/>
                <a:cs typeface="Arial" pitchFamily="34" charset="-120"/>
              </a:rPr>
              <a:t>Knowledge poisoning</a:t>
            </a:r>
            <a:endParaRPr lang="en-US" sz="1700" dirty="0"/>
          </a:p>
        </p:txBody>
      </p:sp>
      <p:sp>
        <p:nvSpPr>
          <p:cNvPr id="21" name="Shape 16"/>
          <p:cNvSpPr/>
          <p:nvPr/>
        </p:nvSpPr>
        <p:spPr>
          <a:xfrm>
            <a:off x="7808976" y="4169664"/>
            <a:ext cx="3685032" cy="576072"/>
          </a:xfrm>
          <a:prstGeom prst="roundRect">
            <a:avLst>
              <a:gd name="adj" fmla="val 19048"/>
            </a:avLst>
          </a:prstGeom>
          <a:solidFill>
            <a:srgbClr val="FFFFFF"/>
          </a:solidFill>
          <a:ln w="12700">
            <a:solidFill>
              <a:srgbClr val="FFFFFF"/>
            </a:solidFill>
            <a:prstDash val="solid"/>
          </a:ln>
        </p:spPr>
      </p:sp>
      <p:pic>
        <p:nvPicPr>
          <p:cNvPr id="22" name="Image 3" descr="/home/pavan/TrustRAG/ppt_assets/icons/check-teal.png">    </p:cNvPr>
          <p:cNvPicPr>
            <a:picLocks noChangeAspect="1"/>
          </p:cNvPicPr>
          <p:nvPr/>
        </p:nvPicPr>
        <p:blipFill>
          <a:blip r:embed="rId4"/>
          <a:stretch>
            <a:fillRect/>
          </a:stretch>
        </p:blipFill>
        <p:spPr>
          <a:xfrm>
            <a:off x="7946136" y="4315968"/>
            <a:ext cx="246888" cy="246888"/>
          </a:xfrm>
          <a:prstGeom prst="rect">
            <a:avLst/>
          </a:prstGeom>
        </p:spPr>
      </p:pic>
      <p:sp>
        <p:nvSpPr>
          <p:cNvPr id="23" name="Text 17"/>
          <p:cNvSpPr/>
          <p:nvPr/>
        </p:nvSpPr>
        <p:spPr>
          <a:xfrm>
            <a:off x="8366760" y="4306824"/>
            <a:ext cx="2971800" cy="301752"/>
          </a:xfrm>
          <a:prstGeom prst="rect">
            <a:avLst/>
          </a:prstGeom>
          <a:noFill/>
          <a:ln/>
        </p:spPr>
        <p:txBody>
          <a:bodyPr wrap="square" lIns="0" tIns="0" rIns="0" bIns="0" rtlCol="0" anchor="ctr"/>
          <a:lstStyle/>
          <a:p>
            <a:pPr indent="0" marL="0">
              <a:buNone/>
            </a:pPr>
            <a:r>
              <a:rPr lang="en-US" sz="1700" dirty="0">
                <a:solidFill>
                  <a:srgbClr val="102D2C"/>
                </a:solidFill>
                <a:latin typeface="Arial" pitchFamily="34" charset="0"/>
                <a:ea typeface="Arial" pitchFamily="34" charset="-122"/>
                <a:cs typeface="Arial" pitchFamily="34" charset="-120"/>
              </a:rPr>
              <a:t>RBAC authorization</a:t>
            </a:r>
            <a:endParaRPr lang="en-US" sz="1700" dirty="0"/>
          </a:p>
        </p:txBody>
      </p:sp>
      <p:sp>
        <p:nvSpPr>
          <p:cNvPr id="24" name="Shape 18"/>
          <p:cNvSpPr/>
          <p:nvPr/>
        </p:nvSpPr>
        <p:spPr>
          <a:xfrm>
            <a:off x="3840480" y="5093208"/>
            <a:ext cx="7790688" cy="850392"/>
          </a:xfrm>
          <a:prstGeom prst="roundRect">
            <a:avLst>
              <a:gd name="adj" fmla="val 12903"/>
            </a:avLst>
          </a:prstGeom>
          <a:solidFill>
            <a:srgbClr val="FFF1D8"/>
          </a:solidFill>
          <a:ln w="12700">
            <a:solidFill>
              <a:srgbClr val="FFF1D8"/>
            </a:solidFill>
            <a:prstDash val="solid"/>
          </a:ln>
        </p:spPr>
      </p:sp>
      <p:sp>
        <p:nvSpPr>
          <p:cNvPr id="25" name="Text 19"/>
          <p:cNvSpPr/>
          <p:nvPr/>
        </p:nvSpPr>
        <p:spPr>
          <a:xfrm>
            <a:off x="4087368" y="5248656"/>
            <a:ext cx="7306056" cy="521208"/>
          </a:xfrm>
          <a:prstGeom prst="rect">
            <a:avLst/>
          </a:prstGeom>
          <a:noFill/>
          <a:ln/>
        </p:spPr>
        <p:txBody>
          <a:bodyPr wrap="square" lIns="0" tIns="0" rIns="0" bIns="0" rtlCol="0" anchor="ctr"/>
          <a:lstStyle/>
          <a:p>
            <a:pPr indent="0" marL="0">
              <a:buNone/>
            </a:pPr>
            <a:r>
              <a:rPr lang="en-US" sz="1800" b="1" dirty="0">
                <a:solidFill>
                  <a:srgbClr val="9A6400"/>
                </a:solidFill>
                <a:latin typeface="Arial" pitchFamily="34" charset="0"/>
                <a:ea typeface="Arial" pitchFamily="34" charset="-122"/>
                <a:cs typeface="Arial" pitchFamily="34" charset="-120"/>
              </a:rPr>
              <a:t>Not an end-to-end attack-success benchmark.</a:t>
            </a:r>
            <a:endParaRPr lang="en-US" sz="1800" dirty="0"/>
          </a:p>
          <a:p>
            <a:pPr indent="0" marL="0">
              <a:buNone/>
            </a:pPr>
            <a:r>
              <a:rPr lang="en-US" sz="1800" b="1" dirty="0">
                <a:solidFill>
                  <a:srgbClr val="9A6400"/>
                </a:solidFill>
                <a:latin typeface="Arial" pitchFamily="34" charset="0"/>
                <a:ea typeface="Arial" pitchFamily="34" charset="-122"/>
                <a:cs typeface="Arial" pitchFamily="34" charset="-120"/>
              </a:rPr>
              <a:t>Suite runtime is not measured secure-RAG latency overhead.</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7F6"/>
        </a:solidFill>
      </p:bgPr>
    </p:bg>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100" b="1" spc="150" kern="0" dirty="0">
                <a:solidFill>
                  <a:srgbClr val="007D70"/>
                </a:solidFill>
                <a:latin typeface="Arial" pitchFamily="34" charset="0"/>
                <a:ea typeface="Arial" pitchFamily="34" charset="-122"/>
                <a:cs typeface="Arial" pitchFamily="34" charset="-120"/>
              </a:rPr>
              <a:t>10 / LIMITATIONS &amp; RESEARCH</a:t>
            </a:r>
            <a:endParaRPr lang="en-US" sz="1100" dirty="0"/>
          </a:p>
        </p:txBody>
      </p:sp>
      <p:sp>
        <p:nvSpPr>
          <p:cNvPr id="3" name="Text 1"/>
          <p:cNvSpPr/>
          <p:nvPr/>
        </p:nvSpPr>
        <p:spPr>
          <a:xfrm>
            <a:off x="548640" y="868680"/>
            <a:ext cx="11064240" cy="640080"/>
          </a:xfrm>
          <a:prstGeom prst="rect">
            <a:avLst/>
          </a:prstGeom>
          <a:noFill/>
          <a:ln/>
        </p:spPr>
        <p:txBody>
          <a:bodyPr wrap="square" lIns="0" tIns="0" rIns="0" bIns="0" rtlCol="0" anchor="ctr"/>
          <a:lstStyle/>
          <a:p>
            <a:pPr indent="0" marL="0">
              <a:buNone/>
            </a:pPr>
            <a:r>
              <a:rPr lang="en-US" sz="3400" b="1" dirty="0">
                <a:solidFill>
                  <a:srgbClr val="102D2C"/>
                </a:solidFill>
                <a:latin typeface="Arial" pitchFamily="34" charset="0"/>
                <a:ea typeface="Arial" pitchFamily="34" charset="-122"/>
                <a:cs typeface="Arial" pitchFamily="34" charset="-120"/>
              </a:rPr>
              <a:t>What the prototype does not prove</a:t>
            </a:r>
            <a:endParaRPr lang="en-US" sz="3400" dirty="0"/>
          </a:p>
        </p:txBody>
      </p:sp>
      <p:sp>
        <p:nvSpPr>
          <p:cNvPr id="4" name="Text 2"/>
          <p:cNvSpPr/>
          <p:nvPr/>
        </p:nvSpPr>
        <p:spPr>
          <a:xfrm>
            <a:off x="548640" y="1645920"/>
            <a:ext cx="10881360" cy="594360"/>
          </a:xfrm>
          <a:prstGeom prst="rect">
            <a:avLst/>
          </a:prstGeom>
          <a:noFill/>
          <a:ln/>
        </p:spPr>
        <p:txBody>
          <a:bodyPr wrap="square" lIns="0" tIns="0" rIns="0" bIns="0" rtlCol="0" anchor="ctr"/>
          <a:lstStyle/>
          <a:p>
            <a:pPr indent="0" marL="0">
              <a:buNone/>
            </a:pPr>
            <a:r>
              <a:rPr lang="en-US" sz="1700" dirty="0">
                <a:solidFill>
                  <a:srgbClr val="526663"/>
                </a:solidFill>
                <a:latin typeface="Arial" pitchFamily="34" charset="0"/>
                <a:ea typeface="Arial" pitchFamily="34" charset="-122"/>
                <a:cs typeface="Arial" pitchFamily="34" charset="-120"/>
              </a:rPr>
              <a:t>Security claims must stay within the threat model and the evidence collected.</a:t>
            </a:r>
            <a:endParaRPr lang="en-US" sz="1700" dirty="0"/>
          </a:p>
        </p:txBody>
      </p:sp>
      <p:sp>
        <p:nvSpPr>
          <p:cNvPr id="5" name="Text 3"/>
          <p:cNvSpPr/>
          <p:nvPr/>
        </p:nvSpPr>
        <p:spPr>
          <a:xfrm>
            <a:off x="548640" y="6419088"/>
            <a:ext cx="9144000" cy="182880"/>
          </a:xfrm>
          <a:prstGeom prst="rect">
            <a:avLst/>
          </a:prstGeom>
          <a:noFill/>
          <a:ln/>
        </p:spPr>
        <p:txBody>
          <a:bodyPr wrap="square" lIns="0" tIns="0" rIns="0" bIns="0" rtlCol="0" anchor="ctr"/>
          <a:lstStyle/>
          <a:p>
            <a:pPr indent="0" marL="0">
              <a:buNone/>
            </a:pPr>
            <a:r>
              <a:rPr lang="en-US" sz="1000" dirty="0">
                <a:solidFill>
                  <a:srgbClr val="526663"/>
                </a:solidFill>
                <a:latin typeface="Arial" pitchFamily="34" charset="0"/>
                <a:ea typeface="Arial" pitchFamily="34" charset="-122"/>
                <a:cs typeface="Arial" pitchFamily="34" charset="-120"/>
              </a:rPr>
              <a:t>TrustRAG  /  Academic prototype  /  17 Sep 2026</a:t>
            </a:r>
            <a:endParaRPr lang="en-US" sz="1000" dirty="0"/>
          </a:p>
        </p:txBody>
      </p:sp>
      <p:sp>
        <p:nvSpPr>
          <p:cNvPr id="6" name="Text 4"/>
          <p:cNvSpPr/>
          <p:nvPr/>
        </p:nvSpPr>
        <p:spPr>
          <a:xfrm>
            <a:off x="11018520" y="6382512"/>
            <a:ext cx="594360" cy="274320"/>
          </a:xfrm>
          <a:prstGeom prst="rect">
            <a:avLst/>
          </a:prstGeom>
          <a:noFill/>
          <a:ln/>
        </p:spPr>
        <p:txBody>
          <a:bodyPr wrap="square" lIns="0" tIns="0" rIns="0" bIns="0" rtlCol="0" anchor="ctr"/>
          <a:lstStyle/>
          <a:p>
            <a:pPr algn="r" indent="0" marL="0">
              <a:buNone/>
            </a:pPr>
            <a:r>
              <a:rPr lang="en-US" sz="1100" b="1" dirty="0">
                <a:solidFill>
                  <a:srgbClr val="007D70"/>
                </a:solidFill>
                <a:latin typeface="Arial" pitchFamily="34" charset="0"/>
                <a:ea typeface="Arial" pitchFamily="34" charset="-122"/>
                <a:cs typeface="Arial" pitchFamily="34" charset="-120"/>
              </a:rPr>
              <a:t>11</a:t>
            </a:r>
            <a:endParaRPr lang="en-US" sz="1100" dirty="0"/>
          </a:p>
        </p:txBody>
      </p:sp>
      <p:sp>
        <p:nvSpPr>
          <p:cNvPr id="7" name="Shape 5"/>
          <p:cNvSpPr/>
          <p:nvPr/>
        </p:nvSpPr>
        <p:spPr>
          <a:xfrm>
            <a:off x="548640" y="2423160"/>
            <a:ext cx="11082528" cy="731520"/>
          </a:xfrm>
          <a:prstGeom prst="roundRect">
            <a:avLst>
              <a:gd name="adj" fmla="val 15000"/>
            </a:avLst>
          </a:prstGeom>
          <a:solidFill>
            <a:srgbClr val="FFFFFF"/>
          </a:solidFill>
          <a:ln w="12700">
            <a:solidFill>
              <a:srgbClr val="FFFFFF"/>
            </a:solidFill>
            <a:prstDash val="solid"/>
          </a:ln>
        </p:spPr>
      </p:sp>
      <p:sp>
        <p:nvSpPr>
          <p:cNvPr id="8" name="Text 6"/>
          <p:cNvSpPr/>
          <p:nvPr/>
        </p:nvSpPr>
        <p:spPr>
          <a:xfrm>
            <a:off x="758952" y="2542032"/>
            <a:ext cx="2953512" cy="475488"/>
          </a:xfrm>
          <a:prstGeom prst="rect">
            <a:avLst/>
          </a:prstGeom>
          <a:noFill/>
          <a:ln/>
        </p:spPr>
        <p:txBody>
          <a:bodyPr wrap="square" lIns="0" tIns="0" rIns="0" bIns="0" rtlCol="0" anchor="ctr"/>
          <a:lstStyle/>
          <a:p>
            <a:pPr indent="0" marL="0">
              <a:buNone/>
            </a:pPr>
            <a:r>
              <a:rPr lang="en-US" sz="1800" b="1" dirty="0">
                <a:solidFill>
                  <a:srgbClr val="102D2C"/>
                </a:solidFill>
                <a:latin typeface="Arial" pitchFamily="34" charset="0"/>
                <a:ea typeface="Arial" pitchFamily="34" charset="-122"/>
                <a:cs typeface="Arial" pitchFamily="34" charset="-120"/>
              </a:rPr>
              <a:t>Heuristic detection</a:t>
            </a:r>
            <a:endParaRPr lang="en-US" sz="1800" dirty="0"/>
          </a:p>
        </p:txBody>
      </p:sp>
      <p:sp>
        <p:nvSpPr>
          <p:cNvPr id="9" name="Text 7"/>
          <p:cNvSpPr/>
          <p:nvPr/>
        </p:nvSpPr>
        <p:spPr>
          <a:xfrm>
            <a:off x="3877056" y="2523744"/>
            <a:ext cx="3776472" cy="530352"/>
          </a:xfrm>
          <a:prstGeom prst="rect">
            <a:avLst/>
          </a:prstGeom>
          <a:noFill/>
          <a:ln/>
        </p:spPr>
        <p:txBody>
          <a:bodyPr wrap="square" lIns="0" tIns="0" rIns="0" bIns="0" rtlCol="0" anchor="ctr"/>
          <a:lstStyle/>
          <a:p>
            <a:pPr indent="0" marL="0">
              <a:buNone/>
            </a:pPr>
            <a:r>
              <a:rPr lang="en-US" sz="1500" dirty="0">
                <a:solidFill>
                  <a:srgbClr val="526663"/>
                </a:solidFill>
                <a:latin typeface="Arial" pitchFamily="34" charset="0"/>
                <a:ea typeface="Arial" pitchFamily="34" charset="-122"/>
                <a:cs typeface="Arial" pitchFamily="34" charset="-120"/>
              </a:rPr>
              <a:t>Regex checks can miss adversarial content or flag benign text.</a:t>
            </a:r>
            <a:endParaRPr lang="en-US" sz="1500" dirty="0"/>
          </a:p>
        </p:txBody>
      </p:sp>
      <p:sp>
        <p:nvSpPr>
          <p:cNvPr id="10" name="Text 8"/>
          <p:cNvSpPr/>
          <p:nvPr/>
        </p:nvSpPr>
        <p:spPr>
          <a:xfrm>
            <a:off x="7973568" y="2523744"/>
            <a:ext cx="3383280" cy="530352"/>
          </a:xfrm>
          <a:prstGeom prst="rect">
            <a:avLst/>
          </a:prstGeom>
          <a:noFill/>
          <a:ln/>
        </p:spPr>
        <p:txBody>
          <a:bodyPr wrap="square" lIns="0" tIns="0" rIns="0" bIns="0" rtlCol="0" anchor="ctr"/>
          <a:lstStyle/>
          <a:p>
            <a:pPr indent="0" marL="0">
              <a:buNone/>
            </a:pPr>
            <a:r>
              <a:rPr lang="en-US" sz="1500" dirty="0">
                <a:solidFill>
                  <a:srgbClr val="007D70"/>
                </a:solidFill>
                <a:latin typeface="Arial" pitchFamily="34" charset="0"/>
                <a:ea typeface="Arial" pitchFamily="34" charset="-122"/>
                <a:cs typeface="Arial" pitchFamily="34" charset="-120"/>
              </a:rPr>
              <a:t>Held-out corpus; false-positive / false-negative analysis.</a:t>
            </a:r>
            <a:endParaRPr lang="en-US" sz="1500" dirty="0"/>
          </a:p>
        </p:txBody>
      </p:sp>
      <p:sp>
        <p:nvSpPr>
          <p:cNvPr id="11" name="Shape 9"/>
          <p:cNvSpPr/>
          <p:nvPr/>
        </p:nvSpPr>
        <p:spPr>
          <a:xfrm>
            <a:off x="548640" y="3300984"/>
            <a:ext cx="11082528" cy="731520"/>
          </a:xfrm>
          <a:prstGeom prst="roundRect">
            <a:avLst>
              <a:gd name="adj" fmla="val 15000"/>
            </a:avLst>
          </a:prstGeom>
          <a:solidFill>
            <a:srgbClr val="FFFFFF"/>
          </a:solidFill>
          <a:ln w="12700">
            <a:solidFill>
              <a:srgbClr val="FFFFFF"/>
            </a:solidFill>
            <a:prstDash val="solid"/>
          </a:ln>
        </p:spPr>
      </p:sp>
      <p:sp>
        <p:nvSpPr>
          <p:cNvPr id="12" name="Text 10"/>
          <p:cNvSpPr/>
          <p:nvPr/>
        </p:nvSpPr>
        <p:spPr>
          <a:xfrm>
            <a:off x="758952" y="3419856"/>
            <a:ext cx="2953512" cy="475488"/>
          </a:xfrm>
          <a:prstGeom prst="rect">
            <a:avLst/>
          </a:prstGeom>
          <a:noFill/>
          <a:ln/>
        </p:spPr>
        <p:txBody>
          <a:bodyPr wrap="square" lIns="0" tIns="0" rIns="0" bIns="0" rtlCol="0" anchor="ctr"/>
          <a:lstStyle/>
          <a:p>
            <a:pPr indent="0" marL="0">
              <a:buNone/>
            </a:pPr>
            <a:r>
              <a:rPr lang="en-US" sz="1800" b="1" dirty="0">
                <a:solidFill>
                  <a:srgbClr val="102D2C"/>
                </a:solidFill>
                <a:latin typeface="Arial" pitchFamily="34" charset="0"/>
                <a:ea typeface="Arial" pitchFamily="34" charset="-122"/>
                <a:cs typeface="Arial" pitchFamily="34" charset="-120"/>
              </a:rPr>
              <a:t>Trusted storage &amp; operators</a:t>
            </a:r>
            <a:endParaRPr lang="en-US" sz="1800" dirty="0"/>
          </a:p>
        </p:txBody>
      </p:sp>
      <p:sp>
        <p:nvSpPr>
          <p:cNvPr id="13" name="Text 11"/>
          <p:cNvSpPr/>
          <p:nvPr/>
        </p:nvSpPr>
        <p:spPr>
          <a:xfrm>
            <a:off x="3877056" y="3401568"/>
            <a:ext cx="3776472" cy="530352"/>
          </a:xfrm>
          <a:prstGeom prst="rect">
            <a:avLst/>
          </a:prstGeom>
          <a:noFill/>
          <a:ln/>
        </p:spPr>
        <p:txBody>
          <a:bodyPr wrap="square" lIns="0" tIns="0" rIns="0" bIns="0" rtlCol="0" anchor="ctr"/>
          <a:lstStyle/>
          <a:p>
            <a:pPr indent="0" marL="0">
              <a:buNone/>
            </a:pPr>
            <a:r>
              <a:rPr lang="en-US" sz="1500" dirty="0">
                <a:solidFill>
                  <a:srgbClr val="526663"/>
                </a:solidFill>
                <a:latin typeface="Arial" pitchFamily="34" charset="0"/>
                <a:ea typeface="Arial" pitchFamily="34" charset="-122"/>
                <a:cs typeface="Arial" pitchFamily="34" charset="-120"/>
              </a:rPr>
              <a:t>Administrators, metadata storage and configured keys remain trusted.</a:t>
            </a:r>
            <a:endParaRPr lang="en-US" sz="1500" dirty="0"/>
          </a:p>
        </p:txBody>
      </p:sp>
      <p:sp>
        <p:nvSpPr>
          <p:cNvPr id="14" name="Text 12"/>
          <p:cNvSpPr/>
          <p:nvPr/>
        </p:nvSpPr>
        <p:spPr>
          <a:xfrm>
            <a:off x="7973568" y="3401568"/>
            <a:ext cx="3383280" cy="530352"/>
          </a:xfrm>
          <a:prstGeom prst="rect">
            <a:avLst/>
          </a:prstGeom>
          <a:noFill/>
          <a:ln/>
        </p:spPr>
        <p:txBody>
          <a:bodyPr wrap="square" lIns="0" tIns="0" rIns="0" bIns="0" rtlCol="0" anchor="ctr"/>
          <a:lstStyle/>
          <a:p>
            <a:pPr indent="0" marL="0">
              <a:buNone/>
            </a:pPr>
            <a:r>
              <a:rPr lang="en-US" sz="1500" dirty="0">
                <a:solidFill>
                  <a:srgbClr val="007D70"/>
                </a:solidFill>
                <a:latin typeface="Arial" pitchFamily="34" charset="0"/>
                <a:ea typeface="Arial" pitchFamily="34" charset="-122"/>
                <a:cs typeface="Arial" pitchFamily="34" charset="-120"/>
              </a:rPr>
              <a:t>Key lifecycle, reconciliation and stronger audit integrity.</a:t>
            </a:r>
            <a:endParaRPr lang="en-US" sz="1500" dirty="0"/>
          </a:p>
        </p:txBody>
      </p:sp>
      <p:sp>
        <p:nvSpPr>
          <p:cNvPr id="15" name="Shape 13"/>
          <p:cNvSpPr/>
          <p:nvPr/>
        </p:nvSpPr>
        <p:spPr>
          <a:xfrm>
            <a:off x="548640" y="4178808"/>
            <a:ext cx="11082528" cy="731520"/>
          </a:xfrm>
          <a:prstGeom prst="roundRect">
            <a:avLst>
              <a:gd name="adj" fmla="val 15000"/>
            </a:avLst>
          </a:prstGeom>
          <a:solidFill>
            <a:srgbClr val="FFFFFF"/>
          </a:solidFill>
          <a:ln w="12700">
            <a:solidFill>
              <a:srgbClr val="FFFFFF"/>
            </a:solidFill>
            <a:prstDash val="solid"/>
          </a:ln>
        </p:spPr>
      </p:sp>
      <p:sp>
        <p:nvSpPr>
          <p:cNvPr id="16" name="Text 14"/>
          <p:cNvSpPr/>
          <p:nvPr/>
        </p:nvSpPr>
        <p:spPr>
          <a:xfrm>
            <a:off x="758952" y="4297680"/>
            <a:ext cx="2953512" cy="475488"/>
          </a:xfrm>
          <a:prstGeom prst="rect">
            <a:avLst/>
          </a:prstGeom>
          <a:noFill/>
          <a:ln/>
        </p:spPr>
        <p:txBody>
          <a:bodyPr wrap="square" lIns="0" tIns="0" rIns="0" bIns="0" rtlCol="0" anchor="ctr"/>
          <a:lstStyle/>
          <a:p>
            <a:pPr indent="0" marL="0">
              <a:buNone/>
            </a:pPr>
            <a:r>
              <a:rPr lang="en-US" sz="1800" b="1" dirty="0">
                <a:solidFill>
                  <a:srgbClr val="102D2C"/>
                </a:solidFill>
                <a:latin typeface="Arial" pitchFamily="34" charset="0"/>
                <a:ea typeface="Arial" pitchFamily="34" charset="-122"/>
                <a:cs typeface="Arial" pitchFamily="34" charset="-120"/>
              </a:rPr>
              <a:t>External processing</a:t>
            </a:r>
            <a:endParaRPr lang="en-US" sz="1800" dirty="0"/>
          </a:p>
        </p:txBody>
      </p:sp>
      <p:sp>
        <p:nvSpPr>
          <p:cNvPr id="17" name="Text 15"/>
          <p:cNvSpPr/>
          <p:nvPr/>
        </p:nvSpPr>
        <p:spPr>
          <a:xfrm>
            <a:off x="3877056" y="4279392"/>
            <a:ext cx="3776472" cy="530352"/>
          </a:xfrm>
          <a:prstGeom prst="rect">
            <a:avLst/>
          </a:prstGeom>
          <a:noFill/>
          <a:ln/>
        </p:spPr>
        <p:txBody>
          <a:bodyPr wrap="square" lIns="0" tIns="0" rIns="0" bIns="0" rtlCol="0" anchor="ctr"/>
          <a:lstStyle/>
          <a:p>
            <a:pPr indent="0" marL="0">
              <a:buNone/>
            </a:pPr>
            <a:r>
              <a:rPr lang="en-US" sz="1500" dirty="0">
                <a:solidFill>
                  <a:srgbClr val="526663"/>
                </a:solidFill>
                <a:latin typeface="Arial" pitchFamily="34" charset="0"/>
                <a:ea typeface="Arial" pitchFamily="34" charset="-122"/>
                <a:cs typeface="Arial" pitchFamily="34" charset="-120"/>
              </a:rPr>
              <a:t>Eligible document context goes to OpenRouter.</a:t>
            </a:r>
            <a:endParaRPr lang="en-US" sz="1500" dirty="0"/>
          </a:p>
        </p:txBody>
      </p:sp>
      <p:sp>
        <p:nvSpPr>
          <p:cNvPr id="18" name="Text 16"/>
          <p:cNvSpPr/>
          <p:nvPr/>
        </p:nvSpPr>
        <p:spPr>
          <a:xfrm>
            <a:off x="7973568" y="4279392"/>
            <a:ext cx="3383280" cy="530352"/>
          </a:xfrm>
          <a:prstGeom prst="rect">
            <a:avLst/>
          </a:prstGeom>
          <a:noFill/>
          <a:ln/>
        </p:spPr>
        <p:txBody>
          <a:bodyPr wrap="square" lIns="0" tIns="0" rIns="0" bIns="0" rtlCol="0" anchor="ctr"/>
          <a:lstStyle/>
          <a:p>
            <a:pPr indent="0" marL="0">
              <a:buNone/>
            </a:pPr>
            <a:r>
              <a:rPr lang="en-US" sz="1500" dirty="0">
                <a:solidFill>
                  <a:srgbClr val="007D70"/>
                </a:solidFill>
                <a:latin typeface="Arial" pitchFamily="34" charset="0"/>
                <a:ea typeface="Arial" pitchFamily="34" charset="-122"/>
                <a:cs typeface="Arial" pitchFamily="34" charset="-120"/>
              </a:rPr>
              <a:t>Explicit egress policy and approved data handling.</a:t>
            </a:r>
            <a:endParaRPr lang="en-US" sz="1500" dirty="0"/>
          </a:p>
        </p:txBody>
      </p:sp>
      <p:sp>
        <p:nvSpPr>
          <p:cNvPr id="19" name="Shape 17"/>
          <p:cNvSpPr/>
          <p:nvPr/>
        </p:nvSpPr>
        <p:spPr>
          <a:xfrm>
            <a:off x="548640" y="5056632"/>
            <a:ext cx="11082528" cy="731520"/>
          </a:xfrm>
          <a:prstGeom prst="roundRect">
            <a:avLst>
              <a:gd name="adj" fmla="val 15000"/>
            </a:avLst>
          </a:prstGeom>
          <a:solidFill>
            <a:srgbClr val="FFFFFF"/>
          </a:solidFill>
          <a:ln w="12700">
            <a:solidFill>
              <a:srgbClr val="FFFFFF"/>
            </a:solidFill>
            <a:prstDash val="solid"/>
          </a:ln>
        </p:spPr>
      </p:sp>
      <p:sp>
        <p:nvSpPr>
          <p:cNvPr id="20" name="Text 18"/>
          <p:cNvSpPr/>
          <p:nvPr/>
        </p:nvSpPr>
        <p:spPr>
          <a:xfrm>
            <a:off x="758952" y="5175504"/>
            <a:ext cx="2953512" cy="475488"/>
          </a:xfrm>
          <a:prstGeom prst="rect">
            <a:avLst/>
          </a:prstGeom>
          <a:noFill/>
          <a:ln/>
        </p:spPr>
        <p:txBody>
          <a:bodyPr wrap="square" lIns="0" tIns="0" rIns="0" bIns="0" rtlCol="0" anchor="ctr"/>
          <a:lstStyle/>
          <a:p>
            <a:pPr indent="0" marL="0">
              <a:buNone/>
            </a:pPr>
            <a:r>
              <a:rPr lang="en-US" sz="1800" b="1" dirty="0">
                <a:solidFill>
                  <a:srgbClr val="102D2C"/>
                </a:solidFill>
                <a:latin typeface="Arial" pitchFamily="34" charset="0"/>
                <a:ea typeface="Arial" pitchFamily="34" charset="-122"/>
                <a:cs typeface="Arial" pitchFamily="34" charset="-120"/>
              </a:rPr>
              <a:t>Unmeasured end-to-end behavior</a:t>
            </a:r>
            <a:endParaRPr lang="en-US" sz="1800" dirty="0"/>
          </a:p>
        </p:txBody>
      </p:sp>
      <p:sp>
        <p:nvSpPr>
          <p:cNvPr id="21" name="Text 19"/>
          <p:cNvSpPr/>
          <p:nvPr/>
        </p:nvSpPr>
        <p:spPr>
          <a:xfrm>
            <a:off x="3877056" y="5157216"/>
            <a:ext cx="3776472" cy="530352"/>
          </a:xfrm>
          <a:prstGeom prst="rect">
            <a:avLst/>
          </a:prstGeom>
          <a:noFill/>
          <a:ln/>
        </p:spPr>
        <p:txBody>
          <a:bodyPr wrap="square" lIns="0" tIns="0" rIns="0" bIns="0" rtlCol="0" anchor="ctr"/>
          <a:lstStyle/>
          <a:p>
            <a:pPr indent="0" marL="0">
              <a:buNone/>
            </a:pPr>
            <a:r>
              <a:rPr lang="en-US" sz="1500" dirty="0">
                <a:solidFill>
                  <a:srgbClr val="526663"/>
                </a:solidFill>
                <a:latin typeface="Arial" pitchFamily="34" charset="0"/>
                <a:ea typeface="Arial" pitchFamily="34" charset="-122"/>
                <a:cs typeface="Arial" pitchFamily="34" charset="-120"/>
              </a:rPr>
              <a:t>Retrieval quality, answer quality and security overhead remain open.</a:t>
            </a:r>
            <a:endParaRPr lang="en-US" sz="1500" dirty="0"/>
          </a:p>
        </p:txBody>
      </p:sp>
      <p:sp>
        <p:nvSpPr>
          <p:cNvPr id="22" name="Text 20"/>
          <p:cNvSpPr/>
          <p:nvPr/>
        </p:nvSpPr>
        <p:spPr>
          <a:xfrm>
            <a:off x="7973568" y="5157216"/>
            <a:ext cx="3383280" cy="530352"/>
          </a:xfrm>
          <a:prstGeom prst="rect">
            <a:avLst/>
          </a:prstGeom>
          <a:noFill/>
          <a:ln/>
        </p:spPr>
        <p:txBody>
          <a:bodyPr wrap="square" lIns="0" tIns="0" rIns="0" bIns="0" rtlCol="0" anchor="ctr"/>
          <a:lstStyle/>
          <a:p>
            <a:pPr indent="0" marL="0">
              <a:buNone/>
            </a:pPr>
            <a:r>
              <a:rPr lang="en-US" sz="1500" dirty="0">
                <a:solidFill>
                  <a:srgbClr val="007D70"/>
                </a:solidFill>
                <a:latin typeface="Arial" pitchFamily="34" charset="0"/>
                <a:ea typeface="Arial" pitchFamily="34" charset="-122"/>
                <a:cs typeface="Arial" pitchFamily="34" charset="-120"/>
              </a:rPr>
              <a:t>Controlled baseline comparison with measured outcomes.</a:t>
            </a:r>
            <a:endParaRPr lang="en-US" sz="1500" dirty="0"/>
          </a:p>
        </p:txBody>
      </p:sp>
      <p:sp>
        <p:nvSpPr>
          <p:cNvPr id="23" name="Text 21"/>
          <p:cNvSpPr/>
          <p:nvPr/>
        </p:nvSpPr>
        <p:spPr>
          <a:xfrm>
            <a:off x="758952" y="6099048"/>
            <a:ext cx="10789920" cy="228600"/>
          </a:xfrm>
          <a:prstGeom prst="rect">
            <a:avLst/>
          </a:prstGeom>
          <a:noFill/>
          <a:ln/>
        </p:spPr>
        <p:txBody>
          <a:bodyPr wrap="square" lIns="0" tIns="0" rIns="0" bIns="0" rtlCol="0" anchor="ctr"/>
          <a:lstStyle/>
          <a:p>
            <a:pPr indent="0" marL="0">
              <a:buNone/>
            </a:pPr>
            <a:r>
              <a:rPr lang="en-US" sz="1400" dirty="0">
                <a:solidFill>
                  <a:srgbClr val="526663"/>
                </a:solidFill>
                <a:latin typeface="Arial" pitchFamily="34" charset="0"/>
                <a:ea typeface="Arial" pitchFamily="34" charset="-122"/>
                <a:cs typeface="Arial" pitchFamily="34" charset="-120"/>
              </a:rPr>
              <a:t>Production hardening also needs TLS, request/rate limits, quotas, identity lifecycle and backups.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D2C"/>
        </a:solidFill>
      </p:bgPr>
    </p:bg>
    <p:spTree>
      <p:nvGrpSpPr>
        <p:cNvPr id="1" name=""/>
        <p:cNvGrpSpPr/>
        <p:nvPr/>
      </p:nvGrpSpPr>
      <p:grpSpPr>
        <a:xfrm>
          <a:off x="0" y="0"/>
          <a:ext cx="0" cy="0"/>
          <a:chOff x="0" y="0"/>
          <a:chExt cx="0" cy="0"/>
        </a:xfrm>
      </p:grpSpPr>
      <p:sp>
        <p:nvSpPr>
          <p:cNvPr id="2" name="Text 0"/>
          <p:cNvSpPr/>
          <p:nvPr/>
        </p:nvSpPr>
        <p:spPr>
          <a:xfrm>
            <a:off x="548640" y="347472"/>
            <a:ext cx="10058400" cy="228600"/>
          </a:xfrm>
          <a:prstGeom prst="rect">
            <a:avLst/>
          </a:prstGeom>
          <a:noFill/>
          <a:ln/>
        </p:spPr>
        <p:txBody>
          <a:bodyPr wrap="square" lIns="0" tIns="0" rIns="0" bIns="0" rtlCol="0" anchor="ctr"/>
          <a:lstStyle/>
          <a:p>
            <a:pPr indent="0" marL="0">
              <a:buNone/>
            </a:pPr>
            <a:r>
              <a:rPr lang="en-US" sz="1100" b="1" spc="150" kern="0" dirty="0">
                <a:solidFill>
                  <a:srgbClr val="70E1C0"/>
                </a:solidFill>
                <a:latin typeface="Arial" pitchFamily="34" charset="0"/>
                <a:ea typeface="Arial" pitchFamily="34" charset="-122"/>
                <a:cs typeface="Arial" pitchFamily="34" charset="-120"/>
              </a:rPr>
              <a:t>CONCLUSION</a:t>
            </a:r>
            <a:endParaRPr lang="en-US" sz="1100" dirty="0"/>
          </a:p>
        </p:txBody>
      </p:sp>
      <p:sp>
        <p:nvSpPr>
          <p:cNvPr id="3" name="Text 1"/>
          <p:cNvSpPr/>
          <p:nvPr/>
        </p:nvSpPr>
        <p:spPr>
          <a:xfrm>
            <a:off x="548640" y="868680"/>
            <a:ext cx="1106424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Trust before generation.</a:t>
            </a:r>
            <a:endParaRPr lang="en-US" sz="3400" dirty="0"/>
          </a:p>
        </p:txBody>
      </p:sp>
      <p:sp>
        <p:nvSpPr>
          <p:cNvPr id="4" name="Text 2"/>
          <p:cNvSpPr/>
          <p:nvPr/>
        </p:nvSpPr>
        <p:spPr>
          <a:xfrm>
            <a:off x="548640" y="6419088"/>
            <a:ext cx="9144000" cy="182880"/>
          </a:xfrm>
          <a:prstGeom prst="rect">
            <a:avLst/>
          </a:prstGeom>
          <a:noFill/>
          <a:ln/>
        </p:spPr>
        <p:txBody>
          <a:bodyPr wrap="square" lIns="0" tIns="0" rIns="0" bIns="0" rtlCol="0" anchor="ctr"/>
          <a:lstStyle/>
          <a:p>
            <a:pPr indent="0" marL="0">
              <a:buNone/>
            </a:pPr>
            <a:r>
              <a:rPr lang="en-US" sz="1000" dirty="0">
                <a:solidFill>
                  <a:srgbClr val="B7D1C8"/>
                </a:solidFill>
                <a:latin typeface="Arial" pitchFamily="34" charset="0"/>
                <a:ea typeface="Arial" pitchFamily="34" charset="-122"/>
                <a:cs typeface="Arial" pitchFamily="34" charset="-120"/>
              </a:rPr>
              <a:t>TrustRAG  /  Academic prototype  /  17 Sep 2026</a:t>
            </a:r>
            <a:endParaRPr lang="en-US" sz="1000" dirty="0"/>
          </a:p>
        </p:txBody>
      </p:sp>
      <p:sp>
        <p:nvSpPr>
          <p:cNvPr id="5" name="Text 3"/>
          <p:cNvSpPr/>
          <p:nvPr/>
        </p:nvSpPr>
        <p:spPr>
          <a:xfrm>
            <a:off x="11018520" y="6382512"/>
            <a:ext cx="594360" cy="274320"/>
          </a:xfrm>
          <a:prstGeom prst="rect">
            <a:avLst/>
          </a:prstGeom>
          <a:noFill/>
          <a:ln/>
        </p:spPr>
        <p:txBody>
          <a:bodyPr wrap="square" lIns="0" tIns="0" rIns="0" bIns="0" rtlCol="0" anchor="ctr"/>
          <a:lstStyle/>
          <a:p>
            <a:pPr algn="r" indent="0" marL="0">
              <a:buNone/>
            </a:pPr>
            <a:r>
              <a:rPr lang="en-US" sz="1100" b="1" dirty="0">
                <a:solidFill>
                  <a:srgbClr val="70E1C0"/>
                </a:solidFill>
                <a:latin typeface="Arial" pitchFamily="34" charset="0"/>
                <a:ea typeface="Arial" pitchFamily="34" charset="-122"/>
                <a:cs typeface="Arial" pitchFamily="34" charset="-120"/>
              </a:rPr>
              <a:t>12</a:t>
            </a:r>
            <a:endParaRPr lang="en-US" sz="1100" dirty="0"/>
          </a:p>
        </p:txBody>
      </p:sp>
      <p:sp>
        <p:nvSpPr>
          <p:cNvPr id="6" name="Text 4"/>
          <p:cNvSpPr/>
          <p:nvPr/>
        </p:nvSpPr>
        <p:spPr>
          <a:xfrm>
            <a:off x="594360" y="1965960"/>
            <a:ext cx="9875520" cy="100584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TrustRAG turns retrieval from a similarity lookup</a:t>
            </a:r>
            <a:endParaRPr lang="en-US" sz="3000" dirty="0"/>
          </a:p>
          <a:p>
            <a:pPr indent="0" marL="0">
              <a:buNone/>
            </a:pPr>
            <a:r>
              <a:rPr lang="en-US" sz="3000" b="1" dirty="0">
                <a:solidFill>
                  <a:srgbClr val="FFFFFF"/>
                </a:solidFill>
                <a:latin typeface="Arial" pitchFamily="34" charset="0"/>
                <a:ea typeface="Arial" pitchFamily="34" charset="-122"/>
                <a:cs typeface="Arial" pitchFamily="34" charset="-120"/>
              </a:rPr>
              <a:t>into a verified, policy-aware selection process.</a:t>
            </a:r>
            <a:endParaRPr lang="en-US" sz="3000" dirty="0"/>
          </a:p>
        </p:txBody>
      </p:sp>
      <p:sp>
        <p:nvSpPr>
          <p:cNvPr id="7" name="Shape 5"/>
          <p:cNvSpPr/>
          <p:nvPr/>
        </p:nvSpPr>
        <p:spPr>
          <a:xfrm>
            <a:off x="594360" y="3557016"/>
            <a:ext cx="3474720" cy="1362456"/>
          </a:xfrm>
          <a:prstGeom prst="roundRect">
            <a:avLst>
              <a:gd name="adj" fmla="val 8054"/>
            </a:avLst>
          </a:prstGeom>
          <a:solidFill>
            <a:srgbClr val="1A403C"/>
          </a:solidFill>
          <a:ln w="12700">
            <a:solidFill>
              <a:srgbClr val="1A403C"/>
            </a:solidFill>
            <a:prstDash val="solid"/>
          </a:ln>
        </p:spPr>
      </p:sp>
      <p:pic>
        <p:nvPicPr>
          <p:cNvPr id="8" name="Image 0" descr="/home/pavan/TrustRAG/ppt_assets/icons/shield-teal.png">    </p:cNvPr>
          <p:cNvPicPr>
            <a:picLocks noChangeAspect="1"/>
          </p:cNvPicPr>
          <p:nvPr/>
        </p:nvPicPr>
        <p:blipFill>
          <a:blip r:embed="rId1"/>
          <a:stretch>
            <a:fillRect/>
          </a:stretch>
        </p:blipFill>
        <p:spPr>
          <a:xfrm>
            <a:off x="868680" y="3867912"/>
            <a:ext cx="457200" cy="457200"/>
          </a:xfrm>
          <a:prstGeom prst="rect">
            <a:avLst/>
          </a:prstGeom>
        </p:spPr>
      </p:pic>
      <p:sp>
        <p:nvSpPr>
          <p:cNvPr id="9" name="Text 6"/>
          <p:cNvSpPr/>
          <p:nvPr/>
        </p:nvSpPr>
        <p:spPr>
          <a:xfrm>
            <a:off x="1499616" y="3831336"/>
            <a:ext cx="2295144" cy="539496"/>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Verify evidence</a:t>
            </a:r>
            <a:endParaRPr lang="en-US" sz="2300" dirty="0"/>
          </a:p>
        </p:txBody>
      </p:sp>
      <p:sp>
        <p:nvSpPr>
          <p:cNvPr id="10" name="Shape 7"/>
          <p:cNvSpPr/>
          <p:nvPr/>
        </p:nvSpPr>
        <p:spPr>
          <a:xfrm>
            <a:off x="4389120" y="3557016"/>
            <a:ext cx="3474720" cy="1362456"/>
          </a:xfrm>
          <a:prstGeom prst="roundRect">
            <a:avLst>
              <a:gd name="adj" fmla="val 8054"/>
            </a:avLst>
          </a:prstGeom>
          <a:solidFill>
            <a:srgbClr val="1A403C"/>
          </a:solidFill>
          <a:ln w="12700">
            <a:solidFill>
              <a:srgbClr val="1A403C"/>
            </a:solidFill>
            <a:prstDash val="solid"/>
          </a:ln>
        </p:spPr>
      </p:sp>
      <p:pic>
        <p:nvPicPr>
          <p:cNvPr id="11" name="Image 1" descr="/home/pavan/TrustRAG/ppt_assets/icons/lock-teal.png">    </p:cNvPr>
          <p:cNvPicPr>
            <a:picLocks noChangeAspect="1"/>
          </p:cNvPicPr>
          <p:nvPr/>
        </p:nvPicPr>
        <p:blipFill>
          <a:blip r:embed="rId2"/>
          <a:stretch>
            <a:fillRect/>
          </a:stretch>
        </p:blipFill>
        <p:spPr>
          <a:xfrm>
            <a:off x="4663440" y="3867912"/>
            <a:ext cx="457200" cy="457200"/>
          </a:xfrm>
          <a:prstGeom prst="rect">
            <a:avLst/>
          </a:prstGeom>
        </p:spPr>
      </p:pic>
      <p:sp>
        <p:nvSpPr>
          <p:cNvPr id="12" name="Text 8"/>
          <p:cNvSpPr/>
          <p:nvPr/>
        </p:nvSpPr>
        <p:spPr>
          <a:xfrm>
            <a:off x="5294376" y="3831336"/>
            <a:ext cx="2295144" cy="539496"/>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Enforce access</a:t>
            </a:r>
            <a:endParaRPr lang="en-US" sz="2300" dirty="0"/>
          </a:p>
        </p:txBody>
      </p:sp>
      <p:sp>
        <p:nvSpPr>
          <p:cNvPr id="13" name="Shape 9"/>
          <p:cNvSpPr/>
          <p:nvPr/>
        </p:nvSpPr>
        <p:spPr>
          <a:xfrm>
            <a:off x="8183880" y="3557016"/>
            <a:ext cx="3474720" cy="1362456"/>
          </a:xfrm>
          <a:prstGeom prst="roundRect">
            <a:avLst>
              <a:gd name="adj" fmla="val 8054"/>
            </a:avLst>
          </a:prstGeom>
          <a:solidFill>
            <a:srgbClr val="1A403C"/>
          </a:solidFill>
          <a:ln w="12700">
            <a:solidFill>
              <a:srgbClr val="1A403C"/>
            </a:solidFill>
            <a:prstDash val="solid"/>
          </a:ln>
        </p:spPr>
      </p:sp>
      <p:pic>
        <p:nvPicPr>
          <p:cNvPr id="14" name="Image 2" descr="/home/pavan/TrustRAG/ppt_assets/icons/filter-teal.png">    </p:cNvPr>
          <p:cNvPicPr>
            <a:picLocks noChangeAspect="1"/>
          </p:cNvPicPr>
          <p:nvPr/>
        </p:nvPicPr>
        <p:blipFill>
          <a:blip r:embed="rId3"/>
          <a:stretch>
            <a:fillRect/>
          </a:stretch>
        </p:blipFill>
        <p:spPr>
          <a:xfrm>
            <a:off x="8458200" y="3867912"/>
            <a:ext cx="457200" cy="457200"/>
          </a:xfrm>
          <a:prstGeom prst="rect">
            <a:avLst/>
          </a:prstGeom>
        </p:spPr>
      </p:pic>
      <p:sp>
        <p:nvSpPr>
          <p:cNvPr id="15" name="Text 10"/>
          <p:cNvSpPr/>
          <p:nvPr/>
        </p:nvSpPr>
        <p:spPr>
          <a:xfrm>
            <a:off x="9089136" y="3831336"/>
            <a:ext cx="2295144" cy="539496"/>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Filter &amp; rank</a:t>
            </a:r>
            <a:endParaRPr lang="en-US" sz="2300" dirty="0"/>
          </a:p>
        </p:txBody>
      </p:sp>
      <p:sp>
        <p:nvSpPr>
          <p:cNvPr id="16" name="Text 11"/>
          <p:cNvSpPr/>
          <p:nvPr/>
        </p:nvSpPr>
        <p:spPr>
          <a:xfrm>
            <a:off x="640080" y="5404104"/>
            <a:ext cx="9464040" cy="685800"/>
          </a:xfrm>
          <a:prstGeom prst="rect">
            <a:avLst/>
          </a:prstGeom>
          <a:noFill/>
          <a:ln/>
        </p:spPr>
        <p:txBody>
          <a:bodyPr wrap="square" lIns="0" tIns="0" rIns="0" bIns="0" rtlCol="0" anchor="ctr"/>
          <a:lstStyle/>
          <a:p>
            <a:pPr indent="0" marL="0">
              <a:buNone/>
            </a:pPr>
            <a:r>
              <a:rPr lang="en-US" sz="2100" dirty="0">
                <a:solidFill>
                  <a:srgbClr val="70E1C0"/>
                </a:solidFill>
                <a:latin typeface="Arial" pitchFamily="34" charset="0"/>
                <a:ea typeface="Arial" pitchFamily="34" charset="-122"/>
                <a:cs typeface="Arial" pitchFamily="34" charset="-120"/>
              </a:rPr>
              <a:t>Working academic prototype.</a:t>
            </a:r>
            <a:endParaRPr lang="en-US" sz="2100" dirty="0"/>
          </a:p>
          <a:p>
            <a:pPr indent="0" marL="0">
              <a:buNone/>
            </a:pPr>
            <a:r>
              <a:rPr lang="en-US" sz="2100" dirty="0">
                <a:solidFill>
                  <a:srgbClr val="70E1C0"/>
                </a:solidFill>
                <a:latin typeface="Arial" pitchFamily="34" charset="0"/>
                <a:ea typeface="Arial" pitchFamily="34" charset="-122"/>
                <a:cs typeface="Arial" pitchFamily="34" charset="-120"/>
              </a:rPr>
              <a:t>Broader security and utility claims still require measured experiments.</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TrustRAG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TrustRAG — Secure Retrieval-Augmented Generation</dc:title>
  <dc:subject>Academic secure retrieval-augmented generation prototype</dc:subject>
  <dc:creator>TrustRAG</dc:creator>
  <cp:lastModifiedBy>TrustRAG</cp:lastModifiedBy>
  <cp:revision>1</cp:revision>
  <dcterms:created xsi:type="dcterms:W3CDTF">2026-09-17T12:41:16Z</dcterms:created>
  <dcterms:modified xsi:type="dcterms:W3CDTF">2026-09-17T12:41:16Z</dcterms:modified>
</cp:coreProperties>
</file>