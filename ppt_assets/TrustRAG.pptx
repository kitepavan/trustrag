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TrustRAG: a security-enhanced RAG framework. Core idea — retrieval is a security decision, not just a similarity search. All 12 build stages complete; 28/28 tests pass; the live benchmark blocks 4 of 4 attack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threat model: three attack classes that exploit naive retrieval. Key point — the LLM is not broken; the retrieval layer is unsafe. This is why security must protect the pipeline, not just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decision rule: relevance + trust + authorization + provenance + security scans. The example shows a higher-similarity malicious document losing to a lower-similarity verified one. Defense in depth means four independent checkpoints.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architecture: React frontend, FastAPI API, a security envelope that every request crosses, and the RAG core. Data stores on the left; the external OpenRouter LLM on the right. Note the envelope is dashed — it is woven into the pipeline rather than a separate proxy.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Ingestion: eight steps, verified before indexing. The trust engine produces three categorical outcomes with policy decisions. Crucially, security metadata is persisted per chunk in ChromaDB — that is what makes retrieval-time RBAC and quarantine enforcement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Retrieval: six stages, with the three defense filters as the differentiator. F1 quarantine, F2 RBAC, F3 injection rescan. Candidates are over-fetched (top_k x 3) so filtering does not starve the context. Baseline mode is deliberately preserved but gated, for measurable A/B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is intentionally conservative and local-first: local embeddings mean document text never leaves the enterprise; only the final prompt goes to the OpenRouter LLM. The screenshot is the real running dashboard,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chat page is the user-facing proof: answers carry per-source citations with trust badges, the retrieval mode is explicit, and the prompt envelope treats retrieved text as untrusted data. This is a live screenshot of the running app answering a policy question from the signed, Trusted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result: 100% protection vs 0% for the baseline across four attack classes, with sub-millisecond security overhead. The benchmark is re-runnable live from the UI; every metric is derived from real scenario outcomes, never hardcoded.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Advantages: what the architecture buys today. Future scope: honest, realistic next steps — the current detectors are heuristic regex, so ML classifiers and real PKI are the natural maturation path. Closing line: retrieval is a security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852160" cy="5852160"/>
          </a:xfrm>
          <a:prstGeom prst="ellipse">
            <a:avLst/>
          </a:prstGeom>
          <a:solidFill>
            <a:srgbClr val="0E1730"/>
          </a:solidFill>
          <a:ln w="12700">
            <a:solidFill>
              <a:srgbClr val="2A3B5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365760"/>
            <a:ext cx="4023360" cy="402336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2A3B5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841248"/>
            <a:ext cx="4224528" cy="329184"/>
          </a:xfrm>
          <a:prstGeom prst="roundRect">
            <a:avLst>
              <a:gd name="adj" fmla="val 13889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41248"/>
            <a:ext cx="4224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8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INFORMATION SECURITY PROJECT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3504" y="1298448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-10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pPr indent="0" marL="0">
              <a:buNone/>
            </a:pPr>
            <a:r>
              <a:rPr lang="en-US" sz="6200" b="1" spc="-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658368" y="2395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Retrieval-Augmented Generation Framework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279806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Defending enterprise AI against knowledge poisoning, prompt injection, and unauthorized access.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310128"/>
            <a:ext cx="7223760" cy="841248"/>
          </a:xfrm>
          <a:prstGeom prst="roundRect">
            <a:avLst>
              <a:gd name="adj" fmla="val 7609"/>
            </a:avLst>
          </a:prstGeom>
          <a:solidFill>
            <a:srgbClr val="1B2947"/>
          </a:solidFill>
          <a:ln w="12700">
            <a:solidFill>
              <a:srgbClr val="2DD4BF">
                <a:alpha val="4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/home/pavan/TrustRAG/ppt_assets/icons/shield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52958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3401568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most semantically relevant document </a:t>
            </a:r>
            <a:pPr indent="0" marL="0">
              <a:buNone/>
            </a:pPr>
            <a:r>
              <a:rPr lang="en-US" sz="135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necessarily the safest document.</a:t>
            </a:r>
            <a:pPr indent="0" marL="0">
              <a:buNone/>
            </a:pPr>
            <a:r>
              <a:rPr lang="en-US" sz="135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4407408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93A5C7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440740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2286000" y="4407408"/>
            <a:ext cx="1700784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93A5C7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0" y="440740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+ SHA-256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4133088" y="4407408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93A5C7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33088" y="440740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266944" y="4407408"/>
            <a:ext cx="1773936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93A5C7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66944" y="4407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EmbeddingGemma-300M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187184" y="4407408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93A5C7">
                <a:alpha val="4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87184" y="44074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LLM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8631936" y="4407408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93A5C7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31936" y="44074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TS</a:t>
            </a:r>
            <a:endParaRPr lang="en-US" sz="860" dirty="0"/>
          </a:p>
        </p:txBody>
      </p:sp>
      <p:pic>
        <p:nvPicPr>
          <p:cNvPr id="24" name="Image 1" descr="/home/pavan/TrustRAG/ppt_assets/icons/check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5230368"/>
            <a:ext cx="137160" cy="1371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96112" y="51755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pipeline stages implemented  ·  28/28 automated tests passing  ·  live benchmark: 4/4 attacks blocked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366760" y="1170432"/>
            <a:ext cx="3383280" cy="4572000"/>
          </a:xfrm>
          <a:prstGeom prst="roundRect">
            <a:avLst>
              <a:gd name="adj" fmla="val 1892"/>
            </a:avLst>
          </a:prstGeom>
          <a:solidFill>
            <a:srgbClr val="0E1730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27" name="Image 2" descr="/home/pavan/TrustRAG/ppt_assets/icons/shield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1572768"/>
            <a:ext cx="1051560" cy="10515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6676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ENVELOPE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64108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retrieval candidate is evaluated before it reaches the LLM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613648" y="3602736"/>
            <a:ext cx="2889504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778240" y="3785616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27"/>
          <p:cNvSpPr/>
          <p:nvPr/>
        </p:nvSpPr>
        <p:spPr>
          <a:xfrm>
            <a:off x="905256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9052560" y="39044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signature · clean content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92708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613648" y="4279392"/>
            <a:ext cx="2889504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778240" y="4462272"/>
            <a:ext cx="182880" cy="182880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37" name="Text 32"/>
          <p:cNvSpPr/>
          <p:nvPr/>
        </p:nvSpPr>
        <p:spPr>
          <a:xfrm>
            <a:off x="9052560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9052560" y="45811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unsigned or flagged content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10927080" y="43342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0.5–0.6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8613648" y="4956048"/>
            <a:ext cx="2889504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8778240" y="5138928"/>
            <a:ext cx="182880" cy="182880"/>
          </a:xfrm>
          <a:prstGeom prst="ellipse">
            <a:avLst/>
          </a:prstGeom>
          <a:solidFill>
            <a:srgbClr val="F46A6A"/>
          </a:solidFill>
          <a:ln/>
        </p:spPr>
      </p:sp>
      <p:sp>
        <p:nvSpPr>
          <p:cNvPr id="42" name="Text 37"/>
          <p:cNvSpPr/>
          <p:nvPr/>
        </p:nvSpPr>
        <p:spPr>
          <a:xfrm>
            <a:off x="9052560" y="5010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Quarantined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9052560" y="52578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from the LLM context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10927080" y="5010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RAG Trusts Everything It Retrieves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naive pipeline treats retrieved text as usable knowledge — with no authenticity, integrity, authorization, or content checks at any stage.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4434840" cy="4041648"/>
          </a:xfrm>
          <a:prstGeom prst="roundRect">
            <a:avLst>
              <a:gd name="adj" fmla="val 1584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28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RAG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57984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579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3632" y="2249424"/>
            <a:ext cx="219456" cy="219456"/>
          </a:xfrm>
          <a:prstGeom prst="ellipse">
            <a:avLst/>
          </a:prstGeom>
          <a:solidFill>
            <a:srgbClr val="F46A6A">
              <a:alpha val="22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12848" y="2578608"/>
            <a:ext cx="182880" cy="118872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706624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7066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text (512 / 64)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13632" y="2798064"/>
            <a:ext cx="219456" cy="219456"/>
          </a:xfrm>
          <a:prstGeom prst="ellipse">
            <a:avLst/>
          </a:prstGeom>
          <a:solidFill>
            <a:srgbClr val="F46A6A">
              <a:alpha val="22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2798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12848" y="3127248"/>
            <a:ext cx="182880" cy="118872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255264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2552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(768-d vectors)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13632" y="3346704"/>
            <a:ext cx="219456" cy="219456"/>
          </a:xfrm>
          <a:prstGeom prst="ellipse">
            <a:avLst/>
          </a:prstGeom>
          <a:solidFill>
            <a:srgbClr val="F46A6A">
              <a:alpha val="22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3346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12848" y="3675888"/>
            <a:ext cx="182880" cy="118872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3803904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8039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vector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13632" y="3895344"/>
            <a:ext cx="219456" cy="219456"/>
          </a:xfrm>
          <a:prstGeom prst="ellipse">
            <a:avLst/>
          </a:prstGeom>
          <a:solidFill>
            <a:srgbClr val="F46A6A">
              <a:alpha val="22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3632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12848" y="4224528"/>
            <a:ext cx="182880" cy="118872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4352544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352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similarity search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13632" y="4443984"/>
            <a:ext cx="219456" cy="219456"/>
          </a:xfrm>
          <a:prstGeom prst="ellipse">
            <a:avLst/>
          </a:prstGeom>
          <a:solidFill>
            <a:srgbClr val="F46A6A">
              <a:alpha val="22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44439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12848" y="4773168"/>
            <a:ext cx="182880" cy="118872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4901184"/>
            <a:ext cx="3017520" cy="402336"/>
          </a:xfrm>
          <a:prstGeom prst="roundRect">
            <a:avLst>
              <a:gd name="adj" fmla="val 11364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49011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context to LLM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13632" y="4992624"/>
            <a:ext cx="219456" cy="219456"/>
          </a:xfrm>
          <a:prstGeom prst="ellipse">
            <a:avLst/>
          </a:prstGeom>
          <a:solidFill>
            <a:srgbClr val="F46A6A">
              <a:alpha val="22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4992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5504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at any stage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93792" y="1664208"/>
            <a:ext cx="6492240" cy="1261872"/>
          </a:xfrm>
          <a:prstGeom prst="roundRect">
            <a:avLst>
              <a:gd name="adj" fmla="val 5072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94960" y="1883664"/>
            <a:ext cx="457200" cy="457200"/>
          </a:xfrm>
          <a:prstGeom prst="ellipse">
            <a:avLst/>
          </a:prstGeom>
          <a:solidFill>
            <a:srgbClr val="F46A6A">
              <a:alpha val="16000"/>
            </a:srgbClr>
          </a:solidFill>
          <a:ln w="12700">
            <a:solidFill>
              <a:srgbClr val="F46A6A"/>
            </a:solidFill>
            <a:prstDash val="solid"/>
          </a:ln>
        </p:spPr>
      </p:sp>
      <p:pic>
        <p:nvPicPr>
          <p:cNvPr id="40" name="Image 0" descr="/home/pavan/TrustRAG/ppt_assets/icons/hash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56" y="1965960"/>
            <a:ext cx="292608" cy="29260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980176" y="1810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POISONING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980176" y="2084832"/>
            <a:ext cx="5468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uploads a document semantically similar to a real policy but with inverted guidance — “Passwords are no longer required.” Retrieval surfaces it and the LLM answers from it.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193792" y="3054096"/>
            <a:ext cx="6492240" cy="1261872"/>
          </a:xfrm>
          <a:prstGeom prst="roundRect">
            <a:avLst>
              <a:gd name="adj" fmla="val 5072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394960" y="3273552"/>
            <a:ext cx="457200" cy="457200"/>
          </a:xfrm>
          <a:prstGeom prst="ellipse">
            <a:avLst/>
          </a:prstGeom>
          <a:solidFill>
            <a:srgbClr val="F46A6A">
              <a:alpha val="16000"/>
            </a:srgbClr>
          </a:solidFill>
          <a:ln w="12700">
            <a:solidFill>
              <a:srgbClr val="F46A6A"/>
            </a:solidFill>
            <a:prstDash val="solid"/>
          </a:ln>
        </p:spPr>
      </p:sp>
      <p:pic>
        <p:nvPicPr>
          <p:cNvPr id="45" name="Image 1" descr="/home/pavan/TrustRAG/ppt_assets/icons/eye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6" y="3355848"/>
            <a:ext cx="292608" cy="29260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980176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PROMPT INJECTION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5980176" y="3474720"/>
            <a:ext cx="5468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text embeds overrides — “IGNORE ALL PREVIOUS INSTRUCTIONS” — hijacking the model from inside the context window, even when the model itself is functioning perfectly.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5193792" y="4443984"/>
            <a:ext cx="6492240" cy="1261872"/>
          </a:xfrm>
          <a:prstGeom prst="roundRect">
            <a:avLst>
              <a:gd name="adj" fmla="val 5072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5394960" y="4663440"/>
            <a:ext cx="457200" cy="457200"/>
          </a:xfrm>
          <a:prstGeom prst="ellipse">
            <a:avLst/>
          </a:prstGeom>
          <a:solidFill>
            <a:srgbClr val="F46A6A">
              <a:alpha val="16000"/>
            </a:srgbClr>
          </a:solidFill>
          <a:ln w="12700">
            <a:solidFill>
              <a:srgbClr val="F46A6A"/>
            </a:solidFill>
            <a:prstDash val="solid"/>
          </a:ln>
        </p:spPr>
      </p:sp>
      <p:pic>
        <p:nvPicPr>
          <p:cNvPr id="50" name="Image 2" descr="/home/pavan/TrustRAG/ppt_assets/icons/lock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4745736"/>
            <a:ext cx="292608" cy="29260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5980176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TAMPERING &amp; UNAUTHORIZED ACCESS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5980176" y="4864608"/>
            <a:ext cx="5468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files index undetected, and any employee can retrieve HR- or IT-confidential documents. A valid-looking answer may come from tampered or unauthorized sources.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502920" y="5888736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1B2947"/>
          </a:solidFill>
          <a:ln w="12700">
            <a:solidFill>
              <a:srgbClr val="2DD4BF">
                <a:alpha val="4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54" name="Image 3" descr="/home/pavan/TrustRAG/ppt_assets/icons/scale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6053328"/>
            <a:ext cx="292608" cy="292608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1188720" y="5888736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alone cannot guarantee safety — retrieval must also prove authenticity, authorization, and integrity.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Beyond Relevance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TrustRAG evaluates every retrieval candidate on security as rigorously as on semantic similarity — before a single token reaches the LLM.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1572768" cy="841248"/>
          </a:xfrm>
          <a:prstGeom prst="roundRect">
            <a:avLst>
              <a:gd name="adj" fmla="val 7609"/>
            </a:avLst>
          </a:prstGeom>
          <a:solidFill>
            <a:srgbClr val="16213A"/>
          </a:solidFill>
          <a:ln w="12700">
            <a:solidFill>
              <a:srgbClr val="4D9FFF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82496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75688" y="16824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50008" y="1682496"/>
            <a:ext cx="1572768" cy="841248"/>
          </a:xfrm>
          <a:prstGeom prst="roundRect">
            <a:avLst>
              <a:gd name="adj" fmla="val 7609"/>
            </a:avLst>
          </a:prstGeom>
          <a:solidFill>
            <a:srgbClr val="16213A"/>
          </a:solidFill>
          <a:ln w="12700">
            <a:solidFill>
              <a:srgbClr val="2DD4BF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50008" y="1682496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22776" y="16824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97096" y="1682496"/>
            <a:ext cx="1572768" cy="841248"/>
          </a:xfrm>
          <a:prstGeom prst="roundRect">
            <a:avLst>
              <a:gd name="adj" fmla="val 7609"/>
            </a:avLst>
          </a:prstGeom>
          <a:solidFill>
            <a:srgbClr val="16213A"/>
          </a:solidFill>
          <a:ln w="12700">
            <a:solidFill>
              <a:srgbClr val="F5B544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97096" y="1682496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(RBAC)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9864" y="16824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44184" y="1682496"/>
            <a:ext cx="1572768" cy="841248"/>
          </a:xfrm>
          <a:prstGeom prst="roundRect">
            <a:avLst>
              <a:gd name="adj" fmla="val 7609"/>
            </a:avLst>
          </a:prstGeom>
          <a:solidFill>
            <a:srgbClr val="16213A"/>
          </a:solidFill>
          <a:ln w="12700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44184" y="1682496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16952" y="16824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91272" y="1682496"/>
            <a:ext cx="1572768" cy="841248"/>
          </a:xfrm>
          <a:prstGeom prst="roundRect">
            <a:avLst>
              <a:gd name="adj" fmla="val 7609"/>
            </a:avLst>
          </a:prstGeom>
          <a:solidFill>
            <a:srgbClr val="16213A"/>
          </a:solidFill>
          <a:ln w="12700">
            <a:solidFill>
              <a:srgbClr val="34D399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91272" y="1682496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38360" y="16824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12680" y="1682496"/>
            <a:ext cx="2148840" cy="841248"/>
          </a:xfrm>
          <a:prstGeom prst="roundRect">
            <a:avLst>
              <a:gd name="adj" fmla="val 7609"/>
            </a:avLst>
          </a:prstGeom>
          <a:solidFill>
            <a:srgbClr val="2DD4BF"/>
          </a:solidFill>
          <a:ln w="15240">
            <a:solidFill>
              <a:srgbClr val="2DD4BF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12680" y="1682496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AUTHORIZED CONTEXT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2779776"/>
            <a:ext cx="5440680" cy="1700784"/>
          </a:xfrm>
          <a:prstGeom prst="roundRect">
            <a:avLst>
              <a:gd name="adj" fmla="val 3763"/>
            </a:avLst>
          </a:prstGeom>
          <a:solidFill>
            <a:srgbClr val="16213A"/>
          </a:solidFill>
          <a:ln w="15240">
            <a:solidFill>
              <a:srgbClr val="F46A6A">
                <a:alpha val="60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24" name="Image 0" descr="/home/pavan/TrustRAG/ppt_assets/icons/alert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malicious_policy.pdf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343400" y="2907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 0.97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0664" y="32552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965960" y="32552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40664" y="35295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965960" y="35295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40664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965960" y="38039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44568" y="3621024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1B2947"/>
          </a:solidFill>
          <a:ln w="12700">
            <a:solidFill>
              <a:srgbClr val="F46A6A">
                <a:alpha val="4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44568" y="362102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0664" y="41148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similar — but every security signal fails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45352" y="2779776"/>
            <a:ext cx="5440680" cy="1700784"/>
          </a:xfrm>
          <a:prstGeom prst="roundRect">
            <a:avLst>
              <a:gd name="adj" fmla="val 3763"/>
            </a:avLst>
          </a:prstGeom>
          <a:solidFill>
            <a:srgbClr val="16213A"/>
          </a:solidFill>
          <a:ln w="15240">
            <a:solidFill>
              <a:srgbClr val="34D399">
                <a:alpha val="60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37" name="Image 1" descr="/home/pavan/TrustRAG/ppt_assets/icons/file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980944"/>
            <a:ext cx="310896" cy="310896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885432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security_policy.pdf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10085832" y="2907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 0.93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483096" y="32552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7708392" y="32552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483096" y="35295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7708392" y="35295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483096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7708392" y="38039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10287000" y="3621024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1B294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10287000" y="362102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6483096" y="41148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Slightly less similar — every security signal passes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502920" y="46817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 — a malicious document is stopped at four independent checkpoints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502920" y="502920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685800" y="5212080"/>
            <a:ext cx="384048" cy="384048"/>
          </a:xfrm>
          <a:prstGeom prst="ellipse">
            <a:avLst/>
          </a:prstGeom>
          <a:solidFill>
            <a:srgbClr val="2DD4BF">
              <a:alpha val="14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52" name="Image 2" descr="/home/pavan/TrustRAG/ppt_assets/icons/hash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285232"/>
            <a:ext cx="237744" cy="237744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1161288" y="52303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scan</a:t>
            </a:r>
            <a:endParaRPr lang="en-US" sz="1100" dirty="0"/>
          </a:p>
        </p:txBody>
      </p:sp>
      <p:sp>
        <p:nvSpPr>
          <p:cNvPr id="54" name="Text 49"/>
          <p:cNvSpPr/>
          <p:nvPr/>
        </p:nvSpPr>
        <p:spPr>
          <a:xfrm>
            <a:off x="685800" y="5705856"/>
            <a:ext cx="2313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verify + content scan at upload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3191256" y="5650992"/>
            <a:ext cx="137160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56" name="Shape 51"/>
          <p:cNvSpPr/>
          <p:nvPr/>
        </p:nvSpPr>
        <p:spPr>
          <a:xfrm>
            <a:off x="3337560" y="502920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3520440" y="5212080"/>
            <a:ext cx="384048" cy="384048"/>
          </a:xfrm>
          <a:prstGeom prst="ellipse">
            <a:avLst/>
          </a:prstGeom>
          <a:solidFill>
            <a:srgbClr val="2DD4BF">
              <a:alpha val="14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58" name="Image 3" descr="/home/pavan/TrustRAG/ppt_assets/icons/database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5285232"/>
            <a:ext cx="237744" cy="237744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3995928" y="52303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60" name="Text 54"/>
          <p:cNvSpPr/>
          <p:nvPr/>
        </p:nvSpPr>
        <p:spPr>
          <a:xfrm>
            <a:off x="3520440" y="5705856"/>
            <a:ext cx="2313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metadata persisted per chunk</a:t>
            </a:r>
            <a:endParaRPr lang="en-US" sz="950" dirty="0"/>
          </a:p>
        </p:txBody>
      </p:sp>
      <p:sp>
        <p:nvSpPr>
          <p:cNvPr id="61" name="Shape 55"/>
          <p:cNvSpPr/>
          <p:nvPr/>
        </p:nvSpPr>
        <p:spPr>
          <a:xfrm>
            <a:off x="6025896" y="5650992"/>
            <a:ext cx="137160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62" name="Shape 56"/>
          <p:cNvSpPr/>
          <p:nvPr/>
        </p:nvSpPr>
        <p:spPr>
          <a:xfrm>
            <a:off x="6172200" y="502920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63" name="Shape 57"/>
          <p:cNvSpPr/>
          <p:nvPr/>
        </p:nvSpPr>
        <p:spPr>
          <a:xfrm>
            <a:off x="6355080" y="5212080"/>
            <a:ext cx="384048" cy="384048"/>
          </a:xfrm>
          <a:prstGeom prst="ellipse">
            <a:avLst/>
          </a:prstGeom>
          <a:solidFill>
            <a:srgbClr val="2DD4BF">
              <a:alpha val="14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64" name="Image 4" descr="/home/pavan/TrustRAG/ppt_assets/icons/filter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5285232"/>
            <a:ext cx="237744" cy="237744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6830568" y="52303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filters</a:t>
            </a:r>
            <a:endParaRPr lang="en-US" sz="1100" dirty="0"/>
          </a:p>
        </p:txBody>
      </p:sp>
      <p:sp>
        <p:nvSpPr>
          <p:cNvPr id="66" name="Text 59"/>
          <p:cNvSpPr/>
          <p:nvPr/>
        </p:nvSpPr>
        <p:spPr>
          <a:xfrm>
            <a:off x="6355080" y="5705856"/>
            <a:ext cx="2313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· RBAC · injection rescan</a:t>
            </a:r>
            <a:endParaRPr lang="en-US" sz="950" dirty="0"/>
          </a:p>
        </p:txBody>
      </p:sp>
      <p:sp>
        <p:nvSpPr>
          <p:cNvPr id="67" name="Shape 60"/>
          <p:cNvSpPr/>
          <p:nvPr/>
        </p:nvSpPr>
        <p:spPr>
          <a:xfrm>
            <a:off x="8860536" y="5650992"/>
            <a:ext cx="137160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68" name="Shape 61"/>
          <p:cNvSpPr/>
          <p:nvPr/>
        </p:nvSpPr>
        <p:spPr>
          <a:xfrm>
            <a:off x="9006840" y="502920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69" name="Shape 62"/>
          <p:cNvSpPr/>
          <p:nvPr/>
        </p:nvSpPr>
        <p:spPr>
          <a:xfrm>
            <a:off x="9189720" y="5212080"/>
            <a:ext cx="384048" cy="384048"/>
          </a:xfrm>
          <a:prstGeom prst="ellipse">
            <a:avLst/>
          </a:prstGeom>
          <a:solidFill>
            <a:srgbClr val="2DD4BF">
              <a:alpha val="14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0" name="Image 5" descr="/home/pavan/TrustRAG/ppt_assets/icons/lock-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872" y="5285232"/>
            <a:ext cx="237744" cy="237744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9665208" y="52303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Pre-LLM boundary</a:t>
            </a:r>
            <a:endParaRPr lang="en-US" sz="1100" dirty="0"/>
          </a:p>
        </p:txBody>
      </p:sp>
      <p:sp>
        <p:nvSpPr>
          <p:cNvPr id="72" name="Text 64"/>
          <p:cNvSpPr/>
          <p:nvPr/>
        </p:nvSpPr>
        <p:spPr>
          <a:xfrm>
            <a:off x="9189720" y="5705856"/>
            <a:ext cx="2313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wrapped as UNTRUSTED DATA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Wrapped Around the RAG Core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2944368" y="1572768"/>
            <a:ext cx="6272784" cy="731520"/>
          </a:xfrm>
          <a:prstGeom prst="roundRect">
            <a:avLst>
              <a:gd name="adj" fmla="val 8750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home/pavan/TrustRAG/ppt_assets/icons/layers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93008" y="1645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93008" y="1901952"/>
            <a:ext cx="5541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(strict) · Vite · Tailwind v4 — 6-page security dashboard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45552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89320" y="2340864"/>
            <a:ext cx="182880" cy="146304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11" name="Shape 8"/>
          <p:cNvSpPr/>
          <p:nvPr/>
        </p:nvSpPr>
        <p:spPr>
          <a:xfrm>
            <a:off x="2944368" y="2523744"/>
            <a:ext cx="6272784" cy="731520"/>
          </a:xfrm>
          <a:prstGeom prst="roundRect">
            <a:avLst>
              <a:gd name="adj" fmla="val 8750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/home/pavan/TrustRAG/ppt_assets/icons/cod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6883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25968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93008" y="2852928"/>
            <a:ext cx="5541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Uvicorn — /auth · /documents · /query · /evaluation · /dashboard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845552" y="2688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CORS-locked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989320" y="3291840"/>
            <a:ext cx="182880" cy="146304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17" name="Shape 13"/>
          <p:cNvSpPr/>
          <p:nvPr/>
        </p:nvSpPr>
        <p:spPr>
          <a:xfrm>
            <a:off x="2944368" y="3474720"/>
            <a:ext cx="6272784" cy="1097280"/>
          </a:xfrm>
          <a:prstGeom prst="roundRect">
            <a:avLst>
              <a:gd name="adj" fmla="val 5833"/>
            </a:avLst>
          </a:prstGeom>
          <a:solidFill>
            <a:srgbClr val="2DD4BF">
              <a:alpha val="10000"/>
            </a:srgbClr>
          </a:solidFill>
          <a:ln w="17780">
            <a:solidFill>
              <a:srgbClr val="2DD4BF"/>
            </a:solidFill>
            <a:prstDash val="dash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/home/pavan/TrustRAG/ppt_assets/icons/shield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385876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29584" y="3602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ENVELOPE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529584" y="38404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crosses these controls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127248" y="4133088"/>
            <a:ext cx="1700784" cy="292608"/>
          </a:xfrm>
          <a:prstGeom prst="roundRect">
            <a:avLst>
              <a:gd name="adj" fmla="val 15625"/>
            </a:avLst>
          </a:prstGeom>
          <a:solidFill>
            <a:srgbClr val="16213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127248" y="413308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4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+ SHA-256</a:t>
            </a:r>
            <a:endParaRPr lang="en-US" sz="840" dirty="0"/>
          </a:p>
        </p:txBody>
      </p:sp>
      <p:sp>
        <p:nvSpPr>
          <p:cNvPr id="23" name="Shape 18"/>
          <p:cNvSpPr/>
          <p:nvPr/>
        </p:nvSpPr>
        <p:spPr>
          <a:xfrm>
            <a:off x="4919472" y="4133088"/>
            <a:ext cx="1975104" cy="292608"/>
          </a:xfrm>
          <a:prstGeom prst="roundRect">
            <a:avLst>
              <a:gd name="adj" fmla="val 15625"/>
            </a:avLst>
          </a:prstGeom>
          <a:solidFill>
            <a:srgbClr val="16213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19472" y="413308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4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/ Injection detectors</a:t>
            </a:r>
            <a:endParaRPr lang="en-US" sz="840" dirty="0"/>
          </a:p>
        </p:txBody>
      </p:sp>
      <p:sp>
        <p:nvSpPr>
          <p:cNvPr id="25" name="Shape 20"/>
          <p:cNvSpPr/>
          <p:nvPr/>
        </p:nvSpPr>
        <p:spPr>
          <a:xfrm>
            <a:off x="6986016" y="4133088"/>
            <a:ext cx="1060704" cy="292608"/>
          </a:xfrm>
          <a:prstGeom prst="roundRect">
            <a:avLst>
              <a:gd name="adj" fmla="val 15625"/>
            </a:avLst>
          </a:prstGeom>
          <a:solidFill>
            <a:srgbClr val="16213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986016" y="4133088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4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</a:t>
            </a:r>
            <a:endParaRPr lang="en-US" sz="840" dirty="0"/>
          </a:p>
        </p:txBody>
      </p:sp>
      <p:sp>
        <p:nvSpPr>
          <p:cNvPr id="27" name="Shape 22"/>
          <p:cNvSpPr/>
          <p:nvPr/>
        </p:nvSpPr>
        <p:spPr>
          <a:xfrm>
            <a:off x="8138160" y="4133088"/>
            <a:ext cx="1152144" cy="292608"/>
          </a:xfrm>
          <a:prstGeom prst="roundRect">
            <a:avLst>
              <a:gd name="adj" fmla="val 15625"/>
            </a:avLst>
          </a:prstGeom>
          <a:solidFill>
            <a:srgbClr val="16213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138160" y="4133088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4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RBAC</a:t>
            </a:r>
            <a:endParaRPr lang="en-US" sz="840" dirty="0"/>
          </a:p>
        </p:txBody>
      </p:sp>
      <p:sp>
        <p:nvSpPr>
          <p:cNvPr id="29" name="Shape 24"/>
          <p:cNvSpPr/>
          <p:nvPr/>
        </p:nvSpPr>
        <p:spPr>
          <a:xfrm>
            <a:off x="9381744" y="413308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6213A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381744" y="4133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4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840" dirty="0"/>
          </a:p>
        </p:txBody>
      </p:sp>
      <p:sp>
        <p:nvSpPr>
          <p:cNvPr id="31" name="Shape 26"/>
          <p:cNvSpPr/>
          <p:nvPr/>
        </p:nvSpPr>
        <p:spPr>
          <a:xfrm>
            <a:off x="5989320" y="4608576"/>
            <a:ext cx="182880" cy="146304"/>
          </a:xfrm>
          <a:prstGeom prst="downArrow">
            <a:avLst/>
          </a:prstGeom>
          <a:solidFill>
            <a:srgbClr val="2DD4BF"/>
          </a:solidFill>
          <a:ln/>
        </p:spPr>
      </p:sp>
      <p:sp>
        <p:nvSpPr>
          <p:cNvPr id="32" name="Shape 27"/>
          <p:cNvSpPr/>
          <p:nvPr/>
        </p:nvSpPr>
        <p:spPr>
          <a:xfrm>
            <a:off x="2944368" y="4791456"/>
            <a:ext cx="6272784" cy="1426464"/>
          </a:xfrm>
          <a:prstGeom prst="roundRect">
            <a:avLst>
              <a:gd name="adj" fmla="val 448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33" name="Image 3" descr="/home/pavan/TrustRAG/ppt_assets/icons/chip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4992624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493008" y="49377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CORE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3145536" y="5266944"/>
            <a:ext cx="1938528" cy="384048"/>
          </a:xfrm>
          <a:prstGeom prst="roundRect">
            <a:avLst>
              <a:gd name="adj" fmla="val 11905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236976" y="52943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860" dirty="0"/>
          </a:p>
        </p:txBody>
      </p:sp>
      <p:sp>
        <p:nvSpPr>
          <p:cNvPr id="37" name="Text 31"/>
          <p:cNvSpPr/>
          <p:nvPr/>
        </p:nvSpPr>
        <p:spPr>
          <a:xfrm>
            <a:off x="3236976" y="545896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· hash · verify · scan</a:t>
            </a:r>
            <a:endParaRPr lang="en-US" sz="760" dirty="0"/>
          </a:p>
        </p:txBody>
      </p:sp>
      <p:sp>
        <p:nvSpPr>
          <p:cNvPr id="38" name="Shape 32"/>
          <p:cNvSpPr/>
          <p:nvPr/>
        </p:nvSpPr>
        <p:spPr>
          <a:xfrm>
            <a:off x="5193792" y="5266944"/>
            <a:ext cx="1938528" cy="384048"/>
          </a:xfrm>
          <a:prstGeom prst="roundRect">
            <a:avLst>
              <a:gd name="adj" fmla="val 11905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285232" y="52943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860" dirty="0"/>
          </a:p>
        </p:txBody>
      </p:sp>
      <p:sp>
        <p:nvSpPr>
          <p:cNvPr id="40" name="Text 34"/>
          <p:cNvSpPr/>
          <p:nvPr/>
        </p:nvSpPr>
        <p:spPr>
          <a:xfrm>
            <a:off x="5285232" y="545896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chars · 64 overlap</a:t>
            </a:r>
            <a:endParaRPr lang="en-US" sz="760" dirty="0"/>
          </a:p>
        </p:txBody>
      </p:sp>
      <p:sp>
        <p:nvSpPr>
          <p:cNvPr id="41" name="Shape 35"/>
          <p:cNvSpPr/>
          <p:nvPr/>
        </p:nvSpPr>
        <p:spPr>
          <a:xfrm>
            <a:off x="7242048" y="5266944"/>
            <a:ext cx="1938528" cy="384048"/>
          </a:xfrm>
          <a:prstGeom prst="roundRect">
            <a:avLst>
              <a:gd name="adj" fmla="val 11905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333488" y="52943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EmbeddingGemma</a:t>
            </a:r>
            <a:endParaRPr lang="en-US" sz="860" dirty="0"/>
          </a:p>
        </p:txBody>
      </p:sp>
      <p:sp>
        <p:nvSpPr>
          <p:cNvPr id="43" name="Text 37"/>
          <p:cNvSpPr/>
          <p:nvPr/>
        </p:nvSpPr>
        <p:spPr>
          <a:xfrm>
            <a:off x="7333488" y="545896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768-d, local inference</a:t>
            </a:r>
            <a:endParaRPr lang="en-US" sz="760" dirty="0"/>
          </a:p>
        </p:txBody>
      </p:sp>
      <p:sp>
        <p:nvSpPr>
          <p:cNvPr id="44" name="Shape 38"/>
          <p:cNvSpPr/>
          <p:nvPr/>
        </p:nvSpPr>
        <p:spPr>
          <a:xfrm>
            <a:off x="3145536" y="5724144"/>
            <a:ext cx="1938528" cy="384048"/>
          </a:xfrm>
          <a:prstGeom prst="roundRect">
            <a:avLst>
              <a:gd name="adj" fmla="val 11905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236976" y="57515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860" dirty="0"/>
          </a:p>
        </p:txBody>
      </p:sp>
      <p:sp>
        <p:nvSpPr>
          <p:cNvPr id="46" name="Text 40"/>
          <p:cNvSpPr/>
          <p:nvPr/>
        </p:nvSpPr>
        <p:spPr>
          <a:xfrm>
            <a:off x="3236976" y="591616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+ security metadata</a:t>
            </a:r>
            <a:endParaRPr lang="en-US" sz="760" dirty="0"/>
          </a:p>
        </p:txBody>
      </p:sp>
      <p:sp>
        <p:nvSpPr>
          <p:cNvPr id="47" name="Shape 41"/>
          <p:cNvSpPr/>
          <p:nvPr/>
        </p:nvSpPr>
        <p:spPr>
          <a:xfrm>
            <a:off x="5193792" y="5724144"/>
            <a:ext cx="1938528" cy="384048"/>
          </a:xfrm>
          <a:prstGeom prst="roundRect">
            <a:avLst>
              <a:gd name="adj" fmla="val 11905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285232" y="57515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Retrieval</a:t>
            </a:r>
            <a:endParaRPr lang="en-US" sz="860" dirty="0"/>
          </a:p>
        </p:txBody>
      </p:sp>
      <p:sp>
        <p:nvSpPr>
          <p:cNvPr id="49" name="Text 43"/>
          <p:cNvSpPr/>
          <p:nvPr/>
        </p:nvSpPr>
        <p:spPr>
          <a:xfrm>
            <a:off x="5285232" y="591616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+ trust ranking</a:t>
            </a:r>
            <a:endParaRPr lang="en-US" sz="760" dirty="0"/>
          </a:p>
        </p:txBody>
      </p:sp>
      <p:sp>
        <p:nvSpPr>
          <p:cNvPr id="50" name="Shape 44"/>
          <p:cNvSpPr/>
          <p:nvPr/>
        </p:nvSpPr>
        <p:spPr>
          <a:xfrm>
            <a:off x="7242048" y="5724144"/>
            <a:ext cx="1938528" cy="384048"/>
          </a:xfrm>
          <a:prstGeom prst="roundRect">
            <a:avLst>
              <a:gd name="adj" fmla="val 11905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333488" y="57515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wrapper</a:t>
            </a:r>
            <a:endParaRPr lang="en-US" sz="860" dirty="0"/>
          </a:p>
        </p:txBody>
      </p:sp>
      <p:sp>
        <p:nvSpPr>
          <p:cNvPr id="52" name="Text 46"/>
          <p:cNvSpPr/>
          <p:nvPr/>
        </p:nvSpPr>
        <p:spPr>
          <a:xfrm>
            <a:off x="7333488" y="591616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untrusted-context prompt</a:t>
            </a:r>
            <a:endParaRPr lang="en-US" sz="760" dirty="0"/>
          </a:p>
        </p:txBody>
      </p:sp>
      <p:sp>
        <p:nvSpPr>
          <p:cNvPr id="53" name="Text 47"/>
          <p:cNvSpPr/>
          <p:nvPr/>
        </p:nvSpPr>
        <p:spPr>
          <a:xfrm>
            <a:off x="502920" y="35112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502920" y="3803904"/>
            <a:ext cx="2286000" cy="512064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55" name="Image 4" descr="/home/pavan/TrustRAG/ppt_assets/icons/database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22776"/>
            <a:ext cx="274320" cy="27432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987552" y="38404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987552" y="40507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· cosine</a:t>
            </a:r>
            <a:endParaRPr lang="en-US" sz="800" dirty="0"/>
          </a:p>
        </p:txBody>
      </p:sp>
      <p:sp>
        <p:nvSpPr>
          <p:cNvPr id="58" name="Shape 51"/>
          <p:cNvSpPr/>
          <p:nvPr/>
        </p:nvSpPr>
        <p:spPr>
          <a:xfrm>
            <a:off x="502920" y="4407408"/>
            <a:ext cx="2286000" cy="512064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59" name="Image 5" descr="/home/pavan/TrustRAG/ppt_assets/icons/file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987552" y="44439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data/trusted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987552" y="46542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object store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502920" y="5010912"/>
            <a:ext cx="2286000" cy="512064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63" name="Image 6" descr="/home/pavan/TrustRAG/ppt_assets/icons/book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9784"/>
            <a:ext cx="274320" cy="274320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987552" y="50474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provenance_log.json</a:t>
            </a:r>
            <a:endParaRPr lang="en-US" sz="900" dirty="0"/>
          </a:p>
        </p:txBody>
      </p:sp>
      <p:sp>
        <p:nvSpPr>
          <p:cNvPr id="65" name="Text 56"/>
          <p:cNvSpPr/>
          <p:nvPr/>
        </p:nvSpPr>
        <p:spPr>
          <a:xfrm>
            <a:off x="987552" y="5257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</a:t>
            </a:r>
            <a:endParaRPr lang="en-US" sz="800" dirty="0"/>
          </a:p>
        </p:txBody>
      </p:sp>
      <p:sp>
        <p:nvSpPr>
          <p:cNvPr id="66" name="Shape 57"/>
          <p:cNvSpPr/>
          <p:nvPr/>
        </p:nvSpPr>
        <p:spPr>
          <a:xfrm>
            <a:off x="502920" y="5614416"/>
            <a:ext cx="2286000" cy="512064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67" name="Image 7" descr="/home/pavan/TrustRAG/ppt_assets/icons/key-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733288"/>
            <a:ext cx="274320" cy="274320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987552" y="5650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F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data/keys</a:t>
            </a:r>
            <a:endParaRPr lang="en-US" sz="900" dirty="0"/>
          </a:p>
        </p:txBody>
      </p:sp>
      <p:sp>
        <p:nvSpPr>
          <p:cNvPr id="69" name="Text 59"/>
          <p:cNvSpPr/>
          <p:nvPr/>
        </p:nvSpPr>
        <p:spPr>
          <a:xfrm>
            <a:off x="987552" y="58613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keypair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2816352" y="5449824"/>
            <a:ext cx="219456" cy="182880"/>
          </a:xfrm>
          <a:prstGeom prst="leftArrow">
            <a:avLst/>
          </a:prstGeom>
          <a:solidFill>
            <a:srgbClr val="64748F"/>
          </a:solidFill>
          <a:ln/>
        </p:spPr>
      </p:sp>
      <p:sp>
        <p:nvSpPr>
          <p:cNvPr id="71" name="Text 61"/>
          <p:cNvSpPr/>
          <p:nvPr/>
        </p:nvSpPr>
        <p:spPr>
          <a:xfrm>
            <a:off x="2395728" y="5230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/ write</a:t>
            </a:r>
            <a:endParaRPr lang="en-US" sz="700" dirty="0"/>
          </a:p>
        </p:txBody>
      </p:sp>
      <p:sp>
        <p:nvSpPr>
          <p:cNvPr id="72" name="Text 62"/>
          <p:cNvSpPr/>
          <p:nvPr/>
        </p:nvSpPr>
        <p:spPr>
          <a:xfrm>
            <a:off x="9400032" y="35112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1000" dirty="0"/>
          </a:p>
        </p:txBody>
      </p:sp>
      <p:sp>
        <p:nvSpPr>
          <p:cNvPr id="73" name="Shape 63"/>
          <p:cNvSpPr/>
          <p:nvPr/>
        </p:nvSpPr>
        <p:spPr>
          <a:xfrm>
            <a:off x="9400032" y="3803904"/>
            <a:ext cx="2286000" cy="1188720"/>
          </a:xfrm>
          <a:prstGeom prst="roundRect">
            <a:avLst>
              <a:gd name="adj" fmla="val 5385"/>
            </a:avLst>
          </a:prstGeom>
          <a:solidFill>
            <a:srgbClr val="16213A"/>
          </a:solidFill>
          <a:ln w="12700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74" name="Image 8" descr="/home/pavan/TrustRAG/ppt_assets/icons/chip-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3986784"/>
            <a:ext cx="274320" cy="274320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9966960" y="39684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76" name="Text 65"/>
          <p:cNvSpPr/>
          <p:nvPr/>
        </p:nvSpPr>
        <p:spPr>
          <a:xfrm>
            <a:off x="9601200" y="43159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nemotron-3.5-lightning:free</a:t>
            </a:r>
            <a:endParaRPr lang="en-US" sz="720" dirty="0"/>
          </a:p>
        </p:txBody>
      </p:sp>
      <p:sp>
        <p:nvSpPr>
          <p:cNvPr id="77" name="Text 66"/>
          <p:cNvSpPr/>
          <p:nvPr/>
        </p:nvSpPr>
        <p:spPr>
          <a:xfrm>
            <a:off x="9601200" y="45537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completions · retried</a:t>
            </a:r>
            <a:endParaRPr lang="en-US" sz="800" dirty="0"/>
          </a:p>
        </p:txBody>
      </p:sp>
      <p:sp>
        <p:nvSpPr>
          <p:cNvPr id="78" name="Shape 67"/>
          <p:cNvSpPr/>
          <p:nvPr/>
        </p:nvSpPr>
        <p:spPr>
          <a:xfrm>
            <a:off x="9400032" y="512064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79" name="Image 9" descr="/home/pavan/TrustRAG/ppt_assets/icons/user-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5285232"/>
            <a:ext cx="256032" cy="256032"/>
          </a:xfrm>
          <a:prstGeom prst="rect">
            <a:avLst/>
          </a:prstGeom>
        </p:spPr>
      </p:pic>
      <p:sp>
        <p:nvSpPr>
          <p:cNvPr id="80" name="Text 68"/>
          <p:cNvSpPr/>
          <p:nvPr/>
        </p:nvSpPr>
        <p:spPr>
          <a:xfrm>
            <a:off x="9966960" y="52486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Bearer</a:t>
            </a:r>
            <a:endParaRPr lang="en-US" sz="1000" dirty="0"/>
          </a:p>
        </p:txBody>
      </p:sp>
      <p:sp>
        <p:nvSpPr>
          <p:cNvPr id="81" name="Text 69"/>
          <p:cNvSpPr/>
          <p:nvPr/>
        </p:nvSpPr>
        <p:spPr>
          <a:xfrm>
            <a:off x="9601200" y="55412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demo personas · RBAC</a:t>
            </a:r>
            <a:endParaRPr lang="en-US" sz="800" dirty="0"/>
          </a:p>
        </p:txBody>
      </p:sp>
      <p:sp>
        <p:nvSpPr>
          <p:cNvPr id="82" name="Shape 70"/>
          <p:cNvSpPr/>
          <p:nvPr/>
        </p:nvSpPr>
        <p:spPr>
          <a:xfrm>
            <a:off x="9253728" y="4315968"/>
            <a:ext cx="201168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83" name="Text 71"/>
          <p:cNvSpPr/>
          <p:nvPr/>
        </p:nvSpPr>
        <p:spPr>
          <a:xfrm>
            <a:off x="8887968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700" dirty="0"/>
          </a:p>
        </p:txBody>
      </p:sp>
      <p:sp>
        <p:nvSpPr>
          <p:cNvPr id="84" name="Text 72"/>
          <p:cNvSpPr/>
          <p:nvPr/>
        </p:nvSpPr>
        <p:spPr>
          <a:xfrm>
            <a:off x="502920" y="634593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run at ingestion and again at retrieval — no single point of trust, and the baseline path is preserved for A/B measurement.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WORKFLOW · INGESTION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Ingestion Pipeline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document is cryptographically verified, content-scanned, and trust-classified before a single chunk is indexed.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828800"/>
            <a:ext cx="310896" cy="310896"/>
          </a:xfrm>
          <a:prstGeom prst="ellipse">
            <a:avLst/>
          </a:prstGeom>
          <a:solidFill>
            <a:srgbClr val="4D9FFF">
              <a:alpha val="18000"/>
            </a:srgbClr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Validate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21579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· 50 MB cap · readable · server-generated IDs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6684" y="2194560"/>
            <a:ext cx="146304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682496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83864" y="1828800"/>
            <a:ext cx="310896" cy="310896"/>
          </a:xfrm>
          <a:prstGeom prst="ellipse">
            <a:avLst/>
          </a:prstGeom>
          <a:solidFill>
            <a:srgbClr val="4D9FFF">
              <a:alpha val="18000"/>
            </a:srgbClr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21579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fingerprint recorded for tamper detection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21324" y="2194560"/>
            <a:ext cx="146304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1682496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18504" y="1828800"/>
            <a:ext cx="310896" cy="310896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Verify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0840" y="21579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closed on bad, forged, or missing signature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55964" y="2194560"/>
            <a:ext cx="146304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1682496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53144" y="1828800"/>
            <a:ext cx="310896" cy="310896"/>
          </a:xfrm>
          <a:prstGeom prst="ellipse">
            <a:avLst/>
          </a:prstGeom>
          <a:solidFill>
            <a:srgbClr val="4D9FFF">
              <a:alpha val="18000"/>
            </a:srgbClr>
          </a:solidFill>
          <a:ln w="12700">
            <a:solidFill>
              <a:srgbClr val="4D9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53144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55480" y="186537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55480" y="21579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 (PDF) · python-docx (DOCX) · TXT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254996" y="2889504"/>
            <a:ext cx="182880" cy="182880"/>
          </a:xfrm>
          <a:prstGeom prst="downArrow">
            <a:avLst/>
          </a:prstGeom>
          <a:solidFill>
            <a:srgbClr val="64748F"/>
          </a:solidFill>
          <a:ln/>
        </p:spPr>
      </p:sp>
      <p:sp>
        <p:nvSpPr>
          <p:cNvPr id="30" name="Shape 28"/>
          <p:cNvSpPr/>
          <p:nvPr/>
        </p:nvSpPr>
        <p:spPr>
          <a:xfrm>
            <a:off x="9006840" y="3127248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53144" y="3273552"/>
            <a:ext cx="310896" cy="310896"/>
          </a:xfrm>
          <a:prstGeom prst="ellipse">
            <a:avLst/>
          </a:prstGeom>
          <a:solidFill>
            <a:srgbClr val="F5B544">
              <a:alpha val="18000"/>
            </a:srgbClr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55480" y="33101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Scan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55480" y="36027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+ injection pattern detectors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55964" y="3639312"/>
            <a:ext cx="146304" cy="182880"/>
          </a:xfrm>
          <a:prstGeom prst="leftArrow">
            <a:avLst/>
          </a:prstGeom>
          <a:solidFill>
            <a:srgbClr val="64748F"/>
          </a:solidFill>
          <a:ln/>
        </p:spPr>
      </p:sp>
      <p:sp>
        <p:nvSpPr>
          <p:cNvPr id="36" name="Shape 34"/>
          <p:cNvSpPr/>
          <p:nvPr/>
        </p:nvSpPr>
        <p:spPr>
          <a:xfrm>
            <a:off x="6172200" y="3127248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18504" y="3273552"/>
            <a:ext cx="310896" cy="310896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33101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20840" y="36027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evaluation → category + score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21324" y="3639312"/>
            <a:ext cx="146304" cy="182880"/>
          </a:xfrm>
          <a:prstGeom prst="leftArrow">
            <a:avLst/>
          </a:prstGeom>
          <a:solidFill>
            <a:srgbClr val="64748F"/>
          </a:solidFill>
          <a:ln/>
        </p:spPr>
      </p:sp>
      <p:sp>
        <p:nvSpPr>
          <p:cNvPr id="42" name="Shape 40"/>
          <p:cNvSpPr/>
          <p:nvPr/>
        </p:nvSpPr>
        <p:spPr>
          <a:xfrm>
            <a:off x="3337560" y="3127248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483864" y="3273552"/>
            <a:ext cx="310896" cy="310896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83864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86200" y="33101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Record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886200" y="36027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Atomic, tamper-evident audit-log entry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86684" y="3639312"/>
            <a:ext cx="146304" cy="182880"/>
          </a:xfrm>
          <a:prstGeom prst="leftArrow">
            <a:avLst/>
          </a:prstGeom>
          <a:solidFill>
            <a:srgbClr val="64748F"/>
          </a:solidFill>
          <a:ln/>
        </p:spPr>
      </p:sp>
      <p:sp>
        <p:nvSpPr>
          <p:cNvPr id="48" name="Shape 46"/>
          <p:cNvSpPr/>
          <p:nvPr/>
        </p:nvSpPr>
        <p:spPr>
          <a:xfrm>
            <a:off x="502920" y="3127248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9224" y="3273552"/>
            <a:ext cx="310896" cy="310896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51560" y="33101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→ Embed → Store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051560" y="360273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512/64 chunks · 768-d vectors · security metadata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" y="451713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 OUTCOMES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2920" y="4846320"/>
            <a:ext cx="3630168" cy="1207008"/>
          </a:xfrm>
          <a:prstGeom prst="roundRect">
            <a:avLst>
              <a:gd name="adj" fmla="val 5303"/>
            </a:avLst>
          </a:prstGeom>
          <a:solidFill>
            <a:srgbClr val="16213A"/>
          </a:solidFill>
          <a:ln w="15240">
            <a:solidFill>
              <a:srgbClr val="34D399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5800" y="5047488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6" name="Text 54"/>
          <p:cNvSpPr/>
          <p:nvPr/>
        </p:nvSpPr>
        <p:spPr>
          <a:xfrm>
            <a:off x="978408" y="4974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423160" y="5010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1.0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5800" y="534009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B294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5340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685800" y="5687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Ed25519 signature + clean content scan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79392" y="4846320"/>
            <a:ext cx="3630168" cy="1207008"/>
          </a:xfrm>
          <a:prstGeom prst="roundRect">
            <a:avLst>
              <a:gd name="adj" fmla="val 5303"/>
            </a:avLst>
          </a:prstGeom>
          <a:solidFill>
            <a:srgbClr val="16213A"/>
          </a:solidFill>
          <a:ln w="15240">
            <a:solidFill>
              <a:srgbClr val="F5B544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462272" y="5047488"/>
            <a:ext cx="201168" cy="201168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4974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199632" y="5010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0.5 – 0.6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462272" y="5340096"/>
            <a:ext cx="1783080" cy="274320"/>
          </a:xfrm>
          <a:prstGeom prst="roundRect">
            <a:avLst>
              <a:gd name="adj" fmla="val 16667"/>
            </a:avLst>
          </a:prstGeom>
          <a:solidFill>
            <a:srgbClr val="1B2947"/>
          </a:solidFill>
          <a:ln w="12700">
            <a:solidFill>
              <a:srgbClr val="F5B544">
                <a:alpha val="4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62272" y="53400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WITH WARNING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4462272" y="5687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Unsigned, or signed but flagged for poisoning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055864" y="4846320"/>
            <a:ext cx="3630168" cy="1207008"/>
          </a:xfrm>
          <a:prstGeom prst="roundRect">
            <a:avLst>
              <a:gd name="adj" fmla="val 5303"/>
            </a:avLst>
          </a:prstGeom>
          <a:solidFill>
            <a:srgbClr val="16213A"/>
          </a:solidFill>
          <a:ln w="15240">
            <a:solidFill>
              <a:srgbClr val="F46A6A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238744" y="5047488"/>
            <a:ext cx="201168" cy="201168"/>
          </a:xfrm>
          <a:prstGeom prst="ellipse">
            <a:avLst/>
          </a:prstGeom>
          <a:solidFill>
            <a:srgbClr val="F46A6A"/>
          </a:solidFill>
          <a:ln/>
        </p:spPr>
      </p:sp>
      <p:sp>
        <p:nvSpPr>
          <p:cNvPr id="70" name="Text 68"/>
          <p:cNvSpPr/>
          <p:nvPr/>
        </p:nvSpPr>
        <p:spPr>
          <a:xfrm>
            <a:off x="8531352" y="4974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Quarantined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9976104" y="5010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0.0 – 0.1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238744" y="534009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B2947"/>
          </a:solidFill>
          <a:ln w="12700">
            <a:solidFill>
              <a:srgbClr val="F46A6A">
                <a:alpha val="4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38744" y="5340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860" dirty="0"/>
          </a:p>
        </p:txBody>
      </p:sp>
      <p:sp>
        <p:nvSpPr>
          <p:cNvPr id="74" name="Text 72"/>
          <p:cNvSpPr/>
          <p:nvPr/>
        </p:nvSpPr>
        <p:spPr>
          <a:xfrm>
            <a:off x="8238744" y="5687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signature · injection detected · unsigned + poisoned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02920" y="62727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metadata — sha256 · signature_valid · trust_status · access_level — is stored on every chunk, so the retrieval filters can fire at query time.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WORKFLOW · RETRIEVAL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Retrieval Pipeline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defense filters run at query time — only trusted, authorized, clean context reaches the LLM.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9576" y="1810512"/>
            <a:ext cx="384048" cy="384048"/>
          </a:xfrm>
          <a:prstGeom prst="ellipse">
            <a:avLst/>
          </a:prstGeom>
          <a:solidFill>
            <a:srgbClr val="0E1730"/>
          </a:solidFill>
          <a:ln w="12700">
            <a:solidFill>
              <a:srgbClr val="4D9FFF"/>
            </a:solidFill>
            <a:prstDash val="solid"/>
          </a:ln>
        </p:spPr>
      </p:sp>
      <p:pic>
        <p:nvPicPr>
          <p:cNvPr id="8" name="Image 0" descr="/home/pavan/TrustRAG/ppt_assets/icons/user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883664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223113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Query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" y="2578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verify · RBAC clearance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44852" y="2212848"/>
            <a:ext cx="118872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12" name="Shape 9"/>
          <p:cNvSpPr/>
          <p:nvPr/>
        </p:nvSpPr>
        <p:spPr>
          <a:xfrm>
            <a:off x="2368296" y="1682496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4952" y="1810512"/>
            <a:ext cx="384048" cy="384048"/>
          </a:xfrm>
          <a:prstGeom prst="ellipse">
            <a:avLst/>
          </a:prstGeom>
          <a:solidFill>
            <a:srgbClr val="0E1730"/>
          </a:solidFill>
          <a:ln w="12700">
            <a:solidFill>
              <a:srgbClr val="4D9FFF"/>
            </a:solidFill>
            <a:prstDash val="solid"/>
          </a:ln>
        </p:spPr>
      </p:sp>
      <p:pic>
        <p:nvPicPr>
          <p:cNvPr id="14" name="Image 1" descr="/home/pavan/TrustRAG/ppt_assets/icons/chip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88366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41448" y="223113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Embedding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441448" y="2578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EmbeddingGemma · 768-d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110228" y="2212848"/>
            <a:ext cx="118872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18" name="Shape 14"/>
          <p:cNvSpPr/>
          <p:nvPr/>
        </p:nvSpPr>
        <p:spPr>
          <a:xfrm>
            <a:off x="4233672" y="1682496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10328" y="1810512"/>
            <a:ext cx="384048" cy="384048"/>
          </a:xfrm>
          <a:prstGeom prst="ellipse">
            <a:avLst/>
          </a:prstGeom>
          <a:solidFill>
            <a:srgbClr val="0E1730"/>
          </a:solidFill>
          <a:ln w="12700">
            <a:solidFill>
              <a:srgbClr val="4D9FFF"/>
            </a:solidFill>
            <a:prstDash val="solid"/>
          </a:ln>
        </p:spPr>
      </p:sp>
      <p:pic>
        <p:nvPicPr>
          <p:cNvPr id="20" name="Image 2" descr="/home/pavan/TrustRAG/ppt_assets/icons/database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88366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06824" y="223113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Fetch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306824" y="2578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cosine · top_k × 3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5975604" y="2212848"/>
            <a:ext cx="118872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24" name="Shape 19"/>
          <p:cNvSpPr/>
          <p:nvPr/>
        </p:nvSpPr>
        <p:spPr>
          <a:xfrm>
            <a:off x="6099048" y="1682496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2DD4BF">
              <a:alpha val="12000"/>
            </a:srgbClr>
          </a:solidFill>
          <a:ln w="17780">
            <a:solidFill>
              <a:srgbClr val="2DD4BF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75704" y="1810512"/>
            <a:ext cx="384048" cy="384048"/>
          </a:xfrm>
          <a:prstGeom prst="ellipse">
            <a:avLst/>
          </a:prstGeom>
          <a:solidFill>
            <a:srgbClr val="0E17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6" name="Image 3" descr="/home/pavan/TrustRAG/ppt_assets/icons/filter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1883664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72200" y="223113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Filters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172200" y="2578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defense filters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7840980" y="2212848"/>
            <a:ext cx="118872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30" name="Shape 24"/>
          <p:cNvSpPr/>
          <p:nvPr/>
        </p:nvSpPr>
        <p:spPr>
          <a:xfrm>
            <a:off x="7964424" y="1682496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641080" y="1810512"/>
            <a:ext cx="384048" cy="384048"/>
          </a:xfrm>
          <a:prstGeom prst="ellipse">
            <a:avLst/>
          </a:prstGeom>
          <a:solidFill>
            <a:srgbClr val="0E17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2" name="Image 4" descr="/home/pavan/TrustRAG/ppt_assets/icons/shield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1883664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037576" y="223113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Trust-Ranked Context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8037576" y="2578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&lt;trusted_context&gt; envelope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9706356" y="2212848"/>
            <a:ext cx="118872" cy="182880"/>
          </a:xfrm>
          <a:prstGeom prst="rightArrow">
            <a:avLst/>
          </a:prstGeom>
          <a:solidFill>
            <a:srgbClr val="64748F"/>
          </a:solidFill>
          <a:ln/>
        </p:spPr>
      </p:sp>
      <p:sp>
        <p:nvSpPr>
          <p:cNvPr id="36" name="Shape 29"/>
          <p:cNvSpPr/>
          <p:nvPr/>
        </p:nvSpPr>
        <p:spPr>
          <a:xfrm>
            <a:off x="9829800" y="1682496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0506456" y="1810512"/>
            <a:ext cx="384048" cy="384048"/>
          </a:xfrm>
          <a:prstGeom prst="ellipse">
            <a:avLst/>
          </a:prstGeom>
          <a:solidFill>
            <a:srgbClr val="0E173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8" name="Image 5" descr="/home/pavan/TrustRAG/ppt_assets/icons/chat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9608" y="1883664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02952" y="223113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Answer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9902952" y="25786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+ citations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502920" y="3127248"/>
            <a:ext cx="8092440" cy="2999232"/>
          </a:xfrm>
          <a:prstGeom prst="roundRect">
            <a:avLst>
              <a:gd name="adj" fmla="val 2134"/>
            </a:avLst>
          </a:prstGeom>
          <a:solidFill>
            <a:srgbClr val="16213A"/>
          </a:solidFill>
          <a:ln w="15240">
            <a:solidFill>
              <a:srgbClr val="2DD4BF">
                <a:alpha val="4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777240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DEFENSE FILTERS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4572000" y="3291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every candidate chunk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777240" y="3621024"/>
            <a:ext cx="2450592" cy="2304288"/>
          </a:xfrm>
          <a:prstGeom prst="roundRect">
            <a:avLst>
              <a:gd name="adj" fmla="val 2778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923544" y="3767328"/>
            <a:ext cx="365760" cy="365760"/>
          </a:xfrm>
          <a:prstGeom prst="ellipse">
            <a:avLst/>
          </a:prstGeom>
          <a:solidFill>
            <a:srgbClr val="F46A6A">
              <a:alpha val="18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923544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1362456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Block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923544" y="422452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drop any chunk whose document is Quarantined — tampered, unsigned+poisoned, or injection-carrying content never enters the context.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923544" y="55412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4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BLOCKED_QUARANTINED</a:t>
            </a:r>
            <a:endParaRPr lang="en-US" sz="720" dirty="0"/>
          </a:p>
        </p:txBody>
      </p:sp>
      <p:sp>
        <p:nvSpPr>
          <p:cNvPr id="50" name="Shape 42"/>
          <p:cNvSpPr/>
          <p:nvPr/>
        </p:nvSpPr>
        <p:spPr>
          <a:xfrm>
            <a:off x="3392424" y="3621024"/>
            <a:ext cx="2450592" cy="2304288"/>
          </a:xfrm>
          <a:prstGeom prst="roundRect">
            <a:avLst>
              <a:gd name="adj" fmla="val 2778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3538728" y="3767328"/>
            <a:ext cx="365760" cy="365760"/>
          </a:xfrm>
          <a:prstGeom prst="ellipse">
            <a:avLst/>
          </a:prstGeom>
          <a:solidFill>
            <a:srgbClr val="F5B544">
              <a:alpha val="18000"/>
            </a:srgbClr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3538728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3977640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Clearance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3538728" y="422452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chunk’s stored access_level against the caller’s clearance tags — an Employee cannot retrieve HR- or IT-confidential chunks.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3538728" y="55412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5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BLOCKED_UNAUTHORIZED_RBAC</a:t>
            </a:r>
            <a:endParaRPr lang="en-US" sz="720" dirty="0"/>
          </a:p>
        </p:txBody>
      </p:sp>
      <p:sp>
        <p:nvSpPr>
          <p:cNvPr id="56" name="Shape 48"/>
          <p:cNvSpPr/>
          <p:nvPr/>
        </p:nvSpPr>
        <p:spPr>
          <a:xfrm>
            <a:off x="6007608" y="3621024"/>
            <a:ext cx="2450592" cy="2304288"/>
          </a:xfrm>
          <a:prstGeom prst="roundRect">
            <a:avLst>
              <a:gd name="adj" fmla="val 2778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6153912" y="3767328"/>
            <a:ext cx="365760" cy="36576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6153912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000" dirty="0"/>
          </a:p>
        </p:txBody>
      </p:sp>
      <p:sp>
        <p:nvSpPr>
          <p:cNvPr id="59" name="Text 51"/>
          <p:cNvSpPr/>
          <p:nvPr/>
        </p:nvSpPr>
        <p:spPr>
          <a:xfrm>
            <a:off x="6592824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Rescan</a:t>
            </a:r>
            <a:endParaRPr lang="en-US" sz="1100" dirty="0"/>
          </a:p>
        </p:txBody>
      </p:sp>
      <p:sp>
        <p:nvSpPr>
          <p:cNvPr id="60" name="Text 52"/>
          <p:cNvSpPr/>
          <p:nvPr/>
        </p:nvSpPr>
        <p:spPr>
          <a:xfrm>
            <a:off x="6153912" y="422452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prompt-injection scan of the retrieved text — defense in depth catches what ingestion missed or what was inserted later.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6153912" y="554126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BLOCKED_RETRIEVAL_PROMPT_INJECTION</a:t>
            </a:r>
            <a:endParaRPr lang="en-US" sz="720" dirty="0"/>
          </a:p>
        </p:txBody>
      </p:sp>
      <p:sp>
        <p:nvSpPr>
          <p:cNvPr id="62" name="Shape 54"/>
          <p:cNvSpPr/>
          <p:nvPr/>
        </p:nvSpPr>
        <p:spPr>
          <a:xfrm>
            <a:off x="8796528" y="3127248"/>
            <a:ext cx="2889504" cy="2999232"/>
          </a:xfrm>
          <a:prstGeom prst="roundRect">
            <a:avLst>
              <a:gd name="adj" fmla="val 2215"/>
            </a:avLst>
          </a:prstGeom>
          <a:solidFill>
            <a:srgbClr val="16213A"/>
          </a:solidFill>
          <a:ln w="15240">
            <a:solidFill>
              <a:srgbClr val="F46A6A">
                <a:alpha val="50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63" name="Image 6" descr="/home/pavan/TrustRAG/ppt_assets/icons/chart-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5984" y="3328416"/>
            <a:ext cx="274320" cy="274320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9363456" y="3346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CONTROL</a:t>
            </a:r>
            <a:endParaRPr lang="en-US" sz="1050" dirty="0"/>
          </a:p>
        </p:txBody>
      </p:sp>
      <p:sp>
        <p:nvSpPr>
          <p:cNvPr id="65" name="Text 56"/>
          <p:cNvSpPr/>
          <p:nvPr/>
        </p:nvSpPr>
        <p:spPr>
          <a:xfrm>
            <a:off x="9015984" y="37124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unfiltered mode disables all three filters — the academic control used to measure the security delta.</a:t>
            </a:r>
            <a:endParaRPr lang="en-US" sz="950" dirty="0"/>
          </a:p>
        </p:txBody>
      </p:sp>
      <p:sp>
        <p:nvSpPr>
          <p:cNvPr id="66" name="Shape 57"/>
          <p:cNvSpPr/>
          <p:nvPr/>
        </p:nvSpPr>
        <p:spPr>
          <a:xfrm>
            <a:off x="9015984" y="4553712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F46A6A">
              <a:alpha val="14000"/>
            </a:srgbClr>
          </a:solidFill>
          <a:ln w="12700">
            <a:solidFill>
              <a:srgbClr val="F46A6A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9015984" y="455371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GATED: Admin · IT_Security only</a:t>
            </a:r>
            <a:endParaRPr lang="en-US" sz="800" dirty="0"/>
          </a:p>
        </p:txBody>
      </p:sp>
      <p:sp>
        <p:nvSpPr>
          <p:cNvPr id="68" name="Text 59"/>
          <p:cNvSpPr/>
          <p:nvPr/>
        </p:nvSpPr>
        <p:spPr>
          <a:xfrm>
            <a:off x="9015984" y="5120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are ranked Trusted-first, then by similarity — relevance only breaks ties among equal-trust candidates.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simple, dependency-light, and fully local — document text and embeddings never leave the enterprise.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4800600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64792"/>
            <a:ext cx="310896" cy="310896"/>
          </a:xfrm>
          <a:prstGeom prst="ellipse">
            <a:avLst/>
          </a:prstGeom>
          <a:solidFill>
            <a:srgbClr val="4D9FFF">
              <a:alpha val="16000"/>
            </a:srgbClr>
          </a:solidFill>
          <a:ln w="12700">
            <a:solidFill>
              <a:srgbClr val="4D9FFF"/>
            </a:solidFill>
            <a:prstDash val="solid"/>
          </a:ln>
        </p:spPr>
      </p:sp>
      <p:pic>
        <p:nvPicPr>
          <p:cNvPr id="8" name="Image 0" descr="/home/pavan/TrustRAG/ppt_assets/icons/code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3794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5568" y="1929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· FastAPI · Uvicorn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295144"/>
            <a:ext cx="4800600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414016"/>
            <a:ext cx="310896" cy="310896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/home/pavan/TrustRAG/ppt_assets/icons/key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8716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15568" y="25786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signatures · SHA-256 digests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2944368"/>
            <a:ext cx="4800600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063240"/>
            <a:ext cx="310896" cy="310896"/>
          </a:xfrm>
          <a:prstGeom prst="ellipse">
            <a:avLst/>
          </a:prstGeom>
          <a:solidFill>
            <a:srgbClr val="F5B544">
              <a:alpha val="16000"/>
            </a:srgbClr>
          </a:solidFill>
          <a:ln w="12700">
            <a:solidFill>
              <a:srgbClr val="F5B544"/>
            </a:solidFill>
            <a:prstDash val="solid"/>
          </a:ln>
        </p:spPr>
      </p:sp>
      <p:pic>
        <p:nvPicPr>
          <p:cNvPr id="18" name="Image 2" descr="/home/pavan/TrustRAG/ppt_assets/icons/lo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36392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/ AuthZ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15568" y="3227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(HS256) Bearer · RBAC clearance levels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02920" y="3593592"/>
            <a:ext cx="4800600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" y="3712464"/>
            <a:ext cx="310896" cy="31089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3" name="Image 3" descr="/home/pavan/TrustRAG/ppt_assets/icons/chip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785616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15568" y="38770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EmbeddingGemma-300M · 768-d · local CPU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02920" y="4242816"/>
            <a:ext cx="4800600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85800" y="4361688"/>
            <a:ext cx="310896" cy="31089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8" name="Image 4" descr="/home/pavan/TrustRAG/ppt_assets/icons/database-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434840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15568" y="4288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15568" y="45262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· persistent · cosine similarity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02920" y="4892040"/>
            <a:ext cx="4800600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85800" y="5010912"/>
            <a:ext cx="310896" cy="310896"/>
          </a:xfrm>
          <a:prstGeom prst="ellipse">
            <a:avLst/>
          </a:prstGeom>
          <a:solidFill>
            <a:srgbClr val="F46A6A">
              <a:alpha val="16000"/>
            </a:srgbClr>
          </a:solidFill>
          <a:ln w="12700">
            <a:solidFill>
              <a:srgbClr val="F46A6A"/>
            </a:solidFill>
            <a:prstDash val="solid"/>
          </a:ln>
        </p:spPr>
      </p:sp>
      <p:pic>
        <p:nvPicPr>
          <p:cNvPr id="33" name="Image 5" descr="/home/pavan/TrustRAG/ppt_assets/icons/chat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084064"/>
            <a:ext cx="164592" cy="1645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15568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15568" y="51755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· nemotron-3.5-lightning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02920" y="5541264"/>
            <a:ext cx="4800600" cy="548640"/>
          </a:xfrm>
          <a:prstGeom prst="roundRect">
            <a:avLst>
              <a:gd name="adj" fmla="val 11667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85800" y="5660136"/>
            <a:ext cx="310896" cy="310896"/>
          </a:xfrm>
          <a:prstGeom prst="ellipse">
            <a:avLst/>
          </a:prstGeom>
          <a:solidFill>
            <a:srgbClr val="000000">
              <a:alpha val="16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8" name="Image 6" descr="/home/pavan/TrustRAG/ppt_assets/icons/layers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733288"/>
            <a:ext cx="164592" cy="16459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15568" y="5586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115568" y="58247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strict · Vite · Tailwind v4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541264" y="1563624"/>
            <a:ext cx="6217920" cy="3947922"/>
          </a:xfrm>
          <a:prstGeom prst="roundRect">
            <a:avLst>
              <a:gd name="adj" fmla="val 2316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42" name="Image 7" descr="/home/pavan/TrustRAG/ppt_assets/screenshots/dash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3560" y="1645920"/>
            <a:ext cx="6053328" cy="378333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623560" y="5575554"/>
            <a:ext cx="6053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— real statistics streamed from the running backend: documents indexed, chunks stored, model and pipeline health.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RAG Chat — Verified Answers with Citations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20624" y="1490472"/>
            <a:ext cx="7799832" cy="4936617"/>
          </a:xfrm>
          <a:prstGeom prst="roundRect">
            <a:avLst>
              <a:gd name="adj" fmla="val 1852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home/pavan/TrustRAG/ppt_assets/screenshots/chat_sec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7635240" cy="47720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94192" y="1572768"/>
            <a:ext cx="3291840" cy="1097280"/>
          </a:xfrm>
          <a:prstGeom prst="roundRect">
            <a:avLst>
              <a:gd name="adj" fmla="val 5833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77072" y="1737360"/>
            <a:ext cx="365760" cy="365760"/>
          </a:xfrm>
          <a:prstGeom prst="ellipse">
            <a:avLst/>
          </a:prstGeom>
          <a:solidFill>
            <a:srgbClr val="2DD4BF">
              <a:alpha val="16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1" descr="/home/pavan/TrustRAG/ppt_assets/icons/file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24" y="18105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52560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answers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77072" y="2084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response lists its sources — document ID, page, similarity score, and a live trust badge.</a:t>
            </a:r>
            <a:endParaRPr lang="en-US" sz="860" dirty="0"/>
          </a:p>
        </p:txBody>
      </p:sp>
      <p:sp>
        <p:nvSpPr>
          <p:cNvPr id="12" name="Shape 8"/>
          <p:cNvSpPr/>
          <p:nvPr/>
        </p:nvSpPr>
        <p:spPr>
          <a:xfrm>
            <a:off x="8394192" y="2798064"/>
            <a:ext cx="3291840" cy="1097280"/>
          </a:xfrm>
          <a:prstGeom prst="roundRect">
            <a:avLst>
              <a:gd name="adj" fmla="val 5833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77072" y="2962656"/>
            <a:ext cx="365760" cy="365760"/>
          </a:xfrm>
          <a:prstGeom prst="ellipse">
            <a:avLst/>
          </a:prstGeom>
          <a:solidFill>
            <a:srgbClr val="F5B544">
              <a:alpha val="16000"/>
            </a:srgbClr>
          </a:solidFill>
          <a:ln w="12700">
            <a:solidFill>
              <a:srgbClr val="F5B544"/>
            </a:solidFill>
            <a:prstDash val="solid"/>
          </a:ln>
        </p:spPr>
      </p:sp>
      <p:pic>
        <p:nvPicPr>
          <p:cNvPr id="14" name="Image 2" descr="/home/pavan/TrustRAG/ppt_assets/icons/filter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303580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Mode-aware retrieval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577072" y="3310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mode enforces all three defense filters; the unfiltered baseline toggle is gated to Admin / IT_Security.</a:t>
            </a:r>
            <a:endParaRPr lang="en-US" sz="860" dirty="0"/>
          </a:p>
        </p:txBody>
      </p:sp>
      <p:sp>
        <p:nvSpPr>
          <p:cNvPr id="17" name="Shape 12"/>
          <p:cNvSpPr/>
          <p:nvPr/>
        </p:nvSpPr>
        <p:spPr>
          <a:xfrm>
            <a:off x="8394192" y="4023360"/>
            <a:ext cx="3291840" cy="1097280"/>
          </a:xfrm>
          <a:prstGeom prst="roundRect">
            <a:avLst>
              <a:gd name="adj" fmla="val 5833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577072" y="4187952"/>
            <a:ext cx="365760" cy="365760"/>
          </a:xfrm>
          <a:prstGeom prst="ellipse">
            <a:avLst/>
          </a:prstGeom>
          <a:solidFill>
            <a:srgbClr val="F46A6A">
              <a:alpha val="16000"/>
            </a:srgbClr>
          </a:solidFill>
          <a:ln w="12700">
            <a:solidFill>
              <a:srgbClr val="F46A6A"/>
            </a:solidFill>
            <a:prstDash val="solid"/>
          </a:ln>
        </p:spPr>
      </p:sp>
      <p:pic>
        <p:nvPicPr>
          <p:cNvPr id="19" name="Image 3" descr="/home/pavan/TrustRAG/ppt_assets/icons/loc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4" y="426110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52560" y="4133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Untrusted-data boundary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577072" y="45354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wrapped in explicit &lt;trusted_context&gt; tags the system prompt treats as data, never instructions.</a:t>
            </a:r>
            <a:endParaRPr lang="en-US" sz="860" dirty="0"/>
          </a:p>
        </p:txBody>
      </p:sp>
      <p:sp>
        <p:nvSpPr>
          <p:cNvPr id="22" name="Shape 16"/>
          <p:cNvSpPr/>
          <p:nvPr/>
        </p:nvSpPr>
        <p:spPr>
          <a:xfrm>
            <a:off x="8394192" y="5248656"/>
            <a:ext cx="3291840" cy="1097280"/>
          </a:xfrm>
          <a:prstGeom prst="roundRect">
            <a:avLst>
              <a:gd name="adj" fmla="val 5833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577072" y="5413248"/>
            <a:ext cx="365760" cy="36576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4" name="Image 4" descr="/home/pavan/TrustRAG/ppt_assets/icons/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548640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052560" y="5358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failures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8577072" y="5760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authorized, trusted document matches, the system says so instead of guessing.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Baseline RAG vs TrustRAG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automated attack scenarios exercise the real security code paths — the same filters that run in production.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" y="1591056"/>
            <a:ext cx="6839712" cy="1518158"/>
          </a:xfrm>
          <a:prstGeom prst="roundRect">
            <a:avLst>
              <a:gd name="adj" fmla="val 6023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/home/pavan/TrustRAG/ppt_assets/screenshots/evaluation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73352"/>
            <a:ext cx="6675120" cy="13535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542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SCENARIO RESULTS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6675120" cy="329184"/>
          </a:xfrm>
          <a:prstGeom prst="roundRect">
            <a:avLst>
              <a:gd name="adj" fmla="val 13889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" y="2834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971800" y="2834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RAG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20640" y="28346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TRUSTRAG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" y="3218688"/>
            <a:ext cx="6675120" cy="512064"/>
          </a:xfrm>
          <a:prstGeom prst="roundRect">
            <a:avLst>
              <a:gd name="adj" fmla="val 892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" y="32186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tampering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971800" y="321868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— accepted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5120640" y="321868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— quarantined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502920" y="3785616"/>
            <a:ext cx="6675120" cy="512064"/>
          </a:xfrm>
          <a:prstGeom prst="roundRect">
            <a:avLst>
              <a:gd name="adj" fmla="val 8929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" y="378561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prompt injection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971800" y="3785616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— passed to LLM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5120640" y="378561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— quarantined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02920" y="4352544"/>
            <a:ext cx="6675120" cy="512064"/>
          </a:xfrm>
          <a:prstGeom prst="roundRect">
            <a:avLst>
              <a:gd name="adj" fmla="val 8929"/>
            </a:avLst>
          </a:prstGeom>
          <a:solidFill>
            <a:srgbClr val="16213A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" y="43525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poisoning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971800" y="435254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— indexed as truth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5120640" y="435254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— flagged &amp; blocked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502920" y="4919472"/>
            <a:ext cx="6675120" cy="512064"/>
          </a:xfrm>
          <a:prstGeom prst="roundRect">
            <a:avLst>
              <a:gd name="adj" fmla="val 8929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" y="49194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access (RBAC)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971800" y="491947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— no role filtering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5120640" y="491947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— blocked by RBAC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7452360" y="1645920"/>
            <a:ext cx="4224528" cy="1042416"/>
          </a:xfrm>
          <a:prstGeom prst="roundRect">
            <a:avLst>
              <a:gd name="adj" fmla="val 6140"/>
            </a:avLst>
          </a:prstGeom>
          <a:solidFill>
            <a:srgbClr val="16213A"/>
          </a:solidFill>
          <a:ln w="15240">
            <a:solidFill>
              <a:srgbClr val="34D399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635240" y="17373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918972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TrustRAG protection rate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189720" y="20482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 attack scenarios blocked end-to-end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7452360" y="2816352"/>
            <a:ext cx="4224528" cy="1042416"/>
          </a:xfrm>
          <a:prstGeom prst="roundRect">
            <a:avLst>
              <a:gd name="adj" fmla="val 6140"/>
            </a:avLst>
          </a:prstGeom>
          <a:solidFill>
            <a:srgbClr val="16213A"/>
          </a:solidFill>
          <a:ln w="15240">
            <a:solidFill>
              <a:srgbClr val="F46A6A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635240" y="29077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400" dirty="0"/>
          </a:p>
        </p:txBody>
      </p:sp>
      <p:sp>
        <p:nvSpPr>
          <p:cNvPr id="35" name="Text 32"/>
          <p:cNvSpPr/>
          <p:nvPr/>
        </p:nvSpPr>
        <p:spPr>
          <a:xfrm>
            <a:off x="9189720" y="2944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RAG protection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189720" y="32186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to every attack vector tested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7452360" y="3986784"/>
            <a:ext cx="4224528" cy="1042416"/>
          </a:xfrm>
          <a:prstGeom prst="roundRect">
            <a:avLst>
              <a:gd name="adj" fmla="val 6140"/>
            </a:avLst>
          </a:prstGeom>
          <a:solidFill>
            <a:srgbClr val="16213A"/>
          </a:solidFill>
          <a:ln w="15240">
            <a:solidFill>
              <a:srgbClr val="4D9FFF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635240" y="407822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 ms</a:t>
            </a:r>
            <a:endParaRPr lang="en-US" sz="3400" dirty="0"/>
          </a:p>
        </p:txBody>
      </p:sp>
      <p:sp>
        <p:nvSpPr>
          <p:cNvPr id="39" name="Text 36"/>
          <p:cNvSpPr/>
          <p:nvPr/>
        </p:nvSpPr>
        <p:spPr>
          <a:xfrm>
            <a:off x="9189720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filter overhead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9189720" y="43891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latency per query — negligible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7452360" y="5175504"/>
            <a:ext cx="4224528" cy="1170432"/>
          </a:xfrm>
          <a:prstGeom prst="roundRect">
            <a:avLst>
              <a:gd name="adj" fmla="val 5469"/>
            </a:avLst>
          </a:prstGeom>
          <a:solidFill>
            <a:srgbClr val="1B2947"/>
          </a:solidFill>
          <a:ln w="12700">
            <a:solidFill>
              <a:srgbClr val="2A3B5E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42" name="Image 1" descr="/home/pavan/TrustRAG/ppt_assets/icons/zap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5358384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8019288" y="5340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asserted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7653528" y="56327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are derived from live scenario outcomes through /evaluation/run — the RBAC scenario runs through the real retrieval filter, not a simulation.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4632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Future Scope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5486400" cy="4261104"/>
          </a:xfrm>
          <a:prstGeom prst="roundRect">
            <a:avLst>
              <a:gd name="adj" fmla="val 1502"/>
            </a:avLst>
          </a:prstGeom>
          <a:solidFill>
            <a:srgbClr val="16213A"/>
          </a:solidFill>
          <a:ln w="15240">
            <a:solidFill>
              <a:srgbClr val="34D399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402336" cy="40233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Image 0" descr="/home/pavan/TrustRAG/ppt_assets/icons/check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847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8096" y="244144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7"/>
          <p:cNvSpPr/>
          <p:nvPr/>
        </p:nvSpPr>
        <p:spPr>
          <a:xfrm>
            <a:off x="1042416" y="239572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shifted left of the LLM — malicious content is blocked before generation, not after.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8096" y="301752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1042416" y="297180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 — four independent checkpoints; no single point of trust.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" y="359359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1"/>
          <p:cNvSpPr/>
          <p:nvPr/>
        </p:nvSpPr>
        <p:spPr>
          <a:xfrm>
            <a:off x="1042416" y="354787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 trail — Ed25519 + SHA-256 + atomic provenance log.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8096" y="416966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3"/>
          <p:cNvSpPr/>
          <p:nvPr/>
        </p:nvSpPr>
        <p:spPr>
          <a:xfrm>
            <a:off x="1042416" y="412394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retrieval — RBAC clearance enforced per chunk at query time.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8096" y="474573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5"/>
          <p:cNvSpPr/>
          <p:nvPr/>
        </p:nvSpPr>
        <p:spPr>
          <a:xfrm>
            <a:off x="1042416" y="470001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 — local 768-d embeddings; document text never leaves the enterprise.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8096" y="532180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1042416" y="527608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 by design — unverified or tampered content is quarantined, never silently used.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99632" y="1627632"/>
            <a:ext cx="5486400" cy="4261104"/>
          </a:xfrm>
          <a:prstGeom prst="roundRect">
            <a:avLst>
              <a:gd name="adj" fmla="val 1502"/>
            </a:avLst>
          </a:prstGeom>
          <a:solidFill>
            <a:srgbClr val="16213A"/>
          </a:solidFill>
          <a:ln w="15240">
            <a:solidFill>
              <a:srgbClr val="4D9FFF">
                <a:alpha val="55000"/>
              </a:srgbClr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28232" y="1828800"/>
            <a:ext cx="402336" cy="402336"/>
          </a:xfrm>
          <a:prstGeom prst="ellipse">
            <a:avLst/>
          </a:prstGeom>
          <a:solidFill>
            <a:srgbClr val="4D9FFF">
              <a:alpha val="16000"/>
            </a:srgbClr>
          </a:solidFill>
          <a:ln w="12700">
            <a:solidFill>
              <a:srgbClr val="4D9FFF"/>
            </a:solidFill>
            <a:prstDash val="solid"/>
          </a:ln>
        </p:spPr>
      </p:sp>
      <p:pic>
        <p:nvPicPr>
          <p:cNvPr id="23" name="Image 1" descr="/home/pavan/TrustRAG/ppt_assets/icons/rocket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920240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58584" y="1847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4D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64808" y="2441448"/>
            <a:ext cx="146304" cy="146304"/>
          </a:xfrm>
          <a:prstGeom prst="ellipse">
            <a:avLst/>
          </a:prstGeom>
          <a:solidFill>
            <a:srgbClr val="4D9FFF"/>
          </a:solidFill>
          <a:ln/>
        </p:spPr>
      </p:sp>
      <p:sp>
        <p:nvSpPr>
          <p:cNvPr id="26" name="Text 22"/>
          <p:cNvSpPr/>
          <p:nvPr/>
        </p:nvSpPr>
        <p:spPr>
          <a:xfrm>
            <a:off x="6739128" y="239572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classifiers for injection &amp; poisoning, replacing heuristic regex pattern rules.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464808" y="3017520"/>
            <a:ext cx="146304" cy="146304"/>
          </a:xfrm>
          <a:prstGeom prst="ellipse">
            <a:avLst/>
          </a:prstGeom>
          <a:solidFill>
            <a:srgbClr val="4D9FFF"/>
          </a:solidFill>
          <a:ln/>
        </p:spPr>
      </p:sp>
      <p:sp>
        <p:nvSpPr>
          <p:cNvPr id="28" name="Text 24"/>
          <p:cNvSpPr/>
          <p:nvPr/>
        </p:nvSpPr>
        <p:spPr>
          <a:xfrm>
            <a:off x="6739128" y="297180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PKI with HSM-backed keys, rotation, and delegated signing.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464808" y="3593592"/>
            <a:ext cx="146304" cy="146304"/>
          </a:xfrm>
          <a:prstGeom prst="ellipse">
            <a:avLst/>
          </a:prstGeom>
          <a:solidFill>
            <a:srgbClr val="4D9FFF"/>
          </a:solidFill>
          <a:ln/>
        </p:spPr>
      </p:sp>
      <p:sp>
        <p:nvSpPr>
          <p:cNvPr id="30" name="Text 26"/>
          <p:cNvSpPr/>
          <p:nvPr/>
        </p:nvSpPr>
        <p:spPr>
          <a:xfrm>
            <a:off x="6739128" y="354787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versioning with signed, chained provenance records.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464808" y="4169664"/>
            <a:ext cx="146304" cy="146304"/>
          </a:xfrm>
          <a:prstGeom prst="ellipse">
            <a:avLst/>
          </a:prstGeom>
          <a:solidFill>
            <a:srgbClr val="4D9FFF"/>
          </a:solidFill>
          <a:ln/>
        </p:spPr>
      </p:sp>
      <p:sp>
        <p:nvSpPr>
          <p:cNvPr id="32" name="Text 28"/>
          <p:cNvSpPr/>
          <p:nvPr/>
        </p:nvSpPr>
        <p:spPr>
          <a:xfrm>
            <a:off x="6739128" y="412394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scrubbing and differential privacy for confidential corpora.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464808" y="4745736"/>
            <a:ext cx="146304" cy="146304"/>
          </a:xfrm>
          <a:prstGeom prst="ellipse">
            <a:avLst/>
          </a:prstGeom>
          <a:solidFill>
            <a:srgbClr val="4D9FFF"/>
          </a:solidFill>
          <a:ln/>
        </p:spPr>
      </p:sp>
      <p:sp>
        <p:nvSpPr>
          <p:cNvPr id="34" name="Text 30"/>
          <p:cNvSpPr/>
          <p:nvPr/>
        </p:nvSpPr>
        <p:spPr>
          <a:xfrm>
            <a:off x="6739128" y="470001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streaming ingestion and corpus-scale evaluation (RAGAS-style metrics).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464808" y="5321808"/>
            <a:ext cx="146304" cy="146304"/>
          </a:xfrm>
          <a:prstGeom prst="ellipse">
            <a:avLst/>
          </a:prstGeom>
          <a:solidFill>
            <a:srgbClr val="4D9FFF"/>
          </a:solidFill>
          <a:ln/>
        </p:spPr>
      </p:sp>
      <p:sp>
        <p:nvSpPr>
          <p:cNvPr id="36" name="Text 32"/>
          <p:cNvSpPr/>
          <p:nvPr/>
        </p:nvSpPr>
        <p:spPr>
          <a:xfrm>
            <a:off x="6739128" y="527608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Attribute-based access control (ABAC) and policy-as-code enforcement.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02920" y="6035040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2DD4BF">
              <a:alpha val="12000"/>
            </a:srgbClr>
          </a:solidFill>
          <a:ln w="15240">
            <a:solidFill>
              <a:srgbClr val="2DD4BF"/>
            </a:solidFill>
            <a:prstDash val="solid"/>
          </a:ln>
          <a:effectLst>
            <a:outerShdw sx="100000" sy="100000" kx="0" ky="0" algn="bl" rotWithShape="0" blurRad="44450" dist="27940" dir="5400000">
              <a:srgbClr val="000000">
                <a:alpha val="30000"/>
              </a:srgbClr>
            </a:outerShdw>
          </a:effectLst>
        </p:spPr>
      </p:sp>
      <p:pic>
        <p:nvPicPr>
          <p:cNvPr id="38" name="Image 2" descr="/home/pavan/TrustRAG/ppt_assets/icons/shield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63056"/>
            <a:ext cx="310896" cy="31089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234440" y="60350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TrustRAG makes retrieval a security decision — not just a similarity search.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TrustRAG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TrustRAG — Secure Retrieval-Augmented Generation</dc:title>
  <dc:subject>Secure RAG Framework</dc:subject>
  <dc:creator>TrustRAG</dc:creator>
  <cp:lastModifiedBy>TrustRAG</cp:lastModifiedBy>
  <cp:revision>1</cp:revision>
  <dcterms:created xsi:type="dcterms:W3CDTF">2026-09-15T07:41:26Z</dcterms:created>
  <dcterms:modified xsi:type="dcterms:W3CDTF">2026-09-15T07:41:26Z</dcterms:modified>
</cp:coreProperties>
</file>